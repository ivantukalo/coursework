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6" r:id="rId1"/>
  </p:sldMasterIdLst>
  <p:sldIdLst>
    <p:sldId id="256" r:id="rId2"/>
    <p:sldId id="257" r:id="rId3"/>
    <p:sldId id="262" r:id="rId4"/>
    <p:sldId id="265" r:id="rId5"/>
    <p:sldId id="266" r:id="rId6"/>
    <p:sldId id="264" r:id="rId7"/>
    <p:sldId id="261" r:id="rId8"/>
    <p:sldId id="272" r:id="rId9"/>
    <p:sldId id="273" r:id="rId10"/>
    <p:sldId id="274" r:id="rId11"/>
    <p:sldId id="275" r:id="rId12"/>
    <p:sldId id="277" r:id="rId13"/>
    <p:sldId id="278" r:id="rId14"/>
    <p:sldId id="279" r:id="rId15"/>
    <p:sldId id="280" r:id="rId16"/>
    <p:sldId id="281" r:id="rId17"/>
    <p:sldId id="282" r:id="rId18"/>
    <p:sldId id="283" r:id="rId19"/>
    <p:sldId id="284" r:id="rId20"/>
    <p:sldId id="285" r:id="rId21"/>
    <p:sldId id="286" r:id="rId22"/>
    <p:sldId id="287" r:id="rId23"/>
    <p:sldId id="271" r:id="rId24"/>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D84C6"/>
    <a:srgbClr val="DCD8DC"/>
    <a:srgbClr val="3735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16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ru-RU" smtClean="0"/>
              <a:t>Образец заголовка</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99161DF6-A049-4366-A6C9-76D80B3F16AC}" type="datetimeFigureOut">
              <a:rPr lang="ru-RU" smtClean="0"/>
              <a:t>04.01.2026</a:t>
            </a:fld>
            <a:endParaRPr lang="ru-RU"/>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ru-RU"/>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070872B1-E6C0-486D-B105-D66D304B23EB}" type="slidenum">
              <a:rPr lang="ru-RU" smtClean="0"/>
              <a:t>‹#›</a:t>
            </a:fld>
            <a:endParaRPr lang="ru-RU"/>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043358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99161DF6-A049-4366-A6C9-76D80B3F16AC}" type="datetimeFigureOut">
              <a:rPr lang="ru-RU" smtClean="0"/>
              <a:t>04.01.2026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70872B1-E6C0-486D-B105-D66D304B23EB}" type="slidenum">
              <a:rPr lang="ru-RU" smtClean="0"/>
              <a:t>‹#›</a:t>
            </a:fld>
            <a:endParaRPr lang="ru-RU"/>
          </a:p>
        </p:txBody>
      </p:sp>
    </p:spTree>
    <p:extLst>
      <p:ext uri="{BB962C8B-B14F-4D97-AF65-F5344CB8AC3E}">
        <p14:creationId xmlns:p14="http://schemas.microsoft.com/office/powerpoint/2010/main" val="402145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ru-RU" smtClean="0"/>
              <a:t>Образец заголовка</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99161DF6-A049-4366-A6C9-76D80B3F16AC}" type="datetimeFigureOut">
              <a:rPr lang="ru-RU" smtClean="0"/>
              <a:t>04.01.2026</a:t>
            </a:fld>
            <a:endParaRPr lang="ru-RU"/>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ru-RU"/>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070872B1-E6C0-486D-B105-D66D304B23EB}" type="slidenum">
              <a:rPr lang="ru-RU" smtClean="0"/>
              <a:t>‹#›</a:t>
            </a:fld>
            <a:endParaRPr lang="ru-RU"/>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69238532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99161DF6-A049-4366-A6C9-76D80B3F16AC}" type="datetimeFigureOut">
              <a:rPr lang="ru-RU" smtClean="0"/>
              <a:t>04.01.2026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070872B1-E6C0-486D-B105-D66D304B23EB}" type="slidenum">
              <a:rPr lang="ru-RU" smtClean="0"/>
              <a:t>‹#›</a:t>
            </a:fld>
            <a:endParaRPr lang="ru-RU"/>
          </a:p>
        </p:txBody>
      </p:sp>
    </p:spTree>
    <p:extLst>
      <p:ext uri="{BB962C8B-B14F-4D97-AF65-F5344CB8AC3E}">
        <p14:creationId xmlns:p14="http://schemas.microsoft.com/office/powerpoint/2010/main" val="1882504149"/>
      </p:ext>
    </p:extLst>
  </p:cSld>
  <p:clrMapOvr>
    <a:masterClrMapping/>
  </p:clrMapOvr>
  <p:extLst mod="1">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ru-RU" smtClean="0"/>
              <a:t>Образец заголовка</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257300" y="2909102"/>
            <a:ext cx="4800600" cy="299639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6633864" y="2909102"/>
            <a:ext cx="4800600" cy="299639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99161DF6-A049-4366-A6C9-76D80B3F16AC}" type="datetimeFigureOut">
              <a:rPr lang="ru-RU" smtClean="0"/>
              <a:t>04.01.2026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070872B1-E6C0-486D-B105-D66D304B23EB}" type="slidenum">
              <a:rPr lang="ru-RU" smtClean="0"/>
              <a:t>‹#›</a:t>
            </a:fld>
            <a:endParaRPr lang="ru-RU"/>
          </a:p>
        </p:txBody>
      </p:sp>
    </p:spTree>
    <p:extLst>
      <p:ext uri="{BB962C8B-B14F-4D97-AF65-F5344CB8AC3E}">
        <p14:creationId xmlns:p14="http://schemas.microsoft.com/office/powerpoint/2010/main" val="757021411"/>
      </p:ext>
    </p:extLst>
  </p:cSld>
  <p:clrMapOvr>
    <a:masterClrMapping/>
  </p:clrMapOvr>
  <p:extLst mod="1">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99161DF6-A049-4366-A6C9-76D80B3F16AC}" type="datetimeFigureOut">
              <a:rPr lang="ru-RU" smtClean="0"/>
              <a:t>04.01.2026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070872B1-E6C0-486D-B105-D66D304B23EB}" type="slidenum">
              <a:rPr lang="ru-RU" smtClean="0"/>
              <a:t>‹#›</a:t>
            </a:fld>
            <a:endParaRPr lang="ru-RU"/>
          </a:p>
        </p:txBody>
      </p:sp>
    </p:spTree>
    <p:extLst>
      <p:ext uri="{BB962C8B-B14F-4D97-AF65-F5344CB8AC3E}">
        <p14:creationId xmlns:p14="http://schemas.microsoft.com/office/powerpoint/2010/main" val="945945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161DF6-A049-4366-A6C9-76D80B3F16AC}" type="datetimeFigureOut">
              <a:rPr lang="ru-RU" smtClean="0"/>
              <a:t>04.01.2026</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070872B1-E6C0-486D-B105-D66D304B23EB}" type="slidenum">
              <a:rPr lang="ru-RU" smtClean="0"/>
              <a:t>‹#›</a:t>
            </a:fld>
            <a:endParaRPr lang="ru-RU"/>
          </a:p>
        </p:txBody>
      </p:sp>
    </p:spTree>
    <p:extLst>
      <p:ext uri="{BB962C8B-B14F-4D97-AF65-F5344CB8AC3E}">
        <p14:creationId xmlns:p14="http://schemas.microsoft.com/office/powerpoint/2010/main" val="962754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ru-RU" smtClean="0"/>
              <a:t>Образец заголовка</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a:xfrm>
            <a:off x="765051" y="6375679"/>
            <a:ext cx="1233355" cy="348462"/>
          </a:xfrm>
        </p:spPr>
        <p:txBody>
          <a:bodyPr/>
          <a:lstStyle/>
          <a:p>
            <a:fld id="{99161DF6-A049-4366-A6C9-76D80B3F16AC}" type="datetimeFigureOut">
              <a:rPr lang="ru-RU" smtClean="0"/>
              <a:t>04.01.2026</a:t>
            </a:fld>
            <a:endParaRPr lang="ru-RU"/>
          </a:p>
        </p:txBody>
      </p:sp>
      <p:sp>
        <p:nvSpPr>
          <p:cNvPr id="6" name="Footer Placeholder 5"/>
          <p:cNvSpPr>
            <a:spLocks noGrp="1"/>
          </p:cNvSpPr>
          <p:nvPr>
            <p:ph type="ftr" sz="quarter" idx="11"/>
          </p:nvPr>
        </p:nvSpPr>
        <p:spPr>
          <a:xfrm>
            <a:off x="2103620" y="6375679"/>
            <a:ext cx="3482179" cy="345796"/>
          </a:xfrm>
        </p:spPr>
        <p:txBody>
          <a:bodyPr/>
          <a:lstStyle/>
          <a:p>
            <a:endParaRPr lang="ru-RU"/>
          </a:p>
        </p:txBody>
      </p:sp>
      <p:sp>
        <p:nvSpPr>
          <p:cNvPr id="7" name="Slide Number Placeholder 6"/>
          <p:cNvSpPr>
            <a:spLocks noGrp="1"/>
          </p:cNvSpPr>
          <p:nvPr>
            <p:ph type="sldNum" sz="quarter" idx="12"/>
          </p:nvPr>
        </p:nvSpPr>
        <p:spPr>
          <a:xfrm>
            <a:off x="5691014" y="6375679"/>
            <a:ext cx="1232456" cy="345796"/>
          </a:xfrm>
        </p:spPr>
        <p:txBody>
          <a:bodyPr/>
          <a:lstStyle/>
          <a:p>
            <a:fld id="{070872B1-E6C0-486D-B105-D66D304B23EB}" type="slidenum">
              <a:rPr lang="ru-RU" smtClean="0"/>
              <a:t>‹#›</a:t>
            </a:fld>
            <a:endParaRPr lang="ru-RU"/>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28786285"/>
      </p:ext>
    </p:extLst>
  </p:cSld>
  <p:clrMapOvr>
    <a:masterClrMapping/>
  </p:clrMapOvr>
  <p:extLst mod="1">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Date Placeholder 4"/>
          <p:cNvSpPr>
            <a:spLocks noGrp="1"/>
          </p:cNvSpPr>
          <p:nvPr>
            <p:ph type="dt" sz="half" idx="10"/>
          </p:nvPr>
        </p:nvSpPr>
        <p:spPr>
          <a:xfrm>
            <a:off x="765950" y="6375679"/>
            <a:ext cx="1232456" cy="348462"/>
          </a:xfrm>
        </p:spPr>
        <p:txBody>
          <a:bodyPr/>
          <a:lstStyle/>
          <a:p>
            <a:fld id="{99161DF6-A049-4366-A6C9-76D80B3F16AC}" type="datetimeFigureOut">
              <a:rPr lang="ru-RU" smtClean="0"/>
              <a:t>04.01.2026</a:t>
            </a:fld>
            <a:endParaRPr lang="ru-RU"/>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070872B1-E6C0-486D-B105-D66D304B23EB}" type="slidenum">
              <a:rPr lang="ru-RU" smtClean="0"/>
              <a:t>‹#›</a:t>
            </a:fld>
            <a:endParaRPr lang="ru-RU"/>
          </a:p>
        </p:txBody>
      </p:sp>
    </p:spTree>
    <p:extLst>
      <p:ext uri="{BB962C8B-B14F-4D97-AF65-F5344CB8AC3E}">
        <p14:creationId xmlns:p14="http://schemas.microsoft.com/office/powerpoint/2010/main" val="2240743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99161DF6-A049-4366-A6C9-76D80B3F16AC}" type="datetimeFigureOut">
              <a:rPr lang="ru-RU" smtClean="0"/>
              <a:t>04.01.2026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70872B1-E6C0-486D-B105-D66D304B23EB}" type="slidenum">
              <a:rPr lang="ru-RU" smtClean="0"/>
              <a:t>‹#›</a:t>
            </a:fld>
            <a:endParaRPr lang="ru-RU"/>
          </a:p>
        </p:txBody>
      </p:sp>
    </p:spTree>
    <p:extLst>
      <p:ext uri="{BB962C8B-B14F-4D97-AF65-F5344CB8AC3E}">
        <p14:creationId xmlns:p14="http://schemas.microsoft.com/office/powerpoint/2010/main" val="618354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99161DF6-A049-4366-A6C9-76D80B3F16AC}" type="datetimeFigureOut">
              <a:rPr lang="ru-RU" smtClean="0"/>
              <a:t>04.01.2026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070872B1-E6C0-486D-B105-D66D304B23EB}" type="slidenum">
              <a:rPr lang="ru-RU" smtClean="0"/>
              <a:t>‹#›</a:t>
            </a:fld>
            <a:endParaRPr lang="ru-RU"/>
          </a:p>
        </p:txBody>
      </p:sp>
    </p:spTree>
    <p:extLst>
      <p:ext uri="{BB962C8B-B14F-4D97-AF65-F5344CB8AC3E}">
        <p14:creationId xmlns:p14="http://schemas.microsoft.com/office/powerpoint/2010/main" val="3739222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99161DF6-A049-4366-A6C9-76D80B3F16AC}" type="datetimeFigureOut">
              <a:rPr lang="ru-RU" smtClean="0"/>
              <a:t>04.01.2026</a:t>
            </a:fld>
            <a:endParaRPr lang="ru-RU"/>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ru-RU"/>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070872B1-E6C0-486D-B105-D66D304B23EB}" type="slidenum">
              <a:rPr lang="ru-RU" smtClean="0"/>
              <a:t>‹#›</a:t>
            </a:fld>
            <a:endParaRPr lang="ru-RU"/>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51692718"/>
      </p:ext>
    </p:extLst>
  </p:cSld>
  <p:clrMap bg1="lt1" tx1="dk1" bg2="lt2" tx2="dk2" accent1="accent1" accent2="accent2" accent3="accent3" accent4="accent4" accent5="accent5" accent6="accent6" hlink="hlink" folHlink="folHlink"/>
  <p:sldLayoutIdLst>
    <p:sldLayoutId id="2147484077" r:id="rId1"/>
    <p:sldLayoutId id="2147484078" r:id="rId2"/>
    <p:sldLayoutId id="2147484079" r:id="rId3"/>
    <p:sldLayoutId id="2147484080" r:id="rId4"/>
    <p:sldLayoutId id="2147484081" r:id="rId5"/>
    <p:sldLayoutId id="2147484082" r:id="rId6"/>
    <p:sldLayoutId id="2147484083" r:id="rId7"/>
    <p:sldLayoutId id="2147484084" r:id="rId8"/>
    <p:sldLayoutId id="2147484085" r:id="rId9"/>
    <p:sldLayoutId id="2147484086" r:id="rId10"/>
    <p:sldLayoutId id="2147484087"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9.xml"/><Relationship Id="rId3" Type="http://schemas.openxmlformats.org/officeDocument/2006/relationships/slide" Target="slide4.xml"/><Relationship Id="rId7" Type="http://schemas.openxmlformats.org/officeDocument/2006/relationships/slide" Target="slide14.xml"/><Relationship Id="rId2" Type="http://schemas.openxmlformats.org/officeDocument/2006/relationships/slide" Target="slide3.xml"/><Relationship Id="rId1" Type="http://schemas.openxmlformats.org/officeDocument/2006/relationships/slideLayout" Target="../slideLayouts/slideLayout3.xml"/><Relationship Id="rId6" Type="http://schemas.openxmlformats.org/officeDocument/2006/relationships/slide" Target="slide11.xml"/><Relationship Id="rId5" Type="http://schemas.openxmlformats.org/officeDocument/2006/relationships/slide" Target="slide7.xml"/><Relationship Id="rId10" Type="http://schemas.openxmlformats.org/officeDocument/2006/relationships/image" Target="../media/image1.png"/><Relationship Id="rId4" Type="http://schemas.openxmlformats.org/officeDocument/2006/relationships/slide" Target="slide5.xml"/><Relationship Id="rId9" Type="http://schemas.openxmlformats.org/officeDocument/2006/relationships/slide" Target="slide22.xml"/></Relationships>
</file>

<file path=ppt/slides/_rels/slide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 Target="slide2.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en-US" sz="8000" dirty="0"/>
              <a:t>Smart home control system simulator</a:t>
            </a:r>
            <a:endParaRPr lang="ru-RU" sz="8000" dirty="0"/>
          </a:p>
        </p:txBody>
      </p:sp>
      <p:sp>
        <p:nvSpPr>
          <p:cNvPr id="3" name="Подзаголовок 2"/>
          <p:cNvSpPr>
            <a:spLocks noGrp="1"/>
          </p:cNvSpPr>
          <p:nvPr>
            <p:ph type="subTitle" idx="1"/>
          </p:nvPr>
        </p:nvSpPr>
        <p:spPr/>
        <p:txBody>
          <a:bodyPr>
            <a:normAutofit fontScale="92500" lnSpcReduction="10000"/>
          </a:bodyPr>
          <a:lstStyle/>
          <a:p>
            <a:r>
              <a:rPr lang="en-US" dirty="0" smtClean="0"/>
              <a:t>by Ivan V. </a:t>
            </a:r>
            <a:r>
              <a:rPr lang="en-US" dirty="0" err="1" smtClean="0"/>
              <a:t>Tukalo</a:t>
            </a:r>
            <a:endParaRPr lang="en-US" dirty="0"/>
          </a:p>
          <a:p>
            <a:r>
              <a:rPr lang="en-US" dirty="0" smtClean="0"/>
              <a:t>Supervisor: </a:t>
            </a:r>
            <a:r>
              <a:rPr lang="en-US" dirty="0" err="1"/>
              <a:t>Andrii</a:t>
            </a:r>
            <a:r>
              <a:rPr lang="en-US" dirty="0"/>
              <a:t> </a:t>
            </a:r>
            <a:r>
              <a:rPr lang="en-US" dirty="0" smtClean="0"/>
              <a:t>V</a:t>
            </a:r>
            <a:r>
              <a:rPr lang="uk-UA" dirty="0" smtClean="0"/>
              <a:t>.</a:t>
            </a:r>
            <a:r>
              <a:rPr lang="en-US" dirty="0" smtClean="0"/>
              <a:t> </a:t>
            </a:r>
            <a:r>
              <a:rPr lang="en-US" dirty="0" err="1"/>
              <a:t>Yarmilko</a:t>
            </a:r>
            <a:endParaRPr lang="ru-RU" dirty="0"/>
          </a:p>
        </p:txBody>
      </p:sp>
    </p:spTree>
    <p:extLst>
      <p:ext uri="{BB962C8B-B14F-4D97-AF65-F5344CB8AC3E}">
        <p14:creationId xmlns:p14="http://schemas.microsoft.com/office/powerpoint/2010/main" val="155501659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0" presetClass="entr" presetSubtype="0" fill="hold" grpId="0" nodeType="after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500"/>
                                        <p:tgtEl>
                                          <p:spTgt spid="3">
                                            <p:txEl>
                                              <p:pRg st="0" end="0"/>
                                            </p:txEl>
                                          </p:spTgt>
                                        </p:tgtEl>
                                      </p:cBhvr>
                                    </p:animEffect>
                                  </p:childTnLst>
                                </p:cTn>
                              </p:par>
                            </p:childTnLst>
                          </p:cTn>
                        </p:par>
                        <p:par>
                          <p:cTn id="14" fill="hold">
                            <p:stCondLst>
                              <p:cond delay="1500"/>
                            </p:stCondLst>
                            <p:childTnLst>
                              <p:par>
                                <p:cTn id="15" presetID="10" presetClass="entr" presetSubtype="0" fill="hold" grpId="0" nodeType="after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882327" y="292230"/>
            <a:ext cx="3667025" cy="707886"/>
          </a:xfrm>
          <a:prstGeom prst="rect">
            <a:avLst/>
          </a:prstGeom>
          <a:noFill/>
        </p:spPr>
        <p:txBody>
          <a:bodyPr wrap="square" rtlCol="0">
            <a:spAutoFit/>
          </a:bodyPr>
          <a:lstStyle/>
          <a:p>
            <a:r>
              <a:rPr lang="en-US" sz="4000" cap="all" spc="800" dirty="0" smtClean="0">
                <a:solidFill>
                  <a:srgbClr val="AD84C6"/>
                </a:solidFill>
                <a:latin typeface="Impact" panose="020B0806030902050204"/>
                <a:ea typeface="+mj-ea"/>
                <a:cs typeface="+mj-cs"/>
              </a:rPr>
              <a:t>Contents</a:t>
            </a:r>
            <a:endParaRPr lang="ru-RU" sz="800" dirty="0">
              <a:solidFill>
                <a:srgbClr val="AD84C6"/>
              </a:solidFill>
            </a:endParaRPr>
          </a:p>
        </p:txBody>
      </p:sp>
      <p:sp>
        <p:nvSpPr>
          <p:cNvPr id="11" name="Прямоугольник 10"/>
          <p:cNvSpPr/>
          <p:nvPr/>
        </p:nvSpPr>
        <p:spPr>
          <a:xfrm>
            <a:off x="3263248" y="1301694"/>
            <a:ext cx="8311297" cy="3785652"/>
          </a:xfrm>
          <a:prstGeom prst="rect">
            <a:avLst/>
          </a:prstGeom>
        </p:spPr>
        <p:txBody>
          <a:bodyPr wrap="square">
            <a:spAutoFit/>
          </a:bodyPr>
          <a:lstStyle/>
          <a:p>
            <a:pPr marL="342900" lvl="0" indent="-342900">
              <a:lnSpc>
                <a:spcPct val="150000"/>
              </a:lnSpc>
              <a:buFont typeface="Wingdings" panose="05000000000000000000" pitchFamily="2" charset="2"/>
              <a:buChar char="v"/>
            </a:pPr>
            <a:r>
              <a:rPr lang="en-US" sz="2000" b="1" dirty="0">
                <a:solidFill>
                  <a:srgbClr val="DCD8DC"/>
                </a:solidFill>
                <a:cs typeface="Segoe UI" panose="020B0502040204020203" pitchFamily="34" charset="0"/>
                <a:hlinkClick r:id="rId2" action="ppaction://hlinksldjump"/>
              </a:rPr>
              <a:t>Reason and purpose for creating the simulator</a:t>
            </a:r>
            <a:endParaRPr lang="en-US" sz="2000" b="1" dirty="0">
              <a:solidFill>
                <a:srgbClr val="DCD8DC"/>
              </a:solidFill>
              <a:cs typeface="Segoe UI" panose="020B0502040204020203" pitchFamily="34" charset="0"/>
            </a:endParaRPr>
          </a:p>
          <a:p>
            <a:pPr marL="342900" lvl="0" indent="-342900">
              <a:lnSpc>
                <a:spcPct val="150000"/>
              </a:lnSpc>
              <a:buFont typeface="Wingdings" panose="05000000000000000000" pitchFamily="2" charset="2"/>
              <a:buChar char="v"/>
            </a:pPr>
            <a:r>
              <a:rPr lang="en-US" sz="2000" b="1" dirty="0">
                <a:solidFill>
                  <a:prstClr val="white"/>
                </a:solidFill>
                <a:cs typeface="Segoe UI" panose="020B0502040204020203" pitchFamily="34" charset="0"/>
                <a:hlinkClick r:id="rId3" action="ppaction://hlinksldjump"/>
              </a:rPr>
              <a:t>Tasks</a:t>
            </a:r>
            <a:endParaRPr lang="en-US" sz="2000" b="1" dirty="0">
              <a:solidFill>
                <a:prstClr val="white"/>
              </a:solidFill>
              <a:cs typeface="Segoe UI" panose="020B0502040204020203" pitchFamily="34" charset="0"/>
            </a:endParaRPr>
          </a:p>
          <a:p>
            <a:pPr marL="342900" lvl="0" indent="-342900">
              <a:lnSpc>
                <a:spcPct val="150000"/>
              </a:lnSpc>
              <a:buFont typeface="Wingdings" panose="05000000000000000000" pitchFamily="2" charset="2"/>
              <a:buChar char="v"/>
            </a:pPr>
            <a:r>
              <a:rPr lang="en-US" sz="2000" b="1" dirty="0">
                <a:solidFill>
                  <a:prstClr val="white"/>
                </a:solidFill>
                <a:cs typeface="Segoe UI" panose="020B0502040204020203" pitchFamily="34" charset="0"/>
                <a:hlinkClick r:id="rId4" action="ppaction://hlinksldjump"/>
              </a:rPr>
              <a:t>Selected approaches and tools</a:t>
            </a:r>
            <a:endParaRPr lang="en-US" sz="2000" b="1" dirty="0">
              <a:solidFill>
                <a:prstClr val="white"/>
              </a:solidFill>
              <a:cs typeface="Segoe UI" panose="020B0502040204020203" pitchFamily="34" charset="0"/>
            </a:endParaRPr>
          </a:p>
          <a:p>
            <a:pPr marL="342900" lvl="0" indent="-342900">
              <a:lnSpc>
                <a:spcPct val="150000"/>
              </a:lnSpc>
              <a:buFont typeface="Wingdings" panose="05000000000000000000" pitchFamily="2" charset="2"/>
              <a:buChar char="v"/>
            </a:pPr>
            <a:r>
              <a:rPr lang="en-US" sz="2000" b="1" dirty="0">
                <a:solidFill>
                  <a:prstClr val="white"/>
                </a:solidFill>
                <a:cs typeface="Segoe UI" panose="020B0502040204020203" pitchFamily="34" charset="0"/>
                <a:hlinkClick r:id="rId5" action="ppaction://hlinksldjump"/>
              </a:rPr>
              <a:t>Use of Encapsulation</a:t>
            </a:r>
            <a:endParaRPr lang="en-US" sz="2000" b="1" dirty="0">
              <a:solidFill>
                <a:prstClr val="white"/>
              </a:solidFill>
              <a:cs typeface="Segoe UI" panose="020B0502040204020203" pitchFamily="34" charset="0"/>
            </a:endParaRPr>
          </a:p>
          <a:p>
            <a:pPr marL="342900" lvl="0" indent="-342900">
              <a:lnSpc>
                <a:spcPct val="150000"/>
              </a:lnSpc>
              <a:buFont typeface="Wingdings" panose="05000000000000000000" pitchFamily="2" charset="2"/>
              <a:buChar char="v"/>
            </a:pPr>
            <a:r>
              <a:rPr lang="en-US" sz="2000" b="1" dirty="0">
                <a:solidFill>
                  <a:prstClr val="white"/>
                </a:solidFill>
                <a:cs typeface="Segoe UI" panose="020B0502040204020203" pitchFamily="34" charset="0"/>
                <a:hlinkClick r:id="rId6" action="ppaction://hlinksldjump"/>
              </a:rPr>
              <a:t>Use of Abstraction</a:t>
            </a:r>
            <a:endParaRPr lang="en-US" sz="2000" b="1" dirty="0">
              <a:solidFill>
                <a:prstClr val="white"/>
              </a:solidFill>
              <a:cs typeface="Segoe UI" panose="020B0502040204020203" pitchFamily="34" charset="0"/>
            </a:endParaRPr>
          </a:p>
          <a:p>
            <a:pPr marL="342900" lvl="0" indent="-342900">
              <a:lnSpc>
                <a:spcPct val="150000"/>
              </a:lnSpc>
              <a:buFont typeface="Wingdings" panose="05000000000000000000" pitchFamily="2" charset="2"/>
              <a:buChar char="v"/>
            </a:pPr>
            <a:r>
              <a:rPr lang="en-US" sz="2000" b="1" dirty="0">
                <a:solidFill>
                  <a:prstClr val="white"/>
                </a:solidFill>
                <a:cs typeface="Segoe UI" panose="020B0502040204020203" pitchFamily="34" charset="0"/>
                <a:hlinkClick r:id="rId7" action="ppaction://hlinksldjump"/>
              </a:rPr>
              <a:t>Use of Inheritance</a:t>
            </a:r>
            <a:endParaRPr lang="en-US" sz="2000" b="1" dirty="0">
              <a:solidFill>
                <a:prstClr val="white"/>
              </a:solidFill>
              <a:cs typeface="Segoe UI" panose="020B0502040204020203" pitchFamily="34" charset="0"/>
            </a:endParaRPr>
          </a:p>
          <a:p>
            <a:pPr marL="342900" lvl="0" indent="-342900">
              <a:lnSpc>
                <a:spcPct val="150000"/>
              </a:lnSpc>
              <a:buFont typeface="Wingdings" panose="05000000000000000000" pitchFamily="2" charset="2"/>
              <a:buChar char="v"/>
            </a:pPr>
            <a:r>
              <a:rPr lang="en-US" sz="2000" b="1" dirty="0">
                <a:solidFill>
                  <a:prstClr val="white"/>
                </a:solidFill>
                <a:cs typeface="Segoe UI" panose="020B0502040204020203" pitchFamily="34" charset="0"/>
                <a:hlinkClick r:id="rId8" action="ppaction://hlinksldjump"/>
              </a:rPr>
              <a:t>Use of Polymorphism</a:t>
            </a:r>
            <a:endParaRPr lang="en-US" sz="2000" b="1" dirty="0">
              <a:solidFill>
                <a:prstClr val="white"/>
              </a:solidFill>
              <a:cs typeface="Segoe UI" panose="020B0502040204020203" pitchFamily="34" charset="0"/>
            </a:endParaRPr>
          </a:p>
          <a:p>
            <a:pPr marL="342900" lvl="0" indent="-342900">
              <a:lnSpc>
                <a:spcPct val="150000"/>
              </a:lnSpc>
              <a:buFont typeface="Wingdings" panose="05000000000000000000" pitchFamily="2" charset="2"/>
              <a:buChar char="v"/>
            </a:pPr>
            <a:r>
              <a:rPr lang="en-US" sz="2000" b="1" dirty="0">
                <a:solidFill>
                  <a:prstClr val="white"/>
                </a:solidFill>
                <a:cs typeface="Segoe UI" panose="020B0502040204020203" pitchFamily="34" charset="0"/>
                <a:hlinkClick r:id="rId9" action="ppaction://hlinksldjump"/>
              </a:rPr>
              <a:t>Practical </a:t>
            </a:r>
            <a:r>
              <a:rPr lang="en-US" sz="2000" b="1" dirty="0" smtClean="0">
                <a:solidFill>
                  <a:prstClr val="white"/>
                </a:solidFill>
                <a:cs typeface="Segoe UI" panose="020B0502040204020203" pitchFamily="34" charset="0"/>
                <a:hlinkClick r:id="rId9" action="ppaction://hlinksldjump"/>
              </a:rPr>
              <a:t>value</a:t>
            </a:r>
            <a:r>
              <a:rPr lang="uk-UA" sz="2000" b="1" dirty="0" smtClean="0">
                <a:solidFill>
                  <a:prstClr val="white"/>
                </a:solidFill>
                <a:cs typeface="Segoe UI" panose="020B0502040204020203" pitchFamily="34" charset="0"/>
                <a:hlinkClick r:id="rId9" action="ppaction://hlinksldjump"/>
              </a:rPr>
              <a:t> </a:t>
            </a:r>
            <a:r>
              <a:rPr lang="en-US" sz="2000" b="1" dirty="0" smtClean="0">
                <a:solidFill>
                  <a:prstClr val="white"/>
                </a:solidFill>
                <a:cs typeface="Segoe UI" panose="020B0502040204020203" pitchFamily="34" charset="0"/>
                <a:hlinkClick r:id="rId9" action="ppaction://hlinksldjump"/>
              </a:rPr>
              <a:t>and </a:t>
            </a:r>
            <a:r>
              <a:rPr lang="en-US" sz="2000" b="1" dirty="0">
                <a:solidFill>
                  <a:prstClr val="white"/>
                </a:solidFill>
                <a:cs typeface="Segoe UI" panose="020B0502040204020203" pitchFamily="34" charset="0"/>
                <a:hlinkClick r:id="rId9" action="ppaction://hlinksldjump"/>
              </a:rPr>
              <a:t>perspective for further development</a:t>
            </a:r>
            <a:endParaRPr lang="en-US" sz="2000" b="1" dirty="0">
              <a:solidFill>
                <a:prstClr val="white"/>
              </a:solidFill>
              <a:cs typeface="Segoe UI" panose="020B0502040204020203" pitchFamily="34" charset="0"/>
            </a:endParaRPr>
          </a:p>
        </p:txBody>
      </p:sp>
      <p:pic>
        <p:nvPicPr>
          <p:cNvPr id="17" name="Рисунок 16">
            <a:hlinkClick r:id="" action="ppaction://hlinkshowjump?jump=lastslide"/>
          </p:cNvPr>
          <p:cNvPicPr>
            <a:picLocks noChangeAspect="1"/>
          </p:cNvPicPr>
          <p:nvPr/>
        </p:nvPicPr>
        <p:blipFill>
          <a:blip r:embed="rId10"/>
          <a:stretch>
            <a:fillRect/>
          </a:stretch>
        </p:blipFill>
        <p:spPr>
          <a:xfrm>
            <a:off x="11246298" y="6078093"/>
            <a:ext cx="823031" cy="621846"/>
          </a:xfrm>
          <a:prstGeom prst="rect">
            <a:avLst/>
          </a:prstGeom>
        </p:spPr>
      </p:pic>
    </p:spTree>
    <p:extLst>
      <p:ext uri="{BB962C8B-B14F-4D97-AF65-F5344CB8AC3E}">
        <p14:creationId xmlns:p14="http://schemas.microsoft.com/office/powerpoint/2010/main" val="1295141829"/>
      </p:ext>
    </p:extLst>
  </p:cSld>
  <p:clrMapOvr>
    <a:masterClrMapping/>
  </p:clrMapOvr>
  <p:transition spd="slow" advClick="0">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childTnLst>
                                </p:cTn>
                              </p:par>
                              <p:par>
                                <p:cTn id="8" presetID="42" presetClass="entr" presetSubtype="0" fill="hold" nodeType="withEffect">
                                  <p:stCondLst>
                                    <p:cond delay="500"/>
                                  </p:stCondLst>
                                  <p:childTnLst>
                                    <p:set>
                                      <p:cBhvr>
                                        <p:cTn id="9" dur="1" fill="hold">
                                          <p:stCondLst>
                                            <p:cond delay="0"/>
                                          </p:stCondLst>
                                        </p:cTn>
                                        <p:tgtEl>
                                          <p:spTgt spid="11">
                                            <p:txEl>
                                              <p:pRg st="0" end="0"/>
                                            </p:txEl>
                                          </p:spTgt>
                                        </p:tgtEl>
                                        <p:attrNameLst>
                                          <p:attrName>style.visibility</p:attrName>
                                        </p:attrNameLst>
                                      </p:cBhvr>
                                      <p:to>
                                        <p:strVal val="visible"/>
                                      </p:to>
                                    </p:set>
                                    <p:animEffect transition="in" filter="fade">
                                      <p:cBhvr>
                                        <p:cTn id="10" dur="750"/>
                                        <p:tgtEl>
                                          <p:spTgt spid="11">
                                            <p:txEl>
                                              <p:pRg st="0" end="0"/>
                                            </p:txEl>
                                          </p:spTgt>
                                        </p:tgtEl>
                                      </p:cBhvr>
                                    </p:animEffect>
                                    <p:anim calcmode="lin" valueType="num">
                                      <p:cBhvr>
                                        <p:cTn id="11" dur="75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12" dur="750" fill="hold"/>
                                        <p:tgtEl>
                                          <p:spTgt spid="11">
                                            <p:txEl>
                                              <p:pRg st="0" end="0"/>
                                            </p:txEl>
                                          </p:spTgt>
                                        </p:tgtEl>
                                        <p:attrNameLst>
                                          <p:attrName>ppt_y</p:attrName>
                                        </p:attrNameLst>
                                      </p:cBhvr>
                                      <p:tavLst>
                                        <p:tav tm="0">
                                          <p:val>
                                            <p:strVal val="#ppt_y+.1"/>
                                          </p:val>
                                        </p:tav>
                                        <p:tav tm="100000">
                                          <p:val>
                                            <p:strVal val="#ppt_y"/>
                                          </p:val>
                                        </p:tav>
                                      </p:tavLst>
                                    </p:anim>
                                  </p:childTnLst>
                                </p:cTn>
                              </p:par>
                              <p:par>
                                <p:cTn id="13" presetID="42" presetClass="entr" presetSubtype="0" fill="hold" nodeType="withEffect">
                                  <p:stCondLst>
                                    <p:cond delay="750"/>
                                  </p:stCondLst>
                                  <p:childTnLst>
                                    <p:set>
                                      <p:cBhvr>
                                        <p:cTn id="14" dur="1" fill="hold">
                                          <p:stCondLst>
                                            <p:cond delay="0"/>
                                          </p:stCondLst>
                                        </p:cTn>
                                        <p:tgtEl>
                                          <p:spTgt spid="11">
                                            <p:txEl>
                                              <p:pRg st="1" end="1"/>
                                            </p:txEl>
                                          </p:spTgt>
                                        </p:tgtEl>
                                        <p:attrNameLst>
                                          <p:attrName>style.visibility</p:attrName>
                                        </p:attrNameLst>
                                      </p:cBhvr>
                                      <p:to>
                                        <p:strVal val="visible"/>
                                      </p:to>
                                    </p:set>
                                    <p:animEffect transition="in" filter="fade">
                                      <p:cBhvr>
                                        <p:cTn id="15" dur="750"/>
                                        <p:tgtEl>
                                          <p:spTgt spid="11">
                                            <p:txEl>
                                              <p:pRg st="1" end="1"/>
                                            </p:txEl>
                                          </p:spTgt>
                                        </p:tgtEl>
                                      </p:cBhvr>
                                    </p:animEffect>
                                    <p:anim calcmode="lin" valueType="num">
                                      <p:cBhvr>
                                        <p:cTn id="16" dur="75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17" dur="750" fill="hold"/>
                                        <p:tgtEl>
                                          <p:spTgt spid="11">
                                            <p:txEl>
                                              <p:pRg st="1" end="1"/>
                                            </p:txEl>
                                          </p:spTgt>
                                        </p:tgtEl>
                                        <p:attrNameLst>
                                          <p:attrName>ppt_y</p:attrName>
                                        </p:attrNameLst>
                                      </p:cBhvr>
                                      <p:tavLst>
                                        <p:tav tm="0">
                                          <p:val>
                                            <p:strVal val="#ppt_y+.1"/>
                                          </p:val>
                                        </p:tav>
                                        <p:tav tm="100000">
                                          <p:val>
                                            <p:strVal val="#ppt_y"/>
                                          </p:val>
                                        </p:tav>
                                      </p:tavLst>
                                    </p:anim>
                                  </p:childTnLst>
                                </p:cTn>
                              </p:par>
                              <p:par>
                                <p:cTn id="18" presetID="42" presetClass="entr" presetSubtype="0" fill="hold" nodeType="withEffect">
                                  <p:stCondLst>
                                    <p:cond delay="1000"/>
                                  </p:stCondLst>
                                  <p:childTnLst>
                                    <p:set>
                                      <p:cBhvr>
                                        <p:cTn id="19" dur="1" fill="hold">
                                          <p:stCondLst>
                                            <p:cond delay="0"/>
                                          </p:stCondLst>
                                        </p:cTn>
                                        <p:tgtEl>
                                          <p:spTgt spid="11">
                                            <p:txEl>
                                              <p:pRg st="2" end="2"/>
                                            </p:txEl>
                                          </p:spTgt>
                                        </p:tgtEl>
                                        <p:attrNameLst>
                                          <p:attrName>style.visibility</p:attrName>
                                        </p:attrNameLst>
                                      </p:cBhvr>
                                      <p:to>
                                        <p:strVal val="visible"/>
                                      </p:to>
                                    </p:set>
                                    <p:animEffect transition="in" filter="fade">
                                      <p:cBhvr>
                                        <p:cTn id="20" dur="750"/>
                                        <p:tgtEl>
                                          <p:spTgt spid="11">
                                            <p:txEl>
                                              <p:pRg st="2" end="2"/>
                                            </p:txEl>
                                          </p:spTgt>
                                        </p:tgtEl>
                                      </p:cBhvr>
                                    </p:animEffect>
                                    <p:anim calcmode="lin" valueType="num">
                                      <p:cBhvr>
                                        <p:cTn id="21" dur="75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22" dur="750" fill="hold"/>
                                        <p:tgtEl>
                                          <p:spTgt spid="11">
                                            <p:txEl>
                                              <p:pRg st="2" end="2"/>
                                            </p:txEl>
                                          </p:spTgt>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1250"/>
                                  </p:stCondLst>
                                  <p:childTnLst>
                                    <p:set>
                                      <p:cBhvr>
                                        <p:cTn id="24" dur="1" fill="hold">
                                          <p:stCondLst>
                                            <p:cond delay="0"/>
                                          </p:stCondLst>
                                        </p:cTn>
                                        <p:tgtEl>
                                          <p:spTgt spid="11">
                                            <p:txEl>
                                              <p:pRg st="3" end="3"/>
                                            </p:txEl>
                                          </p:spTgt>
                                        </p:tgtEl>
                                        <p:attrNameLst>
                                          <p:attrName>style.visibility</p:attrName>
                                        </p:attrNameLst>
                                      </p:cBhvr>
                                      <p:to>
                                        <p:strVal val="visible"/>
                                      </p:to>
                                    </p:set>
                                    <p:animEffect transition="in" filter="fade">
                                      <p:cBhvr>
                                        <p:cTn id="25" dur="750"/>
                                        <p:tgtEl>
                                          <p:spTgt spid="11">
                                            <p:txEl>
                                              <p:pRg st="3" end="3"/>
                                            </p:txEl>
                                          </p:spTgt>
                                        </p:tgtEl>
                                      </p:cBhvr>
                                    </p:animEffect>
                                    <p:anim calcmode="lin" valueType="num">
                                      <p:cBhvr>
                                        <p:cTn id="26" dur="750" fill="hold"/>
                                        <p:tgtEl>
                                          <p:spTgt spid="11">
                                            <p:txEl>
                                              <p:pRg st="3" end="3"/>
                                            </p:txEl>
                                          </p:spTgt>
                                        </p:tgtEl>
                                        <p:attrNameLst>
                                          <p:attrName>ppt_x</p:attrName>
                                        </p:attrNameLst>
                                      </p:cBhvr>
                                      <p:tavLst>
                                        <p:tav tm="0">
                                          <p:val>
                                            <p:strVal val="#ppt_x"/>
                                          </p:val>
                                        </p:tav>
                                        <p:tav tm="100000">
                                          <p:val>
                                            <p:strVal val="#ppt_x"/>
                                          </p:val>
                                        </p:tav>
                                      </p:tavLst>
                                    </p:anim>
                                    <p:anim calcmode="lin" valueType="num">
                                      <p:cBhvr>
                                        <p:cTn id="27" dur="750" fill="hold"/>
                                        <p:tgtEl>
                                          <p:spTgt spid="11">
                                            <p:txEl>
                                              <p:pRg st="3" end="3"/>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1500"/>
                                  </p:stCondLst>
                                  <p:childTnLst>
                                    <p:set>
                                      <p:cBhvr>
                                        <p:cTn id="29" dur="1" fill="hold">
                                          <p:stCondLst>
                                            <p:cond delay="0"/>
                                          </p:stCondLst>
                                        </p:cTn>
                                        <p:tgtEl>
                                          <p:spTgt spid="11">
                                            <p:txEl>
                                              <p:pRg st="4" end="4"/>
                                            </p:txEl>
                                          </p:spTgt>
                                        </p:tgtEl>
                                        <p:attrNameLst>
                                          <p:attrName>style.visibility</p:attrName>
                                        </p:attrNameLst>
                                      </p:cBhvr>
                                      <p:to>
                                        <p:strVal val="visible"/>
                                      </p:to>
                                    </p:set>
                                    <p:animEffect transition="in" filter="fade">
                                      <p:cBhvr>
                                        <p:cTn id="30" dur="750"/>
                                        <p:tgtEl>
                                          <p:spTgt spid="11">
                                            <p:txEl>
                                              <p:pRg st="4" end="4"/>
                                            </p:txEl>
                                          </p:spTgt>
                                        </p:tgtEl>
                                      </p:cBhvr>
                                    </p:animEffect>
                                    <p:anim calcmode="lin" valueType="num">
                                      <p:cBhvr>
                                        <p:cTn id="31" dur="750" fill="hold"/>
                                        <p:tgtEl>
                                          <p:spTgt spid="11">
                                            <p:txEl>
                                              <p:pRg st="4" end="4"/>
                                            </p:txEl>
                                          </p:spTgt>
                                        </p:tgtEl>
                                        <p:attrNameLst>
                                          <p:attrName>ppt_x</p:attrName>
                                        </p:attrNameLst>
                                      </p:cBhvr>
                                      <p:tavLst>
                                        <p:tav tm="0">
                                          <p:val>
                                            <p:strVal val="#ppt_x"/>
                                          </p:val>
                                        </p:tav>
                                        <p:tav tm="100000">
                                          <p:val>
                                            <p:strVal val="#ppt_x"/>
                                          </p:val>
                                        </p:tav>
                                      </p:tavLst>
                                    </p:anim>
                                    <p:anim calcmode="lin" valueType="num">
                                      <p:cBhvr>
                                        <p:cTn id="32" dur="750" fill="hold"/>
                                        <p:tgtEl>
                                          <p:spTgt spid="11">
                                            <p:txEl>
                                              <p:pRg st="4" end="4"/>
                                            </p:txEl>
                                          </p:spTgt>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1750"/>
                                  </p:stCondLst>
                                  <p:childTnLst>
                                    <p:set>
                                      <p:cBhvr>
                                        <p:cTn id="34" dur="1" fill="hold">
                                          <p:stCondLst>
                                            <p:cond delay="0"/>
                                          </p:stCondLst>
                                        </p:cTn>
                                        <p:tgtEl>
                                          <p:spTgt spid="11">
                                            <p:txEl>
                                              <p:pRg st="5" end="5"/>
                                            </p:txEl>
                                          </p:spTgt>
                                        </p:tgtEl>
                                        <p:attrNameLst>
                                          <p:attrName>style.visibility</p:attrName>
                                        </p:attrNameLst>
                                      </p:cBhvr>
                                      <p:to>
                                        <p:strVal val="visible"/>
                                      </p:to>
                                    </p:set>
                                    <p:animEffect transition="in" filter="fade">
                                      <p:cBhvr>
                                        <p:cTn id="35" dur="750"/>
                                        <p:tgtEl>
                                          <p:spTgt spid="11">
                                            <p:txEl>
                                              <p:pRg st="5" end="5"/>
                                            </p:txEl>
                                          </p:spTgt>
                                        </p:tgtEl>
                                      </p:cBhvr>
                                    </p:animEffect>
                                    <p:anim calcmode="lin" valueType="num">
                                      <p:cBhvr>
                                        <p:cTn id="36" dur="750" fill="hold"/>
                                        <p:tgtEl>
                                          <p:spTgt spid="11">
                                            <p:txEl>
                                              <p:pRg st="5" end="5"/>
                                            </p:txEl>
                                          </p:spTgt>
                                        </p:tgtEl>
                                        <p:attrNameLst>
                                          <p:attrName>ppt_x</p:attrName>
                                        </p:attrNameLst>
                                      </p:cBhvr>
                                      <p:tavLst>
                                        <p:tav tm="0">
                                          <p:val>
                                            <p:strVal val="#ppt_x"/>
                                          </p:val>
                                        </p:tav>
                                        <p:tav tm="100000">
                                          <p:val>
                                            <p:strVal val="#ppt_x"/>
                                          </p:val>
                                        </p:tav>
                                      </p:tavLst>
                                    </p:anim>
                                    <p:anim calcmode="lin" valueType="num">
                                      <p:cBhvr>
                                        <p:cTn id="37" dur="750" fill="hold"/>
                                        <p:tgtEl>
                                          <p:spTgt spid="11">
                                            <p:txEl>
                                              <p:pRg st="5" end="5"/>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2000"/>
                                  </p:stCondLst>
                                  <p:childTnLst>
                                    <p:set>
                                      <p:cBhvr>
                                        <p:cTn id="39" dur="1" fill="hold">
                                          <p:stCondLst>
                                            <p:cond delay="0"/>
                                          </p:stCondLst>
                                        </p:cTn>
                                        <p:tgtEl>
                                          <p:spTgt spid="11">
                                            <p:txEl>
                                              <p:pRg st="6" end="6"/>
                                            </p:txEl>
                                          </p:spTgt>
                                        </p:tgtEl>
                                        <p:attrNameLst>
                                          <p:attrName>style.visibility</p:attrName>
                                        </p:attrNameLst>
                                      </p:cBhvr>
                                      <p:to>
                                        <p:strVal val="visible"/>
                                      </p:to>
                                    </p:set>
                                    <p:animEffect transition="in" filter="fade">
                                      <p:cBhvr>
                                        <p:cTn id="40" dur="750"/>
                                        <p:tgtEl>
                                          <p:spTgt spid="11">
                                            <p:txEl>
                                              <p:pRg st="6" end="6"/>
                                            </p:txEl>
                                          </p:spTgt>
                                        </p:tgtEl>
                                      </p:cBhvr>
                                    </p:animEffect>
                                    <p:anim calcmode="lin" valueType="num">
                                      <p:cBhvr>
                                        <p:cTn id="41" dur="750" fill="hold"/>
                                        <p:tgtEl>
                                          <p:spTgt spid="11">
                                            <p:txEl>
                                              <p:pRg st="6" end="6"/>
                                            </p:txEl>
                                          </p:spTgt>
                                        </p:tgtEl>
                                        <p:attrNameLst>
                                          <p:attrName>ppt_x</p:attrName>
                                        </p:attrNameLst>
                                      </p:cBhvr>
                                      <p:tavLst>
                                        <p:tav tm="0">
                                          <p:val>
                                            <p:strVal val="#ppt_x"/>
                                          </p:val>
                                        </p:tav>
                                        <p:tav tm="100000">
                                          <p:val>
                                            <p:strVal val="#ppt_x"/>
                                          </p:val>
                                        </p:tav>
                                      </p:tavLst>
                                    </p:anim>
                                    <p:anim calcmode="lin" valueType="num">
                                      <p:cBhvr>
                                        <p:cTn id="42" dur="750" fill="hold"/>
                                        <p:tgtEl>
                                          <p:spTgt spid="11">
                                            <p:txEl>
                                              <p:pRg st="6" end="6"/>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2250"/>
                                  </p:stCondLst>
                                  <p:childTnLst>
                                    <p:set>
                                      <p:cBhvr>
                                        <p:cTn id="44" dur="1" fill="hold">
                                          <p:stCondLst>
                                            <p:cond delay="0"/>
                                          </p:stCondLst>
                                        </p:cTn>
                                        <p:tgtEl>
                                          <p:spTgt spid="11">
                                            <p:txEl>
                                              <p:pRg st="7" end="7"/>
                                            </p:txEl>
                                          </p:spTgt>
                                        </p:tgtEl>
                                        <p:attrNameLst>
                                          <p:attrName>style.visibility</p:attrName>
                                        </p:attrNameLst>
                                      </p:cBhvr>
                                      <p:to>
                                        <p:strVal val="visible"/>
                                      </p:to>
                                    </p:set>
                                    <p:animEffect transition="in" filter="fade">
                                      <p:cBhvr>
                                        <p:cTn id="45" dur="750"/>
                                        <p:tgtEl>
                                          <p:spTgt spid="11">
                                            <p:txEl>
                                              <p:pRg st="7" end="7"/>
                                            </p:txEl>
                                          </p:spTgt>
                                        </p:tgtEl>
                                      </p:cBhvr>
                                    </p:animEffect>
                                    <p:anim calcmode="lin" valueType="num">
                                      <p:cBhvr>
                                        <p:cTn id="46" dur="750" fill="hold"/>
                                        <p:tgtEl>
                                          <p:spTgt spid="11">
                                            <p:txEl>
                                              <p:pRg st="7" end="7"/>
                                            </p:txEl>
                                          </p:spTgt>
                                        </p:tgtEl>
                                        <p:attrNameLst>
                                          <p:attrName>ppt_x</p:attrName>
                                        </p:attrNameLst>
                                      </p:cBhvr>
                                      <p:tavLst>
                                        <p:tav tm="0">
                                          <p:val>
                                            <p:strVal val="#ppt_x"/>
                                          </p:val>
                                        </p:tav>
                                        <p:tav tm="100000">
                                          <p:val>
                                            <p:strVal val="#ppt_x"/>
                                          </p:val>
                                        </p:tav>
                                      </p:tavLst>
                                    </p:anim>
                                    <p:anim calcmode="lin" valueType="num">
                                      <p:cBhvr>
                                        <p:cTn id="47" dur="750" fill="hold"/>
                                        <p:tgtEl>
                                          <p:spTgt spid="11">
                                            <p:txEl>
                                              <p:pRg st="7" end="7"/>
                                            </p:txEl>
                                          </p:spTgt>
                                        </p:tgtEl>
                                        <p:attrNameLst>
                                          <p:attrName>ppt_y</p:attrName>
                                        </p:attrNameLst>
                                      </p:cBhvr>
                                      <p:tavLst>
                                        <p:tav tm="0">
                                          <p:val>
                                            <p:strVal val="#ppt_y+.1"/>
                                          </p:val>
                                        </p:tav>
                                        <p:tav tm="100000">
                                          <p:val>
                                            <p:strVal val="#ppt_y"/>
                                          </p:val>
                                        </p:tav>
                                      </p:tavLst>
                                    </p:anim>
                                  </p:childTnLst>
                                </p:cTn>
                              </p:par>
                              <p:par>
                                <p:cTn id="48" presetID="2" presetClass="entr" presetSubtype="2" decel="60000" fill="hold" nodeType="withEffect">
                                  <p:stCondLst>
                                    <p:cond delay="2750"/>
                                  </p:stCondLst>
                                  <p:childTnLst>
                                    <p:set>
                                      <p:cBhvr>
                                        <p:cTn id="49" dur="1" fill="hold">
                                          <p:stCondLst>
                                            <p:cond delay="0"/>
                                          </p:stCondLst>
                                        </p:cTn>
                                        <p:tgtEl>
                                          <p:spTgt spid="17"/>
                                        </p:tgtEl>
                                        <p:attrNameLst>
                                          <p:attrName>style.visibility</p:attrName>
                                        </p:attrNameLst>
                                      </p:cBhvr>
                                      <p:to>
                                        <p:strVal val="visible"/>
                                      </p:to>
                                    </p:set>
                                    <p:anim calcmode="lin" valueType="num">
                                      <p:cBhvr additive="base">
                                        <p:cTn id="50" dur="500" fill="hold"/>
                                        <p:tgtEl>
                                          <p:spTgt spid="17"/>
                                        </p:tgtEl>
                                        <p:attrNameLst>
                                          <p:attrName>ppt_x</p:attrName>
                                        </p:attrNameLst>
                                      </p:cBhvr>
                                      <p:tavLst>
                                        <p:tav tm="0">
                                          <p:val>
                                            <p:strVal val="1+#ppt_w/2"/>
                                          </p:val>
                                        </p:tav>
                                        <p:tav tm="100000">
                                          <p:val>
                                            <p:strVal val="#ppt_x"/>
                                          </p:val>
                                        </p:tav>
                                      </p:tavLst>
                                    </p:anim>
                                    <p:anim calcmode="lin" valueType="num">
                                      <p:cBhvr additive="base">
                                        <p:cTn id="51" dur="500" fill="hold"/>
                                        <p:tgtEl>
                                          <p:spTgt spid="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Прямоугольник 1"/>
          <p:cNvSpPr/>
          <p:nvPr/>
        </p:nvSpPr>
        <p:spPr>
          <a:xfrm>
            <a:off x="1019090" y="75534"/>
            <a:ext cx="3468069" cy="2554545"/>
          </a:xfrm>
          <a:prstGeom prst="rect">
            <a:avLst/>
          </a:prstGeom>
        </p:spPr>
        <p:txBody>
          <a:bodyPr wrap="square">
            <a:spAutoFit/>
          </a:bodyPr>
          <a:lstStyle/>
          <a:p>
            <a:r>
              <a:rPr lang="en-US" sz="4000" cap="all" spc="200" dirty="0">
                <a:solidFill>
                  <a:srgbClr val="373545"/>
                </a:solidFill>
                <a:latin typeface="Impact" panose="020B0806030902050204"/>
                <a:ea typeface="+mj-ea"/>
                <a:cs typeface="+mj-cs"/>
              </a:rPr>
              <a:t>Reason and purpose for creating the simulator</a:t>
            </a:r>
          </a:p>
        </p:txBody>
      </p:sp>
      <p:sp>
        <p:nvSpPr>
          <p:cNvPr id="6" name="Прямоугольник 5"/>
          <p:cNvSpPr/>
          <p:nvPr/>
        </p:nvSpPr>
        <p:spPr>
          <a:xfrm>
            <a:off x="4485946" y="248288"/>
            <a:ext cx="7137303" cy="2031325"/>
          </a:xfrm>
          <a:prstGeom prst="rect">
            <a:avLst/>
          </a:prstGeom>
        </p:spPr>
        <p:txBody>
          <a:bodyPr wrap="square">
            <a:spAutoFit/>
          </a:bodyPr>
          <a:lstStyle/>
          <a:p>
            <a:pPr lvl="0" algn="just"/>
            <a:r>
              <a:rPr lang="en-US" dirty="0">
                <a:solidFill>
                  <a:srgbClr val="373545"/>
                </a:solidFill>
              </a:rPr>
              <a:t>The modern dynamic pace of life requires living spaces to provide comfort and safety, which are fundamental to human productivity. These basic characteristics of the environment are directly related to the fundamental needs reflected in Maslow's pyramid, such as physiological comfort and the need for protection. Automated control of temperature, humidity, and lighting is becoming a necessary condition for creating a healthy and happy living environment.</a:t>
            </a:r>
          </a:p>
        </p:txBody>
      </p:sp>
      <p:sp>
        <p:nvSpPr>
          <p:cNvPr id="7" name="Прямоугольник 6"/>
          <p:cNvSpPr/>
          <p:nvPr/>
        </p:nvSpPr>
        <p:spPr>
          <a:xfrm>
            <a:off x="1019090" y="2708337"/>
            <a:ext cx="6324390" cy="2308324"/>
          </a:xfrm>
          <a:prstGeom prst="rect">
            <a:avLst/>
          </a:prstGeom>
        </p:spPr>
        <p:txBody>
          <a:bodyPr wrap="square">
            <a:spAutoFit/>
          </a:bodyPr>
          <a:lstStyle/>
          <a:p>
            <a:pPr lvl="0" algn="just"/>
            <a:r>
              <a:rPr lang="en-US" dirty="0">
                <a:solidFill>
                  <a:srgbClr val="373545"/>
                </a:solidFill>
              </a:rPr>
              <a:t>Modern smart home systems integrate various devices in a living space to provide comfort, safety, and energy efficiency, but designing the logic of their interaction remains a complex engineering task. The process of implementing such technologies requires preliminary research of operating scenarios and possible equipment configurations. These circumstances create a need for specialized software simulators capable of effectively simulating the operation of automated systems.</a:t>
            </a:r>
          </a:p>
        </p:txBody>
      </p:sp>
      <p:sp>
        <p:nvSpPr>
          <p:cNvPr id="8" name="Прямоугольник 7"/>
          <p:cNvSpPr/>
          <p:nvPr/>
        </p:nvSpPr>
        <p:spPr>
          <a:xfrm>
            <a:off x="1019090" y="5214342"/>
            <a:ext cx="6324390" cy="1200329"/>
          </a:xfrm>
          <a:prstGeom prst="rect">
            <a:avLst/>
          </a:prstGeom>
        </p:spPr>
        <p:txBody>
          <a:bodyPr wrap="square">
            <a:spAutoFit/>
          </a:bodyPr>
          <a:lstStyle/>
          <a:p>
            <a:pPr lvl="0" algn="just"/>
            <a:r>
              <a:rPr lang="en-US" dirty="0">
                <a:solidFill>
                  <a:srgbClr val="373545"/>
                </a:solidFill>
              </a:rPr>
              <a:t>The purpose of this coursework is to design and implement a smart home control system simulator using object-oriented programming principles and to gain practical skills in software system development.</a:t>
            </a:r>
          </a:p>
        </p:txBody>
      </p:sp>
      <p:pic>
        <p:nvPicPr>
          <p:cNvPr id="12" name="Рисунок 11"/>
          <p:cNvPicPr>
            <a:picLocks noChangeAspect="1"/>
          </p:cNvPicPr>
          <p:nvPr/>
        </p:nvPicPr>
        <p:blipFill>
          <a:blip r:embed="rId2"/>
          <a:stretch>
            <a:fillRect/>
          </a:stretch>
        </p:blipFill>
        <p:spPr>
          <a:xfrm>
            <a:off x="7513941" y="2279613"/>
            <a:ext cx="4346782" cy="3784881"/>
          </a:xfrm>
          <a:prstGeom prst="rect">
            <a:avLst/>
          </a:prstGeom>
          <a:ln>
            <a:noFill/>
          </a:ln>
          <a:effectLst>
            <a:softEdge rad="112500"/>
          </a:effectLst>
        </p:spPr>
      </p:pic>
      <p:sp>
        <p:nvSpPr>
          <p:cNvPr id="13" name="Развернутая стрелка 12">
            <a:hlinkClick r:id="rId3" action="ppaction://hlinksldjump"/>
          </p:cNvPr>
          <p:cNvSpPr/>
          <p:nvPr/>
        </p:nvSpPr>
        <p:spPr>
          <a:xfrm rot="10800000">
            <a:off x="11170762" y="6127423"/>
            <a:ext cx="556181" cy="603315"/>
          </a:xfrm>
          <a:prstGeom prst="uturnArrow">
            <a:avLst>
              <a:gd name="adj1" fmla="val 26695"/>
              <a:gd name="adj2" fmla="val 19915"/>
              <a:gd name="adj3" fmla="val 33475"/>
              <a:gd name="adj4" fmla="val 46293"/>
              <a:gd name="adj5" fmla="val 10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42138919"/>
      </p:ext>
    </p:extLst>
  </p:cSld>
  <p:clrMapOvr>
    <a:masterClrMapping/>
  </p:clrMapOvr>
  <p:transition spd="slow" advClick="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6000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750" fill="hold"/>
                                        <p:tgtEl>
                                          <p:spTgt spid="2"/>
                                        </p:tgtEl>
                                        <p:attrNameLst>
                                          <p:attrName>ppt_x</p:attrName>
                                        </p:attrNameLst>
                                      </p:cBhvr>
                                      <p:tavLst>
                                        <p:tav tm="0">
                                          <p:val>
                                            <p:strVal val="0-#ppt_w/2"/>
                                          </p:val>
                                        </p:tav>
                                        <p:tav tm="100000">
                                          <p:val>
                                            <p:strVal val="#ppt_x"/>
                                          </p:val>
                                        </p:tav>
                                      </p:tavLst>
                                    </p:anim>
                                    <p:anim calcmode="lin" valueType="num">
                                      <p:cBhvr additive="base">
                                        <p:cTn id="8" dur="750" fill="hold"/>
                                        <p:tgtEl>
                                          <p:spTgt spid="2"/>
                                        </p:tgtEl>
                                        <p:attrNameLst>
                                          <p:attrName>ppt_y</p:attrName>
                                        </p:attrNameLst>
                                      </p:cBhvr>
                                      <p:tavLst>
                                        <p:tav tm="0">
                                          <p:val>
                                            <p:strVal val="#ppt_y"/>
                                          </p:val>
                                        </p:tav>
                                        <p:tav tm="100000">
                                          <p:val>
                                            <p:strVal val="#ppt_y"/>
                                          </p:val>
                                        </p:tav>
                                      </p:tavLst>
                                    </p:anim>
                                  </p:childTnLst>
                                </p:cTn>
                              </p:par>
                              <p:par>
                                <p:cTn id="9" presetID="2" presetClass="entr" presetSubtype="2" decel="60000" fill="hold" nodeType="withEffect">
                                  <p:stCondLst>
                                    <p:cond delay="500"/>
                                  </p:stCondLst>
                                  <p:childTnLst>
                                    <p:set>
                                      <p:cBhvr>
                                        <p:cTn id="10" dur="1" fill="hold">
                                          <p:stCondLst>
                                            <p:cond delay="0"/>
                                          </p:stCondLst>
                                        </p:cTn>
                                        <p:tgtEl>
                                          <p:spTgt spid="6">
                                            <p:txEl>
                                              <p:pRg st="0" end="0"/>
                                            </p:txEl>
                                          </p:spTgt>
                                        </p:tgtEl>
                                        <p:attrNameLst>
                                          <p:attrName>style.visibility</p:attrName>
                                        </p:attrNameLst>
                                      </p:cBhvr>
                                      <p:to>
                                        <p:strVal val="visible"/>
                                      </p:to>
                                    </p:set>
                                    <p:anim calcmode="lin" valueType="num">
                                      <p:cBhvr additive="base">
                                        <p:cTn id="11" dur="75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12" dur="750" fill="hold"/>
                                        <p:tgtEl>
                                          <p:spTgt spid="6">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8" decel="60000" fill="hold" nodeType="withEffect">
                                  <p:stCondLst>
                                    <p:cond delay="750"/>
                                  </p:stCondLst>
                                  <p:childTnLst>
                                    <p:set>
                                      <p:cBhvr>
                                        <p:cTn id="14" dur="1" fill="hold">
                                          <p:stCondLst>
                                            <p:cond delay="0"/>
                                          </p:stCondLst>
                                        </p:cTn>
                                        <p:tgtEl>
                                          <p:spTgt spid="7">
                                            <p:txEl>
                                              <p:pRg st="0" end="0"/>
                                            </p:txEl>
                                          </p:spTgt>
                                        </p:tgtEl>
                                        <p:attrNameLst>
                                          <p:attrName>style.visibility</p:attrName>
                                        </p:attrNameLst>
                                      </p:cBhvr>
                                      <p:to>
                                        <p:strVal val="visible"/>
                                      </p:to>
                                    </p:set>
                                    <p:anim calcmode="lin" valueType="num">
                                      <p:cBhvr additive="base">
                                        <p:cTn id="15" dur="75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16" dur="750" fill="hold"/>
                                        <p:tgtEl>
                                          <p:spTgt spid="7">
                                            <p:txEl>
                                              <p:pRg st="0" end="0"/>
                                            </p:txEl>
                                          </p:spTgt>
                                        </p:tgtEl>
                                        <p:attrNameLst>
                                          <p:attrName>ppt_y</p:attrName>
                                        </p:attrNameLst>
                                      </p:cBhvr>
                                      <p:tavLst>
                                        <p:tav tm="0">
                                          <p:val>
                                            <p:strVal val="#ppt_y"/>
                                          </p:val>
                                        </p:tav>
                                        <p:tav tm="100000">
                                          <p:val>
                                            <p:strVal val="#ppt_y"/>
                                          </p:val>
                                        </p:tav>
                                      </p:tavLst>
                                    </p:anim>
                                  </p:childTnLst>
                                </p:cTn>
                              </p:par>
                              <p:par>
                                <p:cTn id="17" presetID="2" presetClass="entr" presetSubtype="8" decel="60000" fill="hold" nodeType="withEffect">
                                  <p:stCondLst>
                                    <p:cond delay="1000"/>
                                  </p:stCondLst>
                                  <p:childTnLst>
                                    <p:set>
                                      <p:cBhvr>
                                        <p:cTn id="18" dur="1" fill="hold">
                                          <p:stCondLst>
                                            <p:cond delay="0"/>
                                          </p:stCondLst>
                                        </p:cTn>
                                        <p:tgtEl>
                                          <p:spTgt spid="8">
                                            <p:txEl>
                                              <p:pRg st="0" end="0"/>
                                            </p:txEl>
                                          </p:spTgt>
                                        </p:tgtEl>
                                        <p:attrNameLst>
                                          <p:attrName>style.visibility</p:attrName>
                                        </p:attrNameLst>
                                      </p:cBhvr>
                                      <p:to>
                                        <p:strVal val="visible"/>
                                      </p:to>
                                    </p:set>
                                    <p:anim calcmode="lin" valueType="num">
                                      <p:cBhvr additive="base">
                                        <p:cTn id="19" dur="750" fill="hold"/>
                                        <p:tgtEl>
                                          <p:spTgt spid="8">
                                            <p:txEl>
                                              <p:pRg st="0" end="0"/>
                                            </p:txEl>
                                          </p:spTgt>
                                        </p:tgtEl>
                                        <p:attrNameLst>
                                          <p:attrName>ppt_x</p:attrName>
                                        </p:attrNameLst>
                                      </p:cBhvr>
                                      <p:tavLst>
                                        <p:tav tm="0">
                                          <p:val>
                                            <p:strVal val="0-#ppt_w/2"/>
                                          </p:val>
                                        </p:tav>
                                        <p:tav tm="100000">
                                          <p:val>
                                            <p:strVal val="#ppt_x"/>
                                          </p:val>
                                        </p:tav>
                                      </p:tavLst>
                                    </p:anim>
                                    <p:anim calcmode="lin" valueType="num">
                                      <p:cBhvr additive="base">
                                        <p:cTn id="20" dur="750" fill="hold"/>
                                        <p:tgtEl>
                                          <p:spTgt spid="8">
                                            <p:txEl>
                                              <p:pRg st="0" end="0"/>
                                            </p:txEl>
                                          </p:spTgt>
                                        </p:tgtEl>
                                        <p:attrNameLst>
                                          <p:attrName>ppt_y</p:attrName>
                                        </p:attrNameLst>
                                      </p:cBhvr>
                                      <p:tavLst>
                                        <p:tav tm="0">
                                          <p:val>
                                            <p:strVal val="#ppt_y"/>
                                          </p:val>
                                        </p:tav>
                                        <p:tav tm="100000">
                                          <p:val>
                                            <p:strVal val="#ppt_y"/>
                                          </p:val>
                                        </p:tav>
                                      </p:tavLst>
                                    </p:anim>
                                  </p:childTnLst>
                                </p:cTn>
                              </p:par>
                              <p:par>
                                <p:cTn id="21" presetID="10" presetClass="entr" presetSubtype="0" fill="hold" nodeType="withEffect">
                                  <p:stCondLst>
                                    <p:cond delay="125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750"/>
                                        <p:tgtEl>
                                          <p:spTgt spid="12"/>
                                        </p:tgtEl>
                                      </p:cBhvr>
                                    </p:animEffect>
                                  </p:childTnLst>
                                </p:cTn>
                              </p:par>
                              <p:par>
                                <p:cTn id="24" presetID="2" presetClass="entr" presetSubtype="2" decel="60000" fill="hold" grpId="0" nodeType="withEffect">
                                  <p:stCondLst>
                                    <p:cond delay="1750"/>
                                  </p:stCondLst>
                                  <p:childTnLst>
                                    <p:set>
                                      <p:cBhvr>
                                        <p:cTn id="25" dur="1" fill="hold">
                                          <p:stCondLst>
                                            <p:cond delay="0"/>
                                          </p:stCondLst>
                                        </p:cTn>
                                        <p:tgtEl>
                                          <p:spTgt spid="13"/>
                                        </p:tgtEl>
                                        <p:attrNameLst>
                                          <p:attrName>style.visibility</p:attrName>
                                        </p:attrNameLst>
                                      </p:cBhvr>
                                      <p:to>
                                        <p:strVal val="visible"/>
                                      </p:to>
                                    </p:set>
                                    <p:anim calcmode="lin" valueType="num">
                                      <p:cBhvr additive="base">
                                        <p:cTn id="26" dur="500" fill="hold"/>
                                        <p:tgtEl>
                                          <p:spTgt spid="13"/>
                                        </p:tgtEl>
                                        <p:attrNameLst>
                                          <p:attrName>ppt_x</p:attrName>
                                        </p:attrNameLst>
                                      </p:cBhvr>
                                      <p:tavLst>
                                        <p:tav tm="0">
                                          <p:val>
                                            <p:strVal val="1+#ppt_w/2"/>
                                          </p:val>
                                        </p:tav>
                                        <p:tav tm="100000">
                                          <p:val>
                                            <p:strVal val="#ppt_x"/>
                                          </p:val>
                                        </p:tav>
                                      </p:tavLst>
                                    </p:anim>
                                    <p:anim calcmode="lin" valueType="num">
                                      <p:cBhvr additive="base">
                                        <p:cTn id="27"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5364847" y="198083"/>
            <a:ext cx="3468069" cy="707886"/>
          </a:xfrm>
          <a:prstGeom prst="rect">
            <a:avLst/>
          </a:prstGeom>
        </p:spPr>
        <p:txBody>
          <a:bodyPr wrap="square">
            <a:spAutoFit/>
          </a:bodyPr>
          <a:lstStyle/>
          <a:p>
            <a:r>
              <a:rPr lang="en-US" sz="4000" cap="all" spc="200" dirty="0">
                <a:solidFill>
                  <a:srgbClr val="373545"/>
                </a:solidFill>
                <a:latin typeface="Impact" panose="020B0806030902050204"/>
                <a:ea typeface="+mj-ea"/>
                <a:cs typeface="+mj-cs"/>
              </a:rPr>
              <a:t>Tasks</a:t>
            </a:r>
          </a:p>
        </p:txBody>
      </p:sp>
      <p:sp>
        <p:nvSpPr>
          <p:cNvPr id="12" name="Развернутая стрелка 11">
            <a:hlinkClick r:id="rId2" action="ppaction://hlinksldjump"/>
          </p:cNvPr>
          <p:cNvSpPr/>
          <p:nvPr/>
        </p:nvSpPr>
        <p:spPr>
          <a:xfrm rot="10800000">
            <a:off x="11170762" y="6127423"/>
            <a:ext cx="556181" cy="603315"/>
          </a:xfrm>
          <a:prstGeom prst="uturnArrow">
            <a:avLst>
              <a:gd name="adj1" fmla="val 26695"/>
              <a:gd name="adj2" fmla="val 19915"/>
              <a:gd name="adj3" fmla="val 33475"/>
              <a:gd name="adj4" fmla="val 46293"/>
              <a:gd name="adj5" fmla="val 10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14" name="Прямоугольник 13"/>
          <p:cNvSpPr/>
          <p:nvPr/>
        </p:nvSpPr>
        <p:spPr>
          <a:xfrm>
            <a:off x="1264186" y="1046375"/>
            <a:ext cx="9906576" cy="5170646"/>
          </a:xfrm>
          <a:prstGeom prst="rect">
            <a:avLst/>
          </a:prstGeom>
        </p:spPr>
        <p:txBody>
          <a:bodyPr wrap="square">
            <a:spAutoFit/>
          </a:bodyPr>
          <a:lstStyle/>
          <a:p>
            <a:pPr marL="342900" lvl="0" indent="-342900" algn="just">
              <a:lnSpc>
                <a:spcPct val="150000"/>
              </a:lnSpc>
              <a:buFont typeface="+mj-lt"/>
              <a:buAutoNum type="arabicPeriod"/>
            </a:pPr>
            <a:r>
              <a:rPr lang="en-US" sz="2000" dirty="0" smtClean="0">
                <a:solidFill>
                  <a:srgbClr val="373545"/>
                </a:solidFill>
              </a:rPr>
              <a:t>Analyze </a:t>
            </a:r>
            <a:r>
              <a:rPr lang="en-US" sz="2000" dirty="0">
                <a:solidFill>
                  <a:srgbClr val="373545"/>
                </a:solidFill>
              </a:rPr>
              <a:t>the subject area, research existing sources, and review existing smart home software products to identify key approaches and algorithms</a:t>
            </a:r>
            <a:r>
              <a:rPr lang="en-US" sz="2000" dirty="0" smtClean="0">
                <a:solidFill>
                  <a:srgbClr val="373545"/>
                </a:solidFill>
              </a:rPr>
              <a:t>.</a:t>
            </a:r>
            <a:endParaRPr lang="en-US" sz="2000" dirty="0">
              <a:solidFill>
                <a:srgbClr val="373545"/>
              </a:solidFill>
            </a:endParaRPr>
          </a:p>
          <a:p>
            <a:pPr marL="342900" lvl="0" indent="-342900" algn="just">
              <a:lnSpc>
                <a:spcPct val="150000"/>
              </a:lnSpc>
              <a:buFont typeface="+mj-lt"/>
              <a:buAutoNum type="arabicPeriod"/>
            </a:pPr>
            <a:r>
              <a:rPr lang="en-US" sz="2000" dirty="0" smtClean="0">
                <a:solidFill>
                  <a:srgbClr val="373545"/>
                </a:solidFill>
              </a:rPr>
              <a:t>Formulate </a:t>
            </a:r>
            <a:r>
              <a:rPr lang="en-US" sz="2000" dirty="0">
                <a:solidFill>
                  <a:srgbClr val="373545"/>
                </a:solidFill>
              </a:rPr>
              <a:t>the task: detail the requirements for the simulator's functionality, describe its future functions and business logic</a:t>
            </a:r>
            <a:r>
              <a:rPr lang="en-US" sz="2000" dirty="0" smtClean="0">
                <a:solidFill>
                  <a:srgbClr val="373545"/>
                </a:solidFill>
              </a:rPr>
              <a:t>.</a:t>
            </a:r>
            <a:endParaRPr lang="en-US" sz="2000" dirty="0">
              <a:solidFill>
                <a:srgbClr val="373545"/>
              </a:solidFill>
            </a:endParaRPr>
          </a:p>
          <a:p>
            <a:pPr marL="342900" lvl="0" indent="-342900" algn="just">
              <a:lnSpc>
                <a:spcPct val="150000"/>
              </a:lnSpc>
              <a:buFont typeface="+mj-lt"/>
              <a:buAutoNum type="arabicPeriod"/>
            </a:pPr>
            <a:r>
              <a:rPr lang="en-US" sz="2000" dirty="0" smtClean="0">
                <a:solidFill>
                  <a:srgbClr val="373545"/>
                </a:solidFill>
              </a:rPr>
              <a:t>Design </a:t>
            </a:r>
            <a:r>
              <a:rPr lang="en-US" sz="2000" dirty="0">
                <a:solidFill>
                  <a:srgbClr val="373545"/>
                </a:solidFill>
              </a:rPr>
              <a:t>the architecture of the software product. Design an object-oriented model of the system: develop a class hierarchy for smart devices, applying the principles of inheritance, encapsulation, and polymorphism</a:t>
            </a:r>
            <a:r>
              <a:rPr lang="en-US" sz="2000" dirty="0" smtClean="0">
                <a:solidFill>
                  <a:srgbClr val="373545"/>
                </a:solidFill>
              </a:rPr>
              <a:t>.</a:t>
            </a:r>
            <a:endParaRPr lang="en-US" sz="2000" dirty="0">
              <a:solidFill>
                <a:srgbClr val="373545"/>
              </a:solidFill>
            </a:endParaRPr>
          </a:p>
          <a:p>
            <a:pPr marL="342900" lvl="0" indent="-342900" algn="just">
              <a:lnSpc>
                <a:spcPct val="150000"/>
              </a:lnSpc>
              <a:buFont typeface="+mj-lt"/>
              <a:buAutoNum type="arabicPeriod"/>
            </a:pPr>
            <a:r>
              <a:rPr lang="en-US" sz="2000" dirty="0" smtClean="0">
                <a:solidFill>
                  <a:srgbClr val="373545"/>
                </a:solidFill>
              </a:rPr>
              <a:t>Implement </a:t>
            </a:r>
            <a:r>
              <a:rPr lang="en-US" sz="2000" dirty="0">
                <a:solidFill>
                  <a:srgbClr val="373545"/>
                </a:solidFill>
              </a:rPr>
              <a:t>the developed simulator in a high-level language and create a graphical user interface</a:t>
            </a:r>
            <a:r>
              <a:rPr lang="en-US" sz="2000" dirty="0" smtClean="0">
                <a:solidFill>
                  <a:srgbClr val="373545"/>
                </a:solidFill>
              </a:rPr>
              <a:t>.</a:t>
            </a:r>
            <a:endParaRPr lang="en-US" sz="2000" dirty="0">
              <a:solidFill>
                <a:srgbClr val="373545"/>
              </a:solidFill>
            </a:endParaRPr>
          </a:p>
          <a:p>
            <a:pPr marL="342900" lvl="0" indent="-342900" algn="just">
              <a:lnSpc>
                <a:spcPct val="150000"/>
              </a:lnSpc>
              <a:buFont typeface="+mj-lt"/>
              <a:buAutoNum type="arabicPeriod"/>
            </a:pPr>
            <a:r>
              <a:rPr lang="en-US" sz="2000" dirty="0" smtClean="0">
                <a:solidFill>
                  <a:srgbClr val="373545"/>
                </a:solidFill>
              </a:rPr>
              <a:t>Describe </a:t>
            </a:r>
            <a:r>
              <a:rPr lang="en-US" sz="2000" dirty="0">
                <a:solidFill>
                  <a:srgbClr val="373545"/>
                </a:solidFill>
              </a:rPr>
              <a:t>key software solutions and code fragments, build a class diagram of the realized system, and test the functionality by simulating typical scenarios.</a:t>
            </a:r>
          </a:p>
        </p:txBody>
      </p:sp>
    </p:spTree>
    <p:extLst>
      <p:ext uri="{BB962C8B-B14F-4D97-AF65-F5344CB8AC3E}">
        <p14:creationId xmlns:p14="http://schemas.microsoft.com/office/powerpoint/2010/main" val="2247437236"/>
      </p:ext>
    </p:extLst>
  </p:cSld>
  <p:clrMapOvr>
    <a:masterClrMapping/>
  </p:clrMapOvr>
  <p:transition spd="slow" advClick="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6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750" fill="hold"/>
                                        <p:tgtEl>
                                          <p:spTgt spid="5"/>
                                        </p:tgtEl>
                                        <p:attrNameLst>
                                          <p:attrName>ppt_x</p:attrName>
                                        </p:attrNameLst>
                                      </p:cBhvr>
                                      <p:tavLst>
                                        <p:tav tm="0">
                                          <p:val>
                                            <p:strVal val="0-#ppt_w/2"/>
                                          </p:val>
                                        </p:tav>
                                        <p:tav tm="100000">
                                          <p:val>
                                            <p:strVal val="#ppt_x"/>
                                          </p:val>
                                        </p:tav>
                                      </p:tavLst>
                                    </p:anim>
                                    <p:anim calcmode="lin" valueType="num">
                                      <p:cBhvr additive="base">
                                        <p:cTn id="8" dur="75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500"/>
                                  </p:stCondLst>
                                  <p:childTnLst>
                                    <p:set>
                                      <p:cBhvr>
                                        <p:cTn id="10" dur="1" fill="hold">
                                          <p:stCondLst>
                                            <p:cond delay="0"/>
                                          </p:stCondLst>
                                        </p:cTn>
                                        <p:tgtEl>
                                          <p:spTgt spid="14">
                                            <p:txEl>
                                              <p:pRg st="0" end="0"/>
                                            </p:txEl>
                                          </p:spTgt>
                                        </p:tgtEl>
                                        <p:attrNameLst>
                                          <p:attrName>style.visibility</p:attrName>
                                        </p:attrNameLst>
                                      </p:cBhvr>
                                      <p:to>
                                        <p:strVal val="visible"/>
                                      </p:to>
                                    </p:set>
                                    <p:anim calcmode="lin" valueType="num">
                                      <p:cBhvr additive="base">
                                        <p:cTn id="11" dur="750" fill="hold"/>
                                        <p:tgtEl>
                                          <p:spTgt spid="14">
                                            <p:txEl>
                                              <p:pRg st="0" end="0"/>
                                            </p:txEl>
                                          </p:spTgt>
                                        </p:tgtEl>
                                        <p:attrNameLst>
                                          <p:attrName>ppt_x</p:attrName>
                                        </p:attrNameLst>
                                      </p:cBhvr>
                                      <p:tavLst>
                                        <p:tav tm="0">
                                          <p:val>
                                            <p:strVal val="0-#ppt_w/2"/>
                                          </p:val>
                                        </p:tav>
                                        <p:tav tm="100000">
                                          <p:val>
                                            <p:strVal val="#ppt_x"/>
                                          </p:val>
                                        </p:tav>
                                      </p:tavLst>
                                    </p:anim>
                                    <p:anim calcmode="lin" valueType="num">
                                      <p:cBhvr additive="base">
                                        <p:cTn id="12" dur="750" fill="hold"/>
                                        <p:tgtEl>
                                          <p:spTgt spid="14">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750"/>
                                  </p:stCondLst>
                                  <p:childTnLst>
                                    <p:set>
                                      <p:cBhvr>
                                        <p:cTn id="14" dur="1" fill="hold">
                                          <p:stCondLst>
                                            <p:cond delay="0"/>
                                          </p:stCondLst>
                                        </p:cTn>
                                        <p:tgtEl>
                                          <p:spTgt spid="14">
                                            <p:txEl>
                                              <p:pRg st="1" end="1"/>
                                            </p:txEl>
                                          </p:spTgt>
                                        </p:tgtEl>
                                        <p:attrNameLst>
                                          <p:attrName>style.visibility</p:attrName>
                                        </p:attrNameLst>
                                      </p:cBhvr>
                                      <p:to>
                                        <p:strVal val="visible"/>
                                      </p:to>
                                    </p:set>
                                    <p:anim calcmode="lin" valueType="num">
                                      <p:cBhvr additive="base">
                                        <p:cTn id="15" dur="750" fill="hold"/>
                                        <p:tgtEl>
                                          <p:spTgt spid="14">
                                            <p:txEl>
                                              <p:pRg st="1" end="1"/>
                                            </p:txEl>
                                          </p:spTgt>
                                        </p:tgtEl>
                                        <p:attrNameLst>
                                          <p:attrName>ppt_x</p:attrName>
                                        </p:attrNameLst>
                                      </p:cBhvr>
                                      <p:tavLst>
                                        <p:tav tm="0">
                                          <p:val>
                                            <p:strVal val="0-#ppt_w/2"/>
                                          </p:val>
                                        </p:tav>
                                        <p:tav tm="100000">
                                          <p:val>
                                            <p:strVal val="#ppt_x"/>
                                          </p:val>
                                        </p:tav>
                                      </p:tavLst>
                                    </p:anim>
                                    <p:anim calcmode="lin" valueType="num">
                                      <p:cBhvr additive="base">
                                        <p:cTn id="16" dur="750" fill="hold"/>
                                        <p:tgtEl>
                                          <p:spTgt spid="14">
                                            <p:txEl>
                                              <p:pRg st="1" end="1"/>
                                            </p:txEl>
                                          </p:spTgt>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1000"/>
                                  </p:stCondLst>
                                  <p:childTnLst>
                                    <p:set>
                                      <p:cBhvr>
                                        <p:cTn id="18" dur="1" fill="hold">
                                          <p:stCondLst>
                                            <p:cond delay="0"/>
                                          </p:stCondLst>
                                        </p:cTn>
                                        <p:tgtEl>
                                          <p:spTgt spid="14">
                                            <p:txEl>
                                              <p:pRg st="2" end="2"/>
                                            </p:txEl>
                                          </p:spTgt>
                                        </p:tgtEl>
                                        <p:attrNameLst>
                                          <p:attrName>style.visibility</p:attrName>
                                        </p:attrNameLst>
                                      </p:cBhvr>
                                      <p:to>
                                        <p:strVal val="visible"/>
                                      </p:to>
                                    </p:set>
                                    <p:anim calcmode="lin" valueType="num">
                                      <p:cBhvr additive="base">
                                        <p:cTn id="19" dur="750" fill="hold"/>
                                        <p:tgtEl>
                                          <p:spTgt spid="14">
                                            <p:txEl>
                                              <p:pRg st="2" end="2"/>
                                            </p:txEl>
                                          </p:spTgt>
                                        </p:tgtEl>
                                        <p:attrNameLst>
                                          <p:attrName>ppt_x</p:attrName>
                                        </p:attrNameLst>
                                      </p:cBhvr>
                                      <p:tavLst>
                                        <p:tav tm="0">
                                          <p:val>
                                            <p:strVal val="0-#ppt_w/2"/>
                                          </p:val>
                                        </p:tav>
                                        <p:tav tm="100000">
                                          <p:val>
                                            <p:strVal val="#ppt_x"/>
                                          </p:val>
                                        </p:tav>
                                      </p:tavLst>
                                    </p:anim>
                                    <p:anim calcmode="lin" valueType="num">
                                      <p:cBhvr additive="base">
                                        <p:cTn id="20" dur="750" fill="hold"/>
                                        <p:tgtEl>
                                          <p:spTgt spid="14">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1250"/>
                                  </p:stCondLst>
                                  <p:childTnLst>
                                    <p:set>
                                      <p:cBhvr>
                                        <p:cTn id="22" dur="1" fill="hold">
                                          <p:stCondLst>
                                            <p:cond delay="0"/>
                                          </p:stCondLst>
                                        </p:cTn>
                                        <p:tgtEl>
                                          <p:spTgt spid="14">
                                            <p:txEl>
                                              <p:pRg st="3" end="3"/>
                                            </p:txEl>
                                          </p:spTgt>
                                        </p:tgtEl>
                                        <p:attrNameLst>
                                          <p:attrName>style.visibility</p:attrName>
                                        </p:attrNameLst>
                                      </p:cBhvr>
                                      <p:to>
                                        <p:strVal val="visible"/>
                                      </p:to>
                                    </p:set>
                                    <p:anim calcmode="lin" valueType="num">
                                      <p:cBhvr additive="base">
                                        <p:cTn id="23" dur="750" fill="hold"/>
                                        <p:tgtEl>
                                          <p:spTgt spid="14">
                                            <p:txEl>
                                              <p:pRg st="3" end="3"/>
                                            </p:txEl>
                                          </p:spTgt>
                                        </p:tgtEl>
                                        <p:attrNameLst>
                                          <p:attrName>ppt_x</p:attrName>
                                        </p:attrNameLst>
                                      </p:cBhvr>
                                      <p:tavLst>
                                        <p:tav tm="0">
                                          <p:val>
                                            <p:strVal val="0-#ppt_w/2"/>
                                          </p:val>
                                        </p:tav>
                                        <p:tav tm="100000">
                                          <p:val>
                                            <p:strVal val="#ppt_x"/>
                                          </p:val>
                                        </p:tav>
                                      </p:tavLst>
                                    </p:anim>
                                    <p:anim calcmode="lin" valueType="num">
                                      <p:cBhvr additive="base">
                                        <p:cTn id="24" dur="750" fill="hold"/>
                                        <p:tgtEl>
                                          <p:spTgt spid="14">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8" fill="hold" nodeType="withEffect">
                                  <p:stCondLst>
                                    <p:cond delay="1500"/>
                                  </p:stCondLst>
                                  <p:childTnLst>
                                    <p:set>
                                      <p:cBhvr>
                                        <p:cTn id="26" dur="1" fill="hold">
                                          <p:stCondLst>
                                            <p:cond delay="0"/>
                                          </p:stCondLst>
                                        </p:cTn>
                                        <p:tgtEl>
                                          <p:spTgt spid="14">
                                            <p:txEl>
                                              <p:pRg st="4" end="4"/>
                                            </p:txEl>
                                          </p:spTgt>
                                        </p:tgtEl>
                                        <p:attrNameLst>
                                          <p:attrName>style.visibility</p:attrName>
                                        </p:attrNameLst>
                                      </p:cBhvr>
                                      <p:to>
                                        <p:strVal val="visible"/>
                                      </p:to>
                                    </p:set>
                                    <p:anim calcmode="lin" valueType="num">
                                      <p:cBhvr additive="base">
                                        <p:cTn id="27" dur="750" fill="hold"/>
                                        <p:tgtEl>
                                          <p:spTgt spid="14">
                                            <p:txEl>
                                              <p:pRg st="4" end="4"/>
                                            </p:txEl>
                                          </p:spTgt>
                                        </p:tgtEl>
                                        <p:attrNameLst>
                                          <p:attrName>ppt_x</p:attrName>
                                        </p:attrNameLst>
                                      </p:cBhvr>
                                      <p:tavLst>
                                        <p:tav tm="0">
                                          <p:val>
                                            <p:strVal val="0-#ppt_w/2"/>
                                          </p:val>
                                        </p:tav>
                                        <p:tav tm="100000">
                                          <p:val>
                                            <p:strVal val="#ppt_x"/>
                                          </p:val>
                                        </p:tav>
                                      </p:tavLst>
                                    </p:anim>
                                    <p:anim calcmode="lin" valueType="num">
                                      <p:cBhvr additive="base">
                                        <p:cTn id="28" dur="750" fill="hold"/>
                                        <p:tgtEl>
                                          <p:spTgt spid="14">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2" decel="60000" fill="hold" grpId="0" nodeType="withEffect">
                                  <p:stCondLst>
                                    <p:cond delay="200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1+#ppt_w/2"/>
                                          </p:val>
                                        </p:tav>
                                        <p:tav tm="100000">
                                          <p:val>
                                            <p:strVal val="#ppt_x"/>
                                          </p:val>
                                        </p:tav>
                                      </p:tavLst>
                                    </p:anim>
                                    <p:anim calcmode="lin" valueType="num">
                                      <p:cBhvr additive="base">
                                        <p:cTn id="3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943677" y="0"/>
            <a:ext cx="3138130" cy="2554545"/>
          </a:xfrm>
          <a:prstGeom prst="rect">
            <a:avLst/>
          </a:prstGeom>
        </p:spPr>
        <p:txBody>
          <a:bodyPr wrap="square">
            <a:spAutoFit/>
          </a:bodyPr>
          <a:lstStyle/>
          <a:p>
            <a:r>
              <a:rPr lang="en-US" sz="4000" cap="all" spc="200" dirty="0">
                <a:solidFill>
                  <a:srgbClr val="373545"/>
                </a:solidFill>
                <a:latin typeface="Impact" panose="020B0806030902050204"/>
                <a:ea typeface="+mj-ea"/>
                <a:cs typeface="+mj-cs"/>
              </a:rPr>
              <a:t>Selected approaches and tools</a:t>
            </a:r>
          </a:p>
          <a:p>
            <a:endParaRPr lang="en-US" sz="4000" cap="all" spc="200" dirty="0">
              <a:solidFill>
                <a:srgbClr val="373545"/>
              </a:solidFill>
              <a:latin typeface="Impact" panose="020B0806030902050204"/>
              <a:ea typeface="+mj-ea"/>
              <a:cs typeface="+mj-cs"/>
            </a:endParaRPr>
          </a:p>
        </p:txBody>
      </p:sp>
      <p:sp>
        <p:nvSpPr>
          <p:cNvPr id="14" name="Прямоугольник 13"/>
          <p:cNvSpPr/>
          <p:nvPr/>
        </p:nvSpPr>
        <p:spPr>
          <a:xfrm>
            <a:off x="4073370" y="0"/>
            <a:ext cx="7653571" cy="1938992"/>
          </a:xfrm>
          <a:prstGeom prst="rect">
            <a:avLst/>
          </a:prstGeom>
        </p:spPr>
        <p:txBody>
          <a:bodyPr wrap="square">
            <a:spAutoFit/>
          </a:bodyPr>
          <a:lstStyle/>
          <a:p>
            <a:pPr lvl="0" algn="just"/>
            <a:r>
              <a:rPr lang="en-US" sz="2000" dirty="0">
                <a:solidFill>
                  <a:srgbClr val="373545"/>
                </a:solidFill>
              </a:rPr>
              <a:t>A fixed-step algorithm using a timer running in the interface thread was chosen as the simulation runner. This approach is more suitable than an event-driven one for this task, as it provides the necessary continuous visualization, smooth time flow, and allows correct modeling of continuous processes, such as gradual changes in temperature or humidity in rooms.</a:t>
            </a:r>
          </a:p>
        </p:txBody>
      </p:sp>
      <p:sp>
        <p:nvSpPr>
          <p:cNvPr id="8" name="Прямоугольник 7"/>
          <p:cNvSpPr/>
          <p:nvPr/>
        </p:nvSpPr>
        <p:spPr>
          <a:xfrm>
            <a:off x="1046375" y="1934550"/>
            <a:ext cx="10680566" cy="1631216"/>
          </a:xfrm>
          <a:prstGeom prst="rect">
            <a:avLst/>
          </a:prstGeom>
        </p:spPr>
        <p:txBody>
          <a:bodyPr wrap="square">
            <a:spAutoFit/>
          </a:bodyPr>
          <a:lstStyle/>
          <a:p>
            <a:pPr lvl="0" algn="just"/>
            <a:r>
              <a:rPr lang="en-US" sz="2000" dirty="0">
                <a:solidFill>
                  <a:srgbClr val="373545"/>
                </a:solidFill>
              </a:rPr>
              <a:t>To build the graphical interface, I used an approach based on a declarative framework instead of traditional imperative libraries. This decision was made due to the existence of powerful tools for working with vector graphics and the Canvas container, which allows for easy realization of a 2D house plan with interactive elements overlaying it, as well as support for a mechanism for clear separation of logic and visual representation.</a:t>
            </a:r>
          </a:p>
        </p:txBody>
      </p:sp>
      <p:sp>
        <p:nvSpPr>
          <p:cNvPr id="9" name="Прямоугольник 8"/>
          <p:cNvSpPr/>
          <p:nvPr/>
        </p:nvSpPr>
        <p:spPr>
          <a:xfrm>
            <a:off x="1046375" y="3565766"/>
            <a:ext cx="10680566" cy="1631216"/>
          </a:xfrm>
          <a:prstGeom prst="rect">
            <a:avLst/>
          </a:prstGeom>
        </p:spPr>
        <p:txBody>
          <a:bodyPr wrap="square">
            <a:spAutoFit/>
          </a:bodyPr>
          <a:lstStyle/>
          <a:p>
            <a:pPr lvl="0" algn="just"/>
            <a:r>
              <a:rPr lang="en-US" sz="2000" dirty="0">
                <a:solidFill>
                  <a:srgbClr val="373545"/>
                </a:solidFill>
              </a:rPr>
              <a:t>The logical core is built on a decentralized algorithm using polymorphism instead of creating a single large control class. This has made it possible to create a flexible hierarchy where each device independently controls its behavior through the realization of an abstract state update method, which greatly simplifies system scaling and adherence to encapsulation principles without the need to change the main program loop when adding new device types.</a:t>
            </a:r>
          </a:p>
        </p:txBody>
      </p:sp>
      <p:sp>
        <p:nvSpPr>
          <p:cNvPr id="11" name="Прямоугольник 10"/>
          <p:cNvSpPr/>
          <p:nvPr/>
        </p:nvSpPr>
        <p:spPr>
          <a:xfrm>
            <a:off x="1046375" y="5192540"/>
            <a:ext cx="10680566" cy="1631216"/>
          </a:xfrm>
          <a:prstGeom prst="rect">
            <a:avLst/>
          </a:prstGeom>
        </p:spPr>
        <p:txBody>
          <a:bodyPr wrap="square">
            <a:spAutoFit/>
          </a:bodyPr>
          <a:lstStyle/>
          <a:p>
            <a:pPr lvl="0" algn="just"/>
            <a:r>
              <a:rPr lang="en-US" sz="2000" dirty="0">
                <a:solidFill>
                  <a:srgbClr val="373545"/>
                </a:solidFill>
              </a:rPr>
              <a:t>To link business logic and visualization, I used the Binding algorithm for automatic data binding instead of manually updating interface elements. Thanks to this approach and the realization of the notification interface, any modification of the logical state of the device in the code is instantly displayed on the screen without writing additional code for redrawing, which guarantees the synchronization of data and the interface.</a:t>
            </a:r>
          </a:p>
        </p:txBody>
      </p:sp>
    </p:spTree>
    <p:extLst>
      <p:ext uri="{BB962C8B-B14F-4D97-AF65-F5344CB8AC3E}">
        <p14:creationId xmlns:p14="http://schemas.microsoft.com/office/powerpoint/2010/main" val="314018897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6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750" fill="hold"/>
                                        <p:tgtEl>
                                          <p:spTgt spid="5"/>
                                        </p:tgtEl>
                                        <p:attrNameLst>
                                          <p:attrName>ppt_x</p:attrName>
                                        </p:attrNameLst>
                                      </p:cBhvr>
                                      <p:tavLst>
                                        <p:tav tm="0">
                                          <p:val>
                                            <p:strVal val="0-#ppt_w/2"/>
                                          </p:val>
                                        </p:tav>
                                        <p:tav tm="100000">
                                          <p:val>
                                            <p:strVal val="#ppt_x"/>
                                          </p:val>
                                        </p:tav>
                                      </p:tavLst>
                                    </p:anim>
                                    <p:anim calcmode="lin" valueType="num">
                                      <p:cBhvr additive="base">
                                        <p:cTn id="8" dur="75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14">
                                            <p:txEl>
                                              <p:pRg st="0" end="0"/>
                                            </p:txEl>
                                          </p:spTgt>
                                        </p:tgtEl>
                                        <p:attrNameLst>
                                          <p:attrName>style.visibility</p:attrName>
                                        </p:attrNameLst>
                                      </p:cBhvr>
                                      <p:to>
                                        <p:strVal val="visible"/>
                                      </p:to>
                                    </p:set>
                                    <p:anim calcmode="lin" valueType="num">
                                      <p:cBhvr additive="base">
                                        <p:cTn id="11" dur="750" fill="hold"/>
                                        <p:tgtEl>
                                          <p:spTgt spid="14">
                                            <p:txEl>
                                              <p:pRg st="0" end="0"/>
                                            </p:txEl>
                                          </p:spTgt>
                                        </p:tgtEl>
                                        <p:attrNameLst>
                                          <p:attrName>ppt_x</p:attrName>
                                        </p:attrNameLst>
                                      </p:cBhvr>
                                      <p:tavLst>
                                        <p:tav tm="0">
                                          <p:val>
                                            <p:strVal val="1+#ppt_w/2"/>
                                          </p:val>
                                        </p:tav>
                                        <p:tav tm="100000">
                                          <p:val>
                                            <p:strVal val="#ppt_x"/>
                                          </p:val>
                                        </p:tav>
                                      </p:tavLst>
                                    </p:anim>
                                    <p:anim calcmode="lin" valueType="num">
                                      <p:cBhvr additive="base">
                                        <p:cTn id="12" dur="750" fill="hold"/>
                                        <p:tgtEl>
                                          <p:spTgt spid="14">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750"/>
                                  </p:stCondLst>
                                  <p:childTnLst>
                                    <p:set>
                                      <p:cBhvr>
                                        <p:cTn id="14" dur="1" fill="hold">
                                          <p:stCondLst>
                                            <p:cond delay="0"/>
                                          </p:stCondLst>
                                        </p:cTn>
                                        <p:tgtEl>
                                          <p:spTgt spid="8">
                                            <p:txEl>
                                              <p:pRg st="0" end="0"/>
                                            </p:txEl>
                                          </p:spTgt>
                                        </p:tgtEl>
                                        <p:attrNameLst>
                                          <p:attrName>style.visibility</p:attrName>
                                        </p:attrNameLst>
                                      </p:cBhvr>
                                      <p:to>
                                        <p:strVal val="visible"/>
                                      </p:to>
                                    </p:set>
                                    <p:anim calcmode="lin" valueType="num">
                                      <p:cBhvr additive="base">
                                        <p:cTn id="15" dur="750" fill="hold"/>
                                        <p:tgtEl>
                                          <p:spTgt spid="8">
                                            <p:txEl>
                                              <p:pRg st="0" end="0"/>
                                            </p:txEl>
                                          </p:spTgt>
                                        </p:tgtEl>
                                        <p:attrNameLst>
                                          <p:attrName>ppt_x</p:attrName>
                                        </p:attrNameLst>
                                      </p:cBhvr>
                                      <p:tavLst>
                                        <p:tav tm="0">
                                          <p:val>
                                            <p:strVal val="0-#ppt_w/2"/>
                                          </p:val>
                                        </p:tav>
                                        <p:tav tm="100000">
                                          <p:val>
                                            <p:strVal val="#ppt_x"/>
                                          </p:val>
                                        </p:tav>
                                      </p:tavLst>
                                    </p:anim>
                                    <p:anim calcmode="lin" valueType="num">
                                      <p:cBhvr additive="base">
                                        <p:cTn id="16" dur="750" fill="hold"/>
                                        <p:tgtEl>
                                          <p:spTgt spid="8">
                                            <p:txEl>
                                              <p:pRg st="0" end="0"/>
                                            </p:txEl>
                                          </p:spTgt>
                                        </p:tgtEl>
                                        <p:attrNameLst>
                                          <p:attrName>ppt_y</p:attrName>
                                        </p:attrNameLst>
                                      </p:cBhvr>
                                      <p:tavLst>
                                        <p:tav tm="0">
                                          <p:val>
                                            <p:strVal val="#ppt_y"/>
                                          </p:val>
                                        </p:tav>
                                        <p:tav tm="100000">
                                          <p:val>
                                            <p:strVal val="#ppt_y"/>
                                          </p:val>
                                        </p:tav>
                                      </p:tavLst>
                                    </p:anim>
                                  </p:childTnLst>
                                </p:cTn>
                              </p:par>
                              <p:par>
                                <p:cTn id="17" presetID="2" presetClass="entr" presetSubtype="2" fill="hold" nodeType="withEffect">
                                  <p:stCondLst>
                                    <p:cond delay="1000"/>
                                  </p:stCondLst>
                                  <p:childTnLst>
                                    <p:set>
                                      <p:cBhvr>
                                        <p:cTn id="18" dur="1" fill="hold">
                                          <p:stCondLst>
                                            <p:cond delay="0"/>
                                          </p:stCondLst>
                                        </p:cTn>
                                        <p:tgtEl>
                                          <p:spTgt spid="9">
                                            <p:txEl>
                                              <p:pRg st="0" end="0"/>
                                            </p:txEl>
                                          </p:spTgt>
                                        </p:tgtEl>
                                        <p:attrNameLst>
                                          <p:attrName>style.visibility</p:attrName>
                                        </p:attrNameLst>
                                      </p:cBhvr>
                                      <p:to>
                                        <p:strVal val="visible"/>
                                      </p:to>
                                    </p:set>
                                    <p:anim calcmode="lin" valueType="num">
                                      <p:cBhvr additive="base">
                                        <p:cTn id="19" dur="750" fill="hold"/>
                                        <p:tgtEl>
                                          <p:spTgt spid="9">
                                            <p:txEl>
                                              <p:pRg st="0" end="0"/>
                                            </p:txEl>
                                          </p:spTgt>
                                        </p:tgtEl>
                                        <p:attrNameLst>
                                          <p:attrName>ppt_x</p:attrName>
                                        </p:attrNameLst>
                                      </p:cBhvr>
                                      <p:tavLst>
                                        <p:tav tm="0">
                                          <p:val>
                                            <p:strVal val="1+#ppt_w/2"/>
                                          </p:val>
                                        </p:tav>
                                        <p:tav tm="100000">
                                          <p:val>
                                            <p:strVal val="#ppt_x"/>
                                          </p:val>
                                        </p:tav>
                                      </p:tavLst>
                                    </p:anim>
                                    <p:anim calcmode="lin" valueType="num">
                                      <p:cBhvr additive="base">
                                        <p:cTn id="20" dur="750" fill="hold"/>
                                        <p:tgtEl>
                                          <p:spTgt spid="9">
                                            <p:txEl>
                                              <p:pRg st="0" end="0"/>
                                            </p:txEl>
                                          </p:spTgt>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1250"/>
                                  </p:stCondLst>
                                  <p:childTnLst>
                                    <p:set>
                                      <p:cBhvr>
                                        <p:cTn id="22" dur="1" fill="hold">
                                          <p:stCondLst>
                                            <p:cond delay="0"/>
                                          </p:stCondLst>
                                        </p:cTn>
                                        <p:tgtEl>
                                          <p:spTgt spid="11">
                                            <p:txEl>
                                              <p:pRg st="0" end="0"/>
                                            </p:txEl>
                                          </p:spTgt>
                                        </p:tgtEl>
                                        <p:attrNameLst>
                                          <p:attrName>style.visibility</p:attrName>
                                        </p:attrNameLst>
                                      </p:cBhvr>
                                      <p:to>
                                        <p:strVal val="visible"/>
                                      </p:to>
                                    </p:set>
                                    <p:anim calcmode="lin" valueType="num">
                                      <p:cBhvr additive="base">
                                        <p:cTn id="23" dur="750" fill="hold"/>
                                        <p:tgtEl>
                                          <p:spTgt spid="11">
                                            <p:txEl>
                                              <p:pRg st="0" end="0"/>
                                            </p:txEl>
                                          </p:spTgt>
                                        </p:tgtEl>
                                        <p:attrNameLst>
                                          <p:attrName>ppt_x</p:attrName>
                                        </p:attrNameLst>
                                      </p:cBhvr>
                                      <p:tavLst>
                                        <p:tav tm="0">
                                          <p:val>
                                            <p:strVal val="0-#ppt_w/2"/>
                                          </p:val>
                                        </p:tav>
                                        <p:tav tm="100000">
                                          <p:val>
                                            <p:strVal val="#ppt_x"/>
                                          </p:val>
                                        </p:tav>
                                      </p:tavLst>
                                    </p:anim>
                                    <p:anim calcmode="lin" valueType="num">
                                      <p:cBhvr additive="base">
                                        <p:cTn id="24" dur="750" fill="hold"/>
                                        <p:tgtEl>
                                          <p:spTgt spid="1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Развернутая стрелка 11">
            <a:hlinkClick r:id="rId2" action="ppaction://hlinksldjump"/>
          </p:cNvPr>
          <p:cNvSpPr/>
          <p:nvPr/>
        </p:nvSpPr>
        <p:spPr>
          <a:xfrm rot="10800000">
            <a:off x="11170762" y="6127423"/>
            <a:ext cx="556181" cy="603315"/>
          </a:xfrm>
          <a:prstGeom prst="uturnArrow">
            <a:avLst>
              <a:gd name="adj1" fmla="val 26695"/>
              <a:gd name="adj2" fmla="val 19915"/>
              <a:gd name="adj3" fmla="val 33475"/>
              <a:gd name="adj4" fmla="val 46293"/>
              <a:gd name="adj5" fmla="val 10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
        <p:nvSpPr>
          <p:cNvPr id="14" name="Прямоугольник 13"/>
          <p:cNvSpPr/>
          <p:nvPr/>
        </p:nvSpPr>
        <p:spPr>
          <a:xfrm>
            <a:off x="1037942" y="54035"/>
            <a:ext cx="7238791" cy="2246769"/>
          </a:xfrm>
          <a:prstGeom prst="rect">
            <a:avLst/>
          </a:prstGeom>
        </p:spPr>
        <p:txBody>
          <a:bodyPr wrap="square">
            <a:spAutoFit/>
          </a:bodyPr>
          <a:lstStyle/>
          <a:p>
            <a:pPr lvl="0" algn="just"/>
            <a:r>
              <a:rPr lang="en-US" sz="2000" dirty="0">
                <a:solidFill>
                  <a:srgbClr val="373545"/>
                </a:solidFill>
              </a:rPr>
              <a:t>The C# programming language and the .NET platform were chosen for the software implementation of the simulator. This choice was made due to the presence of strict typing and advanced capabilities for object-oriented programming, which is critical for building a stable architecture. Another important factor was the availability of powerful LINQ libraries, which allow efficient and compact processing of data collections and lists of active devices.</a:t>
            </a:r>
          </a:p>
        </p:txBody>
      </p:sp>
      <p:sp>
        <p:nvSpPr>
          <p:cNvPr id="6" name="Прямоугольник 5"/>
          <p:cNvSpPr/>
          <p:nvPr/>
        </p:nvSpPr>
        <p:spPr>
          <a:xfrm>
            <a:off x="3191633" y="2385290"/>
            <a:ext cx="8535311" cy="1938992"/>
          </a:xfrm>
          <a:prstGeom prst="rect">
            <a:avLst/>
          </a:prstGeom>
        </p:spPr>
        <p:txBody>
          <a:bodyPr wrap="square">
            <a:spAutoFit/>
          </a:bodyPr>
          <a:lstStyle/>
          <a:p>
            <a:pPr lvl="0" algn="just"/>
            <a:r>
              <a:rPr lang="en-US" sz="2000" dirty="0">
                <a:solidFill>
                  <a:srgbClr val="373545"/>
                </a:solidFill>
              </a:rPr>
              <a:t>Windows Presentation Foundation is used as the technology for building the graphical interface. Unlike outdated technologies such as WinForms, WPF provides the ability to use vector graphics and Canvas containers to precisely place objects on top of the plan using absolute coordinates. In addition, the use of the declarative XAML markup language provides a clear architectural separation between the visual description of the interface and the program logic.</a:t>
            </a:r>
          </a:p>
        </p:txBody>
      </p:sp>
      <p:sp>
        <p:nvSpPr>
          <p:cNvPr id="7" name="Прямоугольник 6"/>
          <p:cNvSpPr/>
          <p:nvPr/>
        </p:nvSpPr>
        <p:spPr>
          <a:xfrm>
            <a:off x="1050056" y="4324282"/>
            <a:ext cx="6409232" cy="2246769"/>
          </a:xfrm>
          <a:prstGeom prst="rect">
            <a:avLst/>
          </a:prstGeom>
        </p:spPr>
        <p:txBody>
          <a:bodyPr wrap="square">
            <a:spAutoFit/>
          </a:bodyPr>
          <a:lstStyle/>
          <a:p>
            <a:pPr lvl="0" algn="just"/>
            <a:r>
              <a:rPr lang="en-US" sz="2000" dirty="0">
                <a:solidFill>
                  <a:srgbClr val="373545"/>
                </a:solidFill>
              </a:rPr>
              <a:t>Microsoft Visual Studio was chosen as the development environment. This toolkit provides the most convenient tools for working with the selected technology stack, including a built-in XAML designer for visual interface design and powerful tools for code debugging. The refactoring tools of this environment allow you to effectively maintain code purity and the speed of development of a complex project.</a:t>
            </a:r>
          </a:p>
        </p:txBody>
      </p:sp>
      <p:pic>
        <p:nvPicPr>
          <p:cNvPr id="2" name="Рисунок 1"/>
          <p:cNvPicPr>
            <a:picLocks noChangeAspect="1"/>
          </p:cNvPicPr>
          <p:nvPr/>
        </p:nvPicPr>
        <p:blipFill>
          <a:blip r:embed="rId3"/>
          <a:stretch>
            <a:fillRect/>
          </a:stretch>
        </p:blipFill>
        <p:spPr>
          <a:xfrm>
            <a:off x="8440843" y="150829"/>
            <a:ext cx="3181963" cy="2149975"/>
          </a:xfrm>
          <a:prstGeom prst="rect">
            <a:avLst/>
          </a:prstGeom>
          <a:ln>
            <a:noFill/>
          </a:ln>
          <a:effectLst>
            <a:softEdge rad="112500"/>
          </a:effectLst>
        </p:spPr>
      </p:pic>
      <p:grpSp>
        <p:nvGrpSpPr>
          <p:cNvPr id="4" name="Группа 3"/>
          <p:cNvGrpSpPr/>
          <p:nvPr/>
        </p:nvGrpSpPr>
        <p:grpSpPr>
          <a:xfrm>
            <a:off x="1143156" y="2300804"/>
            <a:ext cx="1884367" cy="1962576"/>
            <a:chOff x="2145384" y="2300802"/>
            <a:chExt cx="2238356" cy="2331257"/>
          </a:xfrm>
        </p:grpSpPr>
        <p:pic>
          <p:nvPicPr>
            <p:cNvPr id="2050" name="Picture 2" descr="Is there an official Windows Presentation Foundation (WPF) logo? - Stack  Overflow"/>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5059" y="2698213"/>
              <a:ext cx="1548681" cy="1933846"/>
            </a:xfrm>
            <a:prstGeom prst="rect">
              <a:avLst/>
            </a:prstGeom>
            <a:noFill/>
            <a:extLst>
              <a:ext uri="{909E8E84-426E-40DD-AFC4-6F175D3DCCD1}">
                <a14:hiddenFill xmlns:a14="http://schemas.microsoft.com/office/drawing/2010/main">
                  <a:solidFill>
                    <a:srgbClr val="FFFFFF"/>
                  </a:solidFill>
                </a14:hiddenFill>
              </a:ext>
            </a:extLst>
          </p:spPr>
        </p:pic>
        <p:pic>
          <p:nvPicPr>
            <p:cNvPr id="3" name="Рисунок 2"/>
            <p:cNvPicPr>
              <a:picLocks noChangeAspect="1"/>
            </p:cNvPicPr>
            <p:nvPr/>
          </p:nvPicPr>
          <p:blipFill>
            <a:blip r:embed="rId5"/>
            <a:stretch>
              <a:fillRect/>
            </a:stretch>
          </p:blipFill>
          <p:spPr>
            <a:xfrm>
              <a:off x="2145384" y="2300802"/>
              <a:ext cx="1464016" cy="1372515"/>
            </a:xfrm>
            <a:prstGeom prst="rect">
              <a:avLst/>
            </a:prstGeom>
          </p:spPr>
        </p:pic>
      </p:grpSp>
      <p:pic>
        <p:nvPicPr>
          <p:cNvPr id="8" name="Рисунок 7"/>
          <p:cNvPicPr>
            <a:picLocks noChangeAspect="1"/>
          </p:cNvPicPr>
          <p:nvPr/>
        </p:nvPicPr>
        <p:blipFill>
          <a:blip r:embed="rId6"/>
          <a:stretch>
            <a:fillRect/>
          </a:stretch>
        </p:blipFill>
        <p:spPr>
          <a:xfrm>
            <a:off x="7558821" y="4408768"/>
            <a:ext cx="3512408" cy="2162283"/>
          </a:xfrm>
          <a:prstGeom prst="rect">
            <a:avLst/>
          </a:prstGeom>
        </p:spPr>
      </p:pic>
    </p:spTree>
    <p:extLst>
      <p:ext uri="{BB962C8B-B14F-4D97-AF65-F5344CB8AC3E}">
        <p14:creationId xmlns:p14="http://schemas.microsoft.com/office/powerpoint/2010/main" val="1523427284"/>
      </p:ext>
    </p:extLst>
  </p:cSld>
  <p:clrMapOvr>
    <a:masterClrMapping/>
  </p:clrMapOvr>
  <p:transition spd="slow" advClick="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 calcmode="lin" valueType="num">
                                      <p:cBhvr additive="base">
                                        <p:cTn id="7" dur="750" fill="hold"/>
                                        <p:tgtEl>
                                          <p:spTgt spid="14">
                                            <p:txEl>
                                              <p:pRg st="0" end="0"/>
                                            </p:txEl>
                                          </p:spTgt>
                                        </p:tgtEl>
                                        <p:attrNameLst>
                                          <p:attrName>ppt_x</p:attrName>
                                        </p:attrNameLst>
                                      </p:cBhvr>
                                      <p:tavLst>
                                        <p:tav tm="0">
                                          <p:val>
                                            <p:strVal val="0-#ppt_w/2"/>
                                          </p:val>
                                        </p:tav>
                                        <p:tav tm="100000">
                                          <p:val>
                                            <p:strVal val="#ppt_x"/>
                                          </p:val>
                                        </p:tav>
                                      </p:tavLst>
                                    </p:anim>
                                    <p:anim calcmode="lin" valueType="num">
                                      <p:cBhvr additive="base">
                                        <p:cTn id="8" dur="750" fill="hold"/>
                                        <p:tgtEl>
                                          <p:spTgt spid="14">
                                            <p:txEl>
                                              <p:pRg st="0" end="0"/>
                                            </p:txEl>
                                          </p:spTgt>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50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750"/>
                                        <p:tgtEl>
                                          <p:spTgt spid="2"/>
                                        </p:tgtEl>
                                      </p:cBhvr>
                                    </p:animEffect>
                                  </p:childTnLst>
                                </p:cTn>
                              </p:par>
                              <p:par>
                                <p:cTn id="12" presetID="2" presetClass="entr" presetSubtype="2" fill="hold" nodeType="withEffect">
                                  <p:stCondLst>
                                    <p:cond delay="1000"/>
                                  </p:stCondLst>
                                  <p:childTnLst>
                                    <p:set>
                                      <p:cBhvr>
                                        <p:cTn id="13" dur="1" fill="hold">
                                          <p:stCondLst>
                                            <p:cond delay="0"/>
                                          </p:stCondLst>
                                        </p:cTn>
                                        <p:tgtEl>
                                          <p:spTgt spid="6">
                                            <p:txEl>
                                              <p:pRg st="0" end="0"/>
                                            </p:txEl>
                                          </p:spTgt>
                                        </p:tgtEl>
                                        <p:attrNameLst>
                                          <p:attrName>style.visibility</p:attrName>
                                        </p:attrNameLst>
                                      </p:cBhvr>
                                      <p:to>
                                        <p:strVal val="visible"/>
                                      </p:to>
                                    </p:set>
                                    <p:anim calcmode="lin" valueType="num">
                                      <p:cBhvr additive="base">
                                        <p:cTn id="14" dur="750" fill="hold"/>
                                        <p:tgtEl>
                                          <p:spTgt spid="6">
                                            <p:txEl>
                                              <p:pRg st="0" end="0"/>
                                            </p:txEl>
                                          </p:spTgt>
                                        </p:tgtEl>
                                        <p:attrNameLst>
                                          <p:attrName>ppt_x</p:attrName>
                                        </p:attrNameLst>
                                      </p:cBhvr>
                                      <p:tavLst>
                                        <p:tav tm="0">
                                          <p:val>
                                            <p:strVal val="1+#ppt_w/2"/>
                                          </p:val>
                                        </p:tav>
                                        <p:tav tm="100000">
                                          <p:val>
                                            <p:strVal val="#ppt_x"/>
                                          </p:val>
                                        </p:tav>
                                      </p:tavLst>
                                    </p:anim>
                                    <p:anim calcmode="lin" valueType="num">
                                      <p:cBhvr additive="base">
                                        <p:cTn id="15" dur="750" fill="hold"/>
                                        <p:tgtEl>
                                          <p:spTgt spid="6">
                                            <p:txEl>
                                              <p:pRg st="0" end="0"/>
                                            </p:txEl>
                                          </p:spTgt>
                                        </p:tgtEl>
                                        <p:attrNameLst>
                                          <p:attrName>ppt_y</p:attrName>
                                        </p:attrNameLst>
                                      </p:cBhvr>
                                      <p:tavLst>
                                        <p:tav tm="0">
                                          <p:val>
                                            <p:strVal val="#ppt_y"/>
                                          </p:val>
                                        </p:tav>
                                        <p:tav tm="100000">
                                          <p:val>
                                            <p:strVal val="#ppt_y"/>
                                          </p:val>
                                        </p:tav>
                                      </p:tavLst>
                                    </p:anim>
                                  </p:childTnLst>
                                </p:cTn>
                              </p:par>
                              <p:par>
                                <p:cTn id="16" presetID="10" presetClass="entr" presetSubtype="0" fill="hold" nodeType="withEffect">
                                  <p:stCondLst>
                                    <p:cond delay="150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750"/>
                                        <p:tgtEl>
                                          <p:spTgt spid="4"/>
                                        </p:tgtEl>
                                      </p:cBhvr>
                                    </p:animEffect>
                                  </p:childTnLst>
                                </p:cTn>
                              </p:par>
                              <p:par>
                                <p:cTn id="19" presetID="2" presetClass="entr" presetSubtype="8" fill="hold" nodeType="withEffect">
                                  <p:stCondLst>
                                    <p:cond delay="2000"/>
                                  </p:stCondLst>
                                  <p:childTnLst>
                                    <p:set>
                                      <p:cBhvr>
                                        <p:cTn id="20" dur="1" fill="hold">
                                          <p:stCondLst>
                                            <p:cond delay="0"/>
                                          </p:stCondLst>
                                        </p:cTn>
                                        <p:tgtEl>
                                          <p:spTgt spid="7">
                                            <p:txEl>
                                              <p:pRg st="0" end="0"/>
                                            </p:txEl>
                                          </p:spTgt>
                                        </p:tgtEl>
                                        <p:attrNameLst>
                                          <p:attrName>style.visibility</p:attrName>
                                        </p:attrNameLst>
                                      </p:cBhvr>
                                      <p:to>
                                        <p:strVal val="visible"/>
                                      </p:to>
                                    </p:set>
                                    <p:anim calcmode="lin" valueType="num">
                                      <p:cBhvr additive="base">
                                        <p:cTn id="21" dur="75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22" dur="750" fill="hold"/>
                                        <p:tgtEl>
                                          <p:spTgt spid="7">
                                            <p:txEl>
                                              <p:pRg st="0" end="0"/>
                                            </p:txEl>
                                          </p:spTgt>
                                        </p:tgtEl>
                                        <p:attrNameLst>
                                          <p:attrName>ppt_y</p:attrName>
                                        </p:attrNameLst>
                                      </p:cBhvr>
                                      <p:tavLst>
                                        <p:tav tm="0">
                                          <p:val>
                                            <p:strVal val="#ppt_y"/>
                                          </p:val>
                                        </p:tav>
                                        <p:tav tm="100000">
                                          <p:val>
                                            <p:strVal val="#ppt_y"/>
                                          </p:val>
                                        </p:tav>
                                      </p:tavLst>
                                    </p:anim>
                                  </p:childTnLst>
                                </p:cTn>
                              </p:par>
                              <p:par>
                                <p:cTn id="23" presetID="10" presetClass="entr" presetSubtype="0" fill="hold" nodeType="withEffect">
                                  <p:stCondLst>
                                    <p:cond delay="250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750"/>
                                        <p:tgtEl>
                                          <p:spTgt spid="8"/>
                                        </p:tgtEl>
                                      </p:cBhvr>
                                    </p:animEffect>
                                  </p:childTnLst>
                                </p:cTn>
                              </p:par>
                              <p:par>
                                <p:cTn id="26" presetID="2" presetClass="entr" presetSubtype="2" decel="60000" fill="hold" grpId="0" nodeType="withEffect">
                                  <p:stCondLst>
                                    <p:cond delay="300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1+#ppt_w/2"/>
                                          </p:val>
                                        </p:tav>
                                        <p:tav tm="100000">
                                          <p:val>
                                            <p:strVal val="#ppt_x"/>
                                          </p:val>
                                        </p:tav>
                                      </p:tavLst>
                                    </p:anim>
                                    <p:anim calcmode="lin" valueType="num">
                                      <p:cBhvr additive="base">
                                        <p:cTn id="29"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7937369" y="66108"/>
            <a:ext cx="3733015" cy="1323439"/>
          </a:xfrm>
          <a:prstGeom prst="rect">
            <a:avLst/>
          </a:prstGeom>
        </p:spPr>
        <p:txBody>
          <a:bodyPr wrap="square">
            <a:spAutoFit/>
          </a:bodyPr>
          <a:lstStyle/>
          <a:p>
            <a:r>
              <a:rPr lang="en-US" sz="4000" cap="all" spc="200" dirty="0">
                <a:solidFill>
                  <a:srgbClr val="AD84C6"/>
                </a:solidFill>
                <a:latin typeface="Impact" panose="020B0806030902050204"/>
                <a:ea typeface="+mj-ea"/>
                <a:cs typeface="+mj-cs"/>
              </a:rPr>
              <a:t>Use of Encapsulation</a:t>
            </a:r>
          </a:p>
        </p:txBody>
      </p:sp>
      <p:sp>
        <p:nvSpPr>
          <p:cNvPr id="3" name="Прямоугольник 2"/>
          <p:cNvSpPr/>
          <p:nvPr/>
        </p:nvSpPr>
        <p:spPr>
          <a:xfrm>
            <a:off x="7937369" y="1402781"/>
            <a:ext cx="3733015" cy="5016758"/>
          </a:xfrm>
          <a:prstGeom prst="rect">
            <a:avLst/>
          </a:prstGeom>
        </p:spPr>
        <p:txBody>
          <a:bodyPr wrap="square">
            <a:spAutoFit/>
          </a:bodyPr>
          <a:lstStyle/>
          <a:p>
            <a:pPr lvl="0" algn="just"/>
            <a:r>
              <a:rPr lang="en-US" sz="2000" dirty="0">
                <a:solidFill>
                  <a:srgbClr val="DCD8DC"/>
                </a:solidFill>
              </a:rPr>
              <a:t>Encapsulation is used in the </a:t>
            </a:r>
            <a:r>
              <a:rPr lang="en-US" sz="2000" dirty="0" err="1">
                <a:solidFill>
                  <a:srgbClr val="DCD8DC"/>
                </a:solidFill>
                <a:latin typeface="Courier New" panose="02070309020205020404" pitchFamily="49" charset="0"/>
                <a:cs typeface="Courier New" panose="02070309020205020404" pitchFamily="49" charset="0"/>
              </a:rPr>
              <a:t>SmartDeviceBase</a:t>
            </a:r>
            <a:r>
              <a:rPr lang="en-US" sz="2000" dirty="0">
                <a:solidFill>
                  <a:srgbClr val="DCD8DC"/>
                </a:solidFill>
              </a:rPr>
              <a:t> base class for the </a:t>
            </a:r>
            <a:r>
              <a:rPr lang="en-US" sz="2000" dirty="0" err="1">
                <a:solidFill>
                  <a:srgbClr val="DCD8DC"/>
                </a:solidFill>
                <a:latin typeface="Courier New" panose="02070309020205020404" pitchFamily="49" charset="0"/>
                <a:cs typeface="Courier New" panose="02070309020205020404" pitchFamily="49" charset="0"/>
              </a:rPr>
              <a:t>CurrentState</a:t>
            </a:r>
            <a:r>
              <a:rPr lang="en-US" sz="2000" dirty="0">
                <a:solidFill>
                  <a:srgbClr val="DCD8DC"/>
                </a:solidFill>
              </a:rPr>
              <a:t> property, where the setter is declared with the protected access modifier. This approach makes it impossible to change the state of the device from external classes, leaving this right exclusively to the device itself or its descendants. This ensures the reliability of the system, as it guarantees that switching between operating modes will only occur through the provided internal algorithms.</a:t>
            </a:r>
          </a:p>
        </p:txBody>
      </p:sp>
      <p:sp>
        <p:nvSpPr>
          <p:cNvPr id="7" name="Прямоугольник 6"/>
          <p:cNvSpPr/>
          <p:nvPr/>
        </p:nvSpPr>
        <p:spPr>
          <a:xfrm>
            <a:off x="557175" y="1879834"/>
            <a:ext cx="6842866" cy="3754874"/>
          </a:xfrm>
          <a:prstGeom prst="rect">
            <a:avLst/>
          </a:prstGeom>
        </p:spPr>
        <p:txBody>
          <a:bodyPr wrap="square">
            <a:spAutoFit/>
          </a:bodyPr>
          <a:lstStyle/>
          <a:p>
            <a:pPr lvl="0"/>
            <a:r>
              <a:rPr lang="en-US" sz="1400" b="1" dirty="0">
                <a:solidFill>
                  <a:srgbClr val="373545"/>
                </a:solidFill>
                <a:latin typeface="Courier New" panose="02070309020205020404" pitchFamily="49" charset="0"/>
                <a:cs typeface="Courier New" panose="02070309020205020404" pitchFamily="49" charset="0"/>
              </a:rPr>
              <a:t>public abstract class </a:t>
            </a:r>
            <a:r>
              <a:rPr lang="en-US" sz="1400" b="1" dirty="0" err="1">
                <a:solidFill>
                  <a:srgbClr val="373545"/>
                </a:solidFill>
                <a:latin typeface="Courier New" panose="02070309020205020404" pitchFamily="49" charset="0"/>
                <a:cs typeface="Courier New" panose="02070309020205020404" pitchFamily="49" charset="0"/>
              </a:rPr>
              <a:t>SmartDeviceBase</a:t>
            </a:r>
            <a:r>
              <a:rPr lang="en-US" sz="1400" b="1" dirty="0">
                <a:solidFill>
                  <a:srgbClr val="373545"/>
                </a:solidFill>
                <a:latin typeface="Courier New" panose="02070309020205020404" pitchFamily="49" charset="0"/>
                <a:cs typeface="Courier New" panose="02070309020205020404" pitchFamily="49" charset="0"/>
              </a:rPr>
              <a:t> : </a:t>
            </a:r>
            <a:r>
              <a:rPr lang="en-US" sz="1400" b="1" dirty="0" err="1">
                <a:solidFill>
                  <a:srgbClr val="373545"/>
                </a:solidFill>
                <a:latin typeface="Courier New" panose="02070309020205020404" pitchFamily="49" charset="0"/>
                <a:cs typeface="Courier New" panose="02070309020205020404" pitchFamily="49" charset="0"/>
              </a:rPr>
              <a:t>INotifyPropertyChanged</a:t>
            </a:r>
            <a:endParaRPr lang="en-US" sz="1400" b="1" dirty="0">
              <a:solidFill>
                <a:srgbClr val="373545"/>
              </a:solidFill>
              <a:latin typeface="Courier New" panose="02070309020205020404" pitchFamily="49" charset="0"/>
              <a:cs typeface="Courier New" panose="02070309020205020404" pitchFamily="49" charset="0"/>
            </a:endParaRPr>
          </a:p>
          <a:p>
            <a:pPr lvl="0"/>
            <a:r>
              <a:rPr lang="en-US" sz="1400" b="1" dirty="0">
                <a:solidFill>
                  <a:srgbClr val="373545"/>
                </a:solidFill>
                <a:latin typeface="Courier New" panose="02070309020205020404" pitchFamily="49" charset="0"/>
                <a:cs typeface="Courier New" panose="02070309020205020404" pitchFamily="49" charset="0"/>
              </a:rPr>
              <a:t>{</a:t>
            </a:r>
          </a:p>
          <a:p>
            <a:pPr lvl="0"/>
            <a:r>
              <a:rPr lang="en-US" sz="1400" b="1" dirty="0">
                <a:solidFill>
                  <a:srgbClr val="373545"/>
                </a:solidFill>
                <a:latin typeface="Courier New" panose="02070309020205020404" pitchFamily="49" charset="0"/>
                <a:cs typeface="Courier New" panose="02070309020205020404" pitchFamily="49" charset="0"/>
              </a:rPr>
              <a:t>    private </a:t>
            </a:r>
            <a:r>
              <a:rPr lang="en-US" sz="1400" b="1" dirty="0" err="1">
                <a:solidFill>
                  <a:srgbClr val="373545"/>
                </a:solidFill>
                <a:latin typeface="Courier New" panose="02070309020205020404" pitchFamily="49" charset="0"/>
                <a:cs typeface="Courier New" panose="02070309020205020404" pitchFamily="49" charset="0"/>
              </a:rPr>
              <a:t>DeviceState</a:t>
            </a:r>
            <a:r>
              <a:rPr lang="en-US" sz="1400" b="1" dirty="0">
                <a:solidFill>
                  <a:srgbClr val="373545"/>
                </a:solidFill>
                <a:latin typeface="Courier New" panose="02070309020205020404" pitchFamily="49" charset="0"/>
                <a:cs typeface="Courier New" panose="02070309020205020404" pitchFamily="49" charset="0"/>
              </a:rPr>
              <a:t> _</a:t>
            </a:r>
            <a:r>
              <a:rPr lang="en-US" sz="1400" b="1" dirty="0" err="1">
                <a:solidFill>
                  <a:srgbClr val="373545"/>
                </a:solidFill>
                <a:latin typeface="Courier New" panose="02070309020205020404" pitchFamily="49" charset="0"/>
                <a:cs typeface="Courier New" panose="02070309020205020404" pitchFamily="49" charset="0"/>
              </a:rPr>
              <a:t>currentState</a:t>
            </a:r>
            <a:r>
              <a:rPr lang="en-US" sz="1400" b="1" dirty="0">
                <a:solidFill>
                  <a:srgbClr val="373545"/>
                </a:solidFill>
                <a:latin typeface="Courier New" panose="02070309020205020404" pitchFamily="49" charset="0"/>
                <a:cs typeface="Courier New" panose="02070309020205020404" pitchFamily="49" charset="0"/>
              </a:rPr>
              <a:t>;</a:t>
            </a:r>
          </a:p>
          <a:p>
            <a:pPr lvl="0"/>
            <a:endParaRPr lang="en-US" sz="1400" b="1" dirty="0">
              <a:solidFill>
                <a:srgbClr val="373545"/>
              </a:solidFill>
              <a:latin typeface="Courier New" panose="02070309020205020404" pitchFamily="49" charset="0"/>
              <a:cs typeface="Courier New" panose="02070309020205020404" pitchFamily="49" charset="0"/>
            </a:endParaRPr>
          </a:p>
          <a:p>
            <a:pPr lvl="0"/>
            <a:r>
              <a:rPr lang="en-US" sz="1400" b="1" dirty="0">
                <a:solidFill>
                  <a:srgbClr val="373545"/>
                </a:solidFill>
                <a:latin typeface="Courier New" panose="02070309020205020404" pitchFamily="49" charset="0"/>
                <a:cs typeface="Courier New" panose="02070309020205020404" pitchFamily="49" charset="0"/>
              </a:rPr>
              <a:t>    public </a:t>
            </a:r>
            <a:r>
              <a:rPr lang="en-US" sz="1400" b="1" dirty="0" err="1">
                <a:solidFill>
                  <a:srgbClr val="373545"/>
                </a:solidFill>
                <a:latin typeface="Courier New" panose="02070309020205020404" pitchFamily="49" charset="0"/>
                <a:cs typeface="Courier New" panose="02070309020205020404" pitchFamily="49" charset="0"/>
              </a:rPr>
              <a:t>DeviceState</a:t>
            </a:r>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CurrentState</a:t>
            </a:r>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 </a:t>
            </a:r>
          </a:p>
          <a:p>
            <a:pPr lvl="0"/>
            <a:r>
              <a:rPr lang="en-US" sz="1400" b="1" dirty="0">
                <a:solidFill>
                  <a:srgbClr val="373545"/>
                </a:solidFill>
                <a:latin typeface="Courier New" panose="02070309020205020404" pitchFamily="49" charset="0"/>
                <a:cs typeface="Courier New" panose="02070309020205020404" pitchFamily="49" charset="0"/>
              </a:rPr>
              <a:t>        get =&gt; _</a:t>
            </a:r>
            <a:r>
              <a:rPr lang="en-US" sz="1400" b="1" dirty="0" err="1">
                <a:solidFill>
                  <a:srgbClr val="373545"/>
                </a:solidFill>
                <a:latin typeface="Courier New" panose="02070309020205020404" pitchFamily="49" charset="0"/>
                <a:cs typeface="Courier New" panose="02070309020205020404" pitchFamily="49" charset="0"/>
              </a:rPr>
              <a:t>currentState</a:t>
            </a:r>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protected set </a:t>
            </a:r>
          </a:p>
          <a:p>
            <a:pPr lvl="0"/>
            <a:r>
              <a:rPr lang="en-US" sz="1400" b="1" dirty="0">
                <a:solidFill>
                  <a:srgbClr val="373545"/>
                </a:solidFill>
                <a:latin typeface="Courier New" panose="02070309020205020404" pitchFamily="49" charset="0"/>
                <a:cs typeface="Courier New" panose="02070309020205020404" pitchFamily="49" charset="0"/>
              </a:rPr>
              <a:t>        { </a:t>
            </a:r>
          </a:p>
          <a:p>
            <a:pPr lvl="0"/>
            <a:r>
              <a:rPr lang="en-US" sz="1400" b="1" dirty="0">
                <a:solidFill>
                  <a:srgbClr val="373545"/>
                </a:solidFill>
                <a:latin typeface="Courier New" panose="02070309020205020404" pitchFamily="49" charset="0"/>
                <a:cs typeface="Courier New" panose="02070309020205020404" pitchFamily="49" charset="0"/>
              </a:rPr>
              <a:t>            if (_</a:t>
            </a:r>
            <a:r>
              <a:rPr lang="en-US" sz="1400" b="1" dirty="0" err="1">
                <a:solidFill>
                  <a:srgbClr val="373545"/>
                </a:solidFill>
                <a:latin typeface="Courier New" panose="02070309020205020404" pitchFamily="49" charset="0"/>
                <a:cs typeface="Courier New" panose="02070309020205020404" pitchFamily="49" charset="0"/>
              </a:rPr>
              <a:t>currentState</a:t>
            </a:r>
            <a:r>
              <a:rPr lang="en-US" sz="1400" b="1" dirty="0">
                <a:solidFill>
                  <a:srgbClr val="373545"/>
                </a:solidFill>
                <a:latin typeface="Courier New" panose="02070309020205020404" pitchFamily="49" charset="0"/>
                <a:cs typeface="Courier New" panose="02070309020205020404" pitchFamily="49" charset="0"/>
              </a:rPr>
              <a:t> != value) </a:t>
            </a:r>
          </a:p>
          <a:p>
            <a:pPr lvl="0"/>
            <a:r>
              <a:rPr lang="en-US" sz="1400" b="1" dirty="0">
                <a:solidFill>
                  <a:srgbClr val="373545"/>
                </a:solidFill>
                <a:latin typeface="Courier New" panose="02070309020205020404" pitchFamily="49" charset="0"/>
                <a:cs typeface="Courier New" panose="02070309020205020404" pitchFamily="49" charset="0"/>
              </a:rPr>
              <a:t>            { </a:t>
            </a:r>
          </a:p>
          <a:p>
            <a:pPr lvl="0"/>
            <a:r>
              <a:rPr lang="en-US" sz="1400" b="1" dirty="0">
                <a:solidFill>
                  <a:srgbClr val="373545"/>
                </a:solidFill>
                <a:latin typeface="Courier New" panose="02070309020205020404" pitchFamily="49" charset="0"/>
                <a:cs typeface="Courier New" panose="02070309020205020404" pitchFamily="49" charset="0"/>
              </a:rPr>
              <a:t>                _</a:t>
            </a:r>
            <a:r>
              <a:rPr lang="en-US" sz="1400" b="1" dirty="0" err="1">
                <a:solidFill>
                  <a:srgbClr val="373545"/>
                </a:solidFill>
                <a:latin typeface="Courier New" panose="02070309020205020404" pitchFamily="49" charset="0"/>
                <a:cs typeface="Courier New" panose="02070309020205020404" pitchFamily="49" charset="0"/>
              </a:rPr>
              <a:t>currentState</a:t>
            </a:r>
            <a:r>
              <a:rPr lang="en-US" sz="1400" b="1" dirty="0">
                <a:solidFill>
                  <a:srgbClr val="373545"/>
                </a:solidFill>
                <a:latin typeface="Courier New" panose="02070309020205020404" pitchFamily="49" charset="0"/>
                <a:cs typeface="Courier New" panose="02070309020205020404" pitchFamily="49" charset="0"/>
              </a:rPr>
              <a:t> = value; </a:t>
            </a:r>
          </a:p>
          <a:p>
            <a:pPr lvl="0"/>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OnPropertyChanged</a:t>
            </a:r>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 </a:t>
            </a:r>
          </a:p>
          <a:p>
            <a:pPr lvl="0"/>
            <a:r>
              <a:rPr lang="en-US" sz="1400" b="1" dirty="0">
                <a:solidFill>
                  <a:srgbClr val="373545"/>
                </a:solidFill>
                <a:latin typeface="Courier New" panose="02070309020205020404" pitchFamily="49" charset="0"/>
                <a:cs typeface="Courier New" panose="02070309020205020404" pitchFamily="49" charset="0"/>
              </a:rPr>
              <a:t>        } </a:t>
            </a:r>
          </a:p>
          <a:p>
            <a:pPr lvl="0"/>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0617507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2" presetClass="entr" presetSubtype="2" fill="hold" nodeType="withEffect">
                                  <p:stCondLst>
                                    <p:cond delay="500"/>
                                  </p:stCondLst>
                                  <p:childTnLst>
                                    <p:set>
                                      <p:cBhvr>
                                        <p:cTn id="9" dur="1" fill="hold">
                                          <p:stCondLst>
                                            <p:cond delay="0"/>
                                          </p:stCondLst>
                                        </p:cTn>
                                        <p:tgtEl>
                                          <p:spTgt spid="3">
                                            <p:txEl>
                                              <p:pRg st="0" end="0"/>
                                            </p:txEl>
                                          </p:spTgt>
                                        </p:tgtEl>
                                        <p:attrNameLst>
                                          <p:attrName>style.visibility</p:attrName>
                                        </p:attrNameLst>
                                      </p:cBhvr>
                                      <p:to>
                                        <p:strVal val="visible"/>
                                      </p:to>
                                    </p:set>
                                    <p:anim calcmode="lin" valueType="num">
                                      <p:cBhvr additive="base">
                                        <p:cTn id="10" dur="75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11" dur="750" fill="hold"/>
                                        <p:tgtEl>
                                          <p:spTgt spid="3">
                                            <p:txEl>
                                              <p:pRg st="0" end="0"/>
                                            </p:txEl>
                                          </p:spTgt>
                                        </p:tgtEl>
                                        <p:attrNameLst>
                                          <p:attrName>ppt_y</p:attrName>
                                        </p:attrNameLst>
                                      </p:cBhvr>
                                      <p:tavLst>
                                        <p:tav tm="0">
                                          <p:val>
                                            <p:strVal val="#ppt_y"/>
                                          </p:val>
                                        </p:tav>
                                        <p:tav tm="100000">
                                          <p:val>
                                            <p:strVal val="#ppt_y"/>
                                          </p:val>
                                        </p:tav>
                                      </p:tavLst>
                                    </p:anim>
                                  </p:childTnLst>
                                </p:cTn>
                              </p:par>
                              <p:par>
                                <p:cTn id="12" presetID="10" presetClass="entr" presetSubtype="0" fill="hold" grpId="0" nodeType="withEffect">
                                  <p:stCondLst>
                                    <p:cond delay="100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7956223" y="365833"/>
            <a:ext cx="3893270" cy="4401205"/>
          </a:xfrm>
          <a:prstGeom prst="rect">
            <a:avLst/>
          </a:prstGeom>
        </p:spPr>
        <p:txBody>
          <a:bodyPr wrap="square">
            <a:spAutoFit/>
          </a:bodyPr>
          <a:lstStyle/>
          <a:p>
            <a:pPr lvl="0" algn="just"/>
            <a:r>
              <a:rPr lang="en-US" sz="2000" dirty="0">
                <a:solidFill>
                  <a:srgbClr val="DCD8DC"/>
                </a:solidFill>
              </a:rPr>
              <a:t>Encapsulation is used in the </a:t>
            </a:r>
            <a:r>
              <a:rPr lang="en-US" sz="2000" dirty="0" err="1">
                <a:solidFill>
                  <a:srgbClr val="DCD8DC"/>
                </a:solidFill>
                <a:latin typeface="Courier New" panose="02070309020205020404" pitchFamily="49" charset="0"/>
                <a:cs typeface="Courier New" panose="02070309020205020404" pitchFamily="49" charset="0"/>
              </a:rPr>
              <a:t>SelectedRoomInfoViewModel</a:t>
            </a:r>
            <a:r>
              <a:rPr lang="en-US" sz="2000" dirty="0">
                <a:solidFill>
                  <a:srgbClr val="DCD8DC"/>
                </a:solidFill>
              </a:rPr>
              <a:t> class by closing direct access to the </a:t>
            </a:r>
            <a:r>
              <a:rPr lang="en-US" sz="2000" dirty="0">
                <a:solidFill>
                  <a:srgbClr val="DCD8DC"/>
                </a:solidFill>
                <a:latin typeface="Courier New" panose="02070309020205020404" pitchFamily="49" charset="0"/>
                <a:cs typeface="Courier New" panose="02070309020205020404" pitchFamily="49" charset="0"/>
              </a:rPr>
              <a:t>_</a:t>
            </a:r>
            <a:r>
              <a:rPr lang="en-US" sz="2000" dirty="0" err="1">
                <a:solidFill>
                  <a:srgbClr val="DCD8DC"/>
                </a:solidFill>
                <a:latin typeface="Courier New" panose="02070309020205020404" pitchFamily="49" charset="0"/>
                <a:cs typeface="Courier New" panose="02070309020205020404" pitchFamily="49" charset="0"/>
              </a:rPr>
              <a:t>currentRoom</a:t>
            </a:r>
            <a:r>
              <a:rPr lang="en-US" sz="2000" dirty="0">
                <a:solidFill>
                  <a:srgbClr val="DCD8DC"/>
                </a:solidFill>
              </a:rPr>
              <a:t> field and realization the </a:t>
            </a:r>
            <a:r>
              <a:rPr lang="en-US" sz="2000" dirty="0" err="1">
                <a:solidFill>
                  <a:srgbClr val="DCD8DC"/>
                </a:solidFill>
                <a:latin typeface="Courier New" panose="02070309020205020404" pitchFamily="49" charset="0"/>
                <a:cs typeface="Courier New" panose="02070309020205020404" pitchFamily="49" charset="0"/>
              </a:rPr>
              <a:t>SelectRoom</a:t>
            </a:r>
            <a:r>
              <a:rPr lang="en-US" sz="2000" dirty="0">
                <a:solidFill>
                  <a:srgbClr val="DCD8DC"/>
                </a:solidFill>
              </a:rPr>
              <a:t> method to change the active room. This hides all the complex logic of updating the interface, including clearing device lists and searching for thermostats, inside the class. This allows external code to simply call a single method without worrying about the internal implementation of data updates.</a:t>
            </a:r>
          </a:p>
        </p:txBody>
      </p:sp>
      <p:sp>
        <p:nvSpPr>
          <p:cNvPr id="7" name="Прямоугольник 6"/>
          <p:cNvSpPr/>
          <p:nvPr/>
        </p:nvSpPr>
        <p:spPr>
          <a:xfrm>
            <a:off x="472332" y="1860981"/>
            <a:ext cx="6946561" cy="3323987"/>
          </a:xfrm>
          <a:prstGeom prst="rect">
            <a:avLst/>
          </a:prstGeom>
        </p:spPr>
        <p:txBody>
          <a:bodyPr wrap="square">
            <a:spAutoFit/>
          </a:bodyPr>
          <a:lstStyle/>
          <a:p>
            <a:pPr lvl="0"/>
            <a:r>
              <a:rPr lang="en-US" sz="1400" b="1" dirty="0">
                <a:solidFill>
                  <a:srgbClr val="373545"/>
                </a:solidFill>
                <a:latin typeface="Courier New" panose="02070309020205020404" pitchFamily="49" charset="0"/>
                <a:cs typeface="Courier New" panose="02070309020205020404" pitchFamily="49" charset="0"/>
              </a:rPr>
              <a:t>public class </a:t>
            </a:r>
            <a:r>
              <a:rPr lang="en-US" sz="1400" b="1" dirty="0" err="1">
                <a:solidFill>
                  <a:srgbClr val="373545"/>
                </a:solidFill>
                <a:latin typeface="Courier New" panose="02070309020205020404" pitchFamily="49" charset="0"/>
                <a:cs typeface="Courier New" panose="02070309020205020404" pitchFamily="49" charset="0"/>
              </a:rPr>
              <a:t>SelectedRoomInfoViewModel</a:t>
            </a:r>
            <a:r>
              <a:rPr lang="en-US" sz="1400" b="1" dirty="0">
                <a:solidFill>
                  <a:srgbClr val="373545"/>
                </a:solidFill>
                <a:latin typeface="Courier New" panose="02070309020205020404" pitchFamily="49" charset="0"/>
                <a:cs typeface="Courier New" panose="02070309020205020404" pitchFamily="49" charset="0"/>
              </a:rPr>
              <a:t> : </a:t>
            </a:r>
            <a:r>
              <a:rPr lang="en-US" sz="1400" b="1" dirty="0" err="1">
                <a:solidFill>
                  <a:srgbClr val="373545"/>
                </a:solidFill>
                <a:latin typeface="Courier New" panose="02070309020205020404" pitchFamily="49" charset="0"/>
                <a:cs typeface="Courier New" panose="02070309020205020404" pitchFamily="49" charset="0"/>
              </a:rPr>
              <a:t>INotifyPropertyChanged</a:t>
            </a:r>
            <a:endParaRPr lang="en-US" sz="1400" b="1" dirty="0">
              <a:solidFill>
                <a:srgbClr val="373545"/>
              </a:solidFill>
              <a:latin typeface="Courier New" panose="02070309020205020404" pitchFamily="49" charset="0"/>
              <a:cs typeface="Courier New" panose="02070309020205020404" pitchFamily="49" charset="0"/>
            </a:endParaRPr>
          </a:p>
          <a:p>
            <a:pPr lvl="0"/>
            <a:r>
              <a:rPr lang="en-US" sz="1400" b="1" dirty="0">
                <a:solidFill>
                  <a:srgbClr val="373545"/>
                </a:solidFill>
                <a:latin typeface="Courier New" panose="02070309020205020404" pitchFamily="49" charset="0"/>
                <a:cs typeface="Courier New" panose="02070309020205020404" pitchFamily="49" charset="0"/>
              </a:rPr>
              <a:t>{</a:t>
            </a:r>
          </a:p>
          <a:p>
            <a:pPr lvl="0"/>
            <a:r>
              <a:rPr lang="en-US" sz="1400" b="1" dirty="0">
                <a:solidFill>
                  <a:srgbClr val="373545"/>
                </a:solidFill>
                <a:latin typeface="Courier New" panose="02070309020205020404" pitchFamily="49" charset="0"/>
                <a:cs typeface="Courier New" panose="02070309020205020404" pitchFamily="49" charset="0"/>
              </a:rPr>
              <a:t>    private Room _</a:t>
            </a:r>
            <a:r>
              <a:rPr lang="en-US" sz="1400" b="1" dirty="0" err="1">
                <a:solidFill>
                  <a:srgbClr val="373545"/>
                </a:solidFill>
                <a:latin typeface="Courier New" panose="02070309020205020404" pitchFamily="49" charset="0"/>
                <a:cs typeface="Courier New" panose="02070309020205020404" pitchFamily="49" charset="0"/>
              </a:rPr>
              <a:t>currentRoom</a:t>
            </a:r>
            <a:r>
              <a:rPr lang="en-US" sz="1400" b="1" dirty="0">
                <a:solidFill>
                  <a:srgbClr val="373545"/>
                </a:solidFill>
                <a:latin typeface="Courier New" panose="02070309020205020404" pitchFamily="49" charset="0"/>
                <a:cs typeface="Courier New" panose="02070309020205020404" pitchFamily="49" charset="0"/>
              </a:rPr>
              <a:t>; // Private field</a:t>
            </a:r>
          </a:p>
          <a:p>
            <a:pPr lvl="0"/>
            <a:endParaRPr lang="en-US" sz="1400" b="1" dirty="0">
              <a:solidFill>
                <a:srgbClr val="373545"/>
              </a:solidFill>
              <a:latin typeface="Courier New" panose="02070309020205020404" pitchFamily="49" charset="0"/>
              <a:cs typeface="Courier New" panose="02070309020205020404" pitchFamily="49" charset="0"/>
            </a:endParaRPr>
          </a:p>
          <a:p>
            <a:pPr lvl="0"/>
            <a:r>
              <a:rPr lang="en-US" sz="1400" b="1" dirty="0">
                <a:solidFill>
                  <a:srgbClr val="373545"/>
                </a:solidFill>
                <a:latin typeface="Courier New" panose="02070309020205020404" pitchFamily="49" charset="0"/>
                <a:cs typeface="Courier New" panose="02070309020205020404" pitchFamily="49" charset="0"/>
              </a:rPr>
              <a:t>    public void </a:t>
            </a:r>
            <a:r>
              <a:rPr lang="en-US" sz="1400" b="1" dirty="0" err="1">
                <a:solidFill>
                  <a:srgbClr val="373545"/>
                </a:solidFill>
                <a:latin typeface="Courier New" panose="02070309020205020404" pitchFamily="49" charset="0"/>
                <a:cs typeface="Courier New" panose="02070309020205020404" pitchFamily="49" charset="0"/>
              </a:rPr>
              <a:t>SelectRoom</a:t>
            </a:r>
            <a:r>
              <a:rPr lang="en-US" sz="1400" b="1" dirty="0">
                <a:solidFill>
                  <a:srgbClr val="373545"/>
                </a:solidFill>
                <a:latin typeface="Courier New" panose="02070309020205020404" pitchFamily="49" charset="0"/>
                <a:cs typeface="Courier New" panose="02070309020205020404" pitchFamily="49" charset="0"/>
              </a:rPr>
              <a:t>(Room room)</a:t>
            </a:r>
          </a:p>
          <a:p>
            <a:pPr lvl="0"/>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_</a:t>
            </a:r>
            <a:r>
              <a:rPr lang="en-US" sz="1400" b="1" dirty="0" err="1">
                <a:solidFill>
                  <a:srgbClr val="373545"/>
                </a:solidFill>
                <a:latin typeface="Courier New" panose="02070309020205020404" pitchFamily="49" charset="0"/>
                <a:cs typeface="Courier New" panose="02070309020205020404" pitchFamily="49" charset="0"/>
              </a:rPr>
              <a:t>currentRoom</a:t>
            </a:r>
            <a:r>
              <a:rPr lang="en-US" sz="1400" b="1" dirty="0">
                <a:solidFill>
                  <a:srgbClr val="373545"/>
                </a:solidFill>
                <a:latin typeface="Courier New" panose="02070309020205020404" pitchFamily="49" charset="0"/>
                <a:cs typeface="Courier New" panose="02070309020205020404" pitchFamily="49" charset="0"/>
              </a:rPr>
              <a:t> = room; </a:t>
            </a:r>
          </a:p>
          <a:p>
            <a:pPr lvl="0"/>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IsRoomSelected</a:t>
            </a:r>
            <a:r>
              <a:rPr lang="en-US" sz="1400" b="1" dirty="0">
                <a:solidFill>
                  <a:srgbClr val="373545"/>
                </a:solidFill>
                <a:latin typeface="Courier New" panose="02070309020205020404" pitchFamily="49" charset="0"/>
                <a:cs typeface="Courier New" panose="02070309020205020404" pitchFamily="49" charset="0"/>
              </a:rPr>
              <a:t> = true; </a:t>
            </a:r>
          </a:p>
          <a:p>
            <a:pPr lvl="0"/>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 Internal update logic, hidden from the outside </a:t>
            </a:r>
          </a:p>
          <a:p>
            <a:pPr lvl="0"/>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DevicesInRoom.Clear</a:t>
            </a:r>
            <a:r>
              <a:rPr lang="en-US" sz="1400" b="1" dirty="0">
                <a:solidFill>
                  <a:srgbClr val="373545"/>
                </a:solidFill>
                <a:latin typeface="Courier New" panose="02070309020205020404" pitchFamily="49" charset="0"/>
                <a:cs typeface="Courier New" panose="02070309020205020404" pitchFamily="49" charset="0"/>
              </a:rPr>
              <a:t>();</a:t>
            </a:r>
          </a:p>
          <a:p>
            <a:pPr lvl="0"/>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UpdateThermostats</a:t>
            </a:r>
            <a:r>
              <a:rPr lang="en-US" sz="1400" b="1" dirty="0">
                <a:solidFill>
                  <a:srgbClr val="373545"/>
                </a:solidFill>
                <a:latin typeface="Courier New" panose="02070309020205020404" pitchFamily="49" charset="0"/>
                <a:cs typeface="Courier New" panose="02070309020205020404" pitchFamily="49" charset="0"/>
              </a:rPr>
              <a:t>();</a:t>
            </a:r>
          </a:p>
          <a:p>
            <a:pPr lvl="0"/>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RefreshProperties</a:t>
            </a:r>
            <a:r>
              <a:rPr lang="en-US" sz="1400" b="1" dirty="0">
                <a:solidFill>
                  <a:srgbClr val="373545"/>
                </a:solidFill>
                <a:latin typeface="Courier New" panose="02070309020205020404" pitchFamily="49" charset="0"/>
                <a:cs typeface="Courier New" panose="02070309020205020404" pitchFamily="49" charset="0"/>
              </a:rPr>
              <a:t>();</a:t>
            </a:r>
          </a:p>
          <a:p>
            <a:pPr lvl="0"/>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67516616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75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750" fill="hold"/>
                                        <p:tgtEl>
                                          <p:spTgt spid="3">
                                            <p:txEl>
                                              <p:pRg st="0" end="0"/>
                                            </p:txEl>
                                          </p:spTgt>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7984503" y="365833"/>
            <a:ext cx="3733015" cy="4401205"/>
          </a:xfrm>
          <a:prstGeom prst="rect">
            <a:avLst/>
          </a:prstGeom>
        </p:spPr>
        <p:txBody>
          <a:bodyPr wrap="square">
            <a:spAutoFit/>
          </a:bodyPr>
          <a:lstStyle/>
          <a:p>
            <a:pPr lvl="0" algn="just"/>
            <a:r>
              <a:rPr lang="en-US" sz="2000" dirty="0">
                <a:solidFill>
                  <a:srgbClr val="DCD8DC"/>
                </a:solidFill>
              </a:rPr>
              <a:t>Encapsulation is used in the </a:t>
            </a:r>
            <a:r>
              <a:rPr lang="en-US" sz="2000" dirty="0" err="1">
                <a:solidFill>
                  <a:srgbClr val="DCD8DC"/>
                </a:solidFill>
                <a:latin typeface="Courier New" panose="02070309020205020404" pitchFamily="49" charset="0"/>
                <a:cs typeface="Courier New" panose="02070309020205020404" pitchFamily="49" charset="0"/>
              </a:rPr>
              <a:t>BatteryDevice</a:t>
            </a:r>
            <a:r>
              <a:rPr lang="en-US" sz="2000" dirty="0">
                <a:solidFill>
                  <a:srgbClr val="DCD8DC"/>
                </a:solidFill>
              </a:rPr>
              <a:t> class for the </a:t>
            </a:r>
            <a:r>
              <a:rPr lang="en-US" sz="2000" dirty="0" err="1">
                <a:solidFill>
                  <a:srgbClr val="DCD8DC"/>
                </a:solidFill>
                <a:latin typeface="Courier New" panose="02070309020205020404" pitchFamily="49" charset="0"/>
                <a:cs typeface="Courier New" panose="02070309020205020404" pitchFamily="49" charset="0"/>
              </a:rPr>
              <a:t>ChargeLevel</a:t>
            </a:r>
            <a:r>
              <a:rPr lang="en-US" sz="2000" dirty="0">
                <a:solidFill>
                  <a:srgbClr val="DCD8DC"/>
                </a:solidFill>
              </a:rPr>
              <a:t> property, which has a private setter </a:t>
            </a:r>
            <a:r>
              <a:rPr lang="en-US" sz="2000" dirty="0">
                <a:solidFill>
                  <a:srgbClr val="DCD8DC"/>
                </a:solidFill>
                <a:latin typeface="Courier New" panose="02070309020205020404" pitchFamily="49" charset="0"/>
                <a:cs typeface="Courier New" panose="02070309020205020404" pitchFamily="49" charset="0"/>
              </a:rPr>
              <a:t>private set</a:t>
            </a:r>
            <a:r>
              <a:rPr lang="en-US" sz="2000" dirty="0">
                <a:solidFill>
                  <a:srgbClr val="DCD8DC"/>
                </a:solidFill>
              </a:rPr>
              <a:t>. This prevents “magical” changes to the charge level from outside the program, forcing any changes to the energy level to go exclusively through the </a:t>
            </a:r>
            <a:r>
              <a:rPr lang="en-US" sz="2000" dirty="0" err="1">
                <a:solidFill>
                  <a:srgbClr val="DCD8DC"/>
                </a:solidFill>
                <a:latin typeface="Courier New" panose="02070309020205020404" pitchFamily="49" charset="0"/>
                <a:cs typeface="Courier New" panose="02070309020205020404" pitchFamily="49" charset="0"/>
              </a:rPr>
              <a:t>UpdateState</a:t>
            </a:r>
            <a:r>
              <a:rPr lang="en-US" sz="2000" dirty="0">
                <a:solidFill>
                  <a:srgbClr val="DCD8DC"/>
                </a:solidFill>
              </a:rPr>
              <a:t> method. This solution guarantees that the battery will only discharge or charge according to the rules of the physical time model.</a:t>
            </a:r>
          </a:p>
        </p:txBody>
      </p:sp>
      <p:sp>
        <p:nvSpPr>
          <p:cNvPr id="7" name="Прямоугольник 6"/>
          <p:cNvSpPr/>
          <p:nvPr/>
        </p:nvSpPr>
        <p:spPr>
          <a:xfrm>
            <a:off x="509047" y="1879834"/>
            <a:ext cx="6890994" cy="2893100"/>
          </a:xfrm>
          <a:prstGeom prst="rect">
            <a:avLst/>
          </a:prstGeom>
        </p:spPr>
        <p:txBody>
          <a:bodyPr wrap="square">
            <a:spAutoFit/>
          </a:bodyPr>
          <a:lstStyle/>
          <a:p>
            <a:pPr lvl="0"/>
            <a:r>
              <a:rPr lang="en-US" sz="1400" b="1" dirty="0">
                <a:solidFill>
                  <a:srgbClr val="373545"/>
                </a:solidFill>
                <a:latin typeface="Courier New" panose="02070309020205020404" pitchFamily="49" charset="0"/>
                <a:cs typeface="Courier New" panose="02070309020205020404" pitchFamily="49" charset="0"/>
              </a:rPr>
              <a:t>public class </a:t>
            </a:r>
            <a:r>
              <a:rPr lang="en-US" sz="1400" b="1" dirty="0" err="1">
                <a:solidFill>
                  <a:srgbClr val="373545"/>
                </a:solidFill>
                <a:latin typeface="Courier New" panose="02070309020205020404" pitchFamily="49" charset="0"/>
                <a:cs typeface="Courier New" panose="02070309020205020404" pitchFamily="49" charset="0"/>
              </a:rPr>
              <a:t>BatteryDevice</a:t>
            </a:r>
            <a:r>
              <a:rPr lang="en-US" sz="1400" b="1" dirty="0">
                <a:solidFill>
                  <a:srgbClr val="373545"/>
                </a:solidFill>
                <a:latin typeface="Courier New" panose="02070309020205020404" pitchFamily="49" charset="0"/>
                <a:cs typeface="Courier New" panose="02070309020205020404" pitchFamily="49" charset="0"/>
              </a:rPr>
              <a:t> : </a:t>
            </a:r>
            <a:r>
              <a:rPr lang="en-US" sz="1400" b="1" dirty="0" err="1">
                <a:solidFill>
                  <a:srgbClr val="373545"/>
                </a:solidFill>
                <a:latin typeface="Courier New" panose="02070309020205020404" pitchFamily="49" charset="0"/>
                <a:cs typeface="Courier New" panose="02070309020205020404" pitchFamily="49" charset="0"/>
              </a:rPr>
              <a:t>SmartDeviceBase</a:t>
            </a:r>
            <a:endParaRPr lang="en-US" sz="1400" b="1" dirty="0">
              <a:solidFill>
                <a:srgbClr val="373545"/>
              </a:solidFill>
              <a:latin typeface="Courier New" panose="02070309020205020404" pitchFamily="49" charset="0"/>
              <a:cs typeface="Courier New" panose="02070309020205020404" pitchFamily="49" charset="0"/>
            </a:endParaRPr>
          </a:p>
          <a:p>
            <a:pPr lvl="0"/>
            <a:r>
              <a:rPr lang="en-US" sz="1400" b="1" dirty="0">
                <a:solidFill>
                  <a:srgbClr val="373545"/>
                </a:solidFill>
                <a:latin typeface="Courier New" panose="02070309020205020404" pitchFamily="49" charset="0"/>
                <a:cs typeface="Courier New" panose="02070309020205020404" pitchFamily="49" charset="0"/>
              </a:rPr>
              <a:t>{</a:t>
            </a:r>
          </a:p>
          <a:p>
            <a:pPr lvl="0"/>
            <a:r>
              <a:rPr lang="en-US" sz="1400" b="1" dirty="0">
                <a:solidFill>
                  <a:srgbClr val="373545"/>
                </a:solidFill>
                <a:latin typeface="Courier New" panose="02070309020205020404" pitchFamily="49" charset="0"/>
                <a:cs typeface="Courier New" panose="02070309020205020404" pitchFamily="49" charset="0"/>
              </a:rPr>
              <a:t>    // External code can only read the charge level</a:t>
            </a:r>
          </a:p>
          <a:p>
            <a:pPr lvl="0"/>
            <a:r>
              <a:rPr lang="en-US" sz="1400" b="1" dirty="0">
                <a:solidFill>
                  <a:srgbClr val="373545"/>
                </a:solidFill>
                <a:latin typeface="Courier New" panose="02070309020205020404" pitchFamily="49" charset="0"/>
                <a:cs typeface="Courier New" panose="02070309020205020404" pitchFamily="49" charset="0"/>
              </a:rPr>
              <a:t>    public double </a:t>
            </a:r>
            <a:r>
              <a:rPr lang="en-US" sz="1400" b="1" dirty="0" err="1">
                <a:solidFill>
                  <a:srgbClr val="373545"/>
                </a:solidFill>
                <a:latin typeface="Courier New" panose="02070309020205020404" pitchFamily="49" charset="0"/>
                <a:cs typeface="Courier New" panose="02070309020205020404" pitchFamily="49" charset="0"/>
              </a:rPr>
              <a:t>ChargeLevel</a:t>
            </a:r>
            <a:r>
              <a:rPr lang="en-US" sz="1400" b="1" dirty="0">
                <a:solidFill>
                  <a:srgbClr val="373545"/>
                </a:solidFill>
                <a:latin typeface="Courier New" panose="02070309020205020404" pitchFamily="49" charset="0"/>
                <a:cs typeface="Courier New" panose="02070309020205020404" pitchFamily="49" charset="0"/>
              </a:rPr>
              <a:t> { get; private set; } = 100.0;</a:t>
            </a:r>
          </a:p>
          <a:p>
            <a:pPr lvl="0"/>
            <a:endParaRPr lang="en-US" sz="1400" b="1" dirty="0">
              <a:solidFill>
                <a:srgbClr val="373545"/>
              </a:solidFill>
              <a:latin typeface="Courier New" panose="02070309020205020404" pitchFamily="49" charset="0"/>
              <a:cs typeface="Courier New" panose="02070309020205020404" pitchFamily="49" charset="0"/>
            </a:endParaRPr>
          </a:p>
          <a:p>
            <a:pPr lvl="0"/>
            <a:r>
              <a:rPr lang="en-US" sz="1400" b="1" dirty="0">
                <a:solidFill>
                  <a:srgbClr val="373545"/>
                </a:solidFill>
                <a:latin typeface="Courier New" panose="02070309020205020404" pitchFamily="49" charset="0"/>
                <a:cs typeface="Courier New" panose="02070309020205020404" pitchFamily="49" charset="0"/>
              </a:rPr>
              <a:t>    public override void </a:t>
            </a:r>
            <a:r>
              <a:rPr lang="en-US" sz="1400" b="1" dirty="0" err="1">
                <a:solidFill>
                  <a:srgbClr val="373545"/>
                </a:solidFill>
                <a:latin typeface="Courier New" panose="02070309020205020404" pitchFamily="49" charset="0"/>
                <a:cs typeface="Courier New" panose="02070309020205020404" pitchFamily="49" charset="0"/>
              </a:rPr>
              <a:t>UpdateState</a:t>
            </a:r>
            <a:r>
              <a:rPr lang="en-US" sz="1400" b="1" dirty="0">
                <a:solidFill>
                  <a:srgbClr val="373545"/>
                </a:solidFill>
                <a:latin typeface="Courier New" panose="02070309020205020404" pitchFamily="49" charset="0"/>
                <a:cs typeface="Courier New" panose="02070309020205020404" pitchFamily="49" charset="0"/>
              </a:rPr>
              <a:t>(...)</a:t>
            </a:r>
          </a:p>
          <a:p>
            <a:pPr lvl="0"/>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 Charge changes only occur within the class</a:t>
            </a:r>
          </a:p>
          <a:p>
            <a:pPr lvl="0"/>
            <a:r>
              <a:rPr lang="en-US" sz="1400" b="1" dirty="0">
                <a:solidFill>
                  <a:srgbClr val="373545"/>
                </a:solidFill>
                <a:latin typeface="Courier New" panose="02070309020205020404" pitchFamily="49" charset="0"/>
                <a:cs typeface="Courier New" panose="02070309020205020404" pitchFamily="49" charset="0"/>
              </a:rPr>
              <a:t>        if (</a:t>
            </a:r>
            <a:r>
              <a:rPr lang="en-US" sz="1400" b="1" dirty="0" err="1" smtClean="0">
                <a:solidFill>
                  <a:srgbClr val="373545"/>
                </a:solidFill>
                <a:latin typeface="Courier New" panose="02070309020205020404" pitchFamily="49" charset="0"/>
                <a:cs typeface="Courier New" panose="02070309020205020404" pitchFamily="49" charset="0"/>
              </a:rPr>
              <a:t>IsCharging</a:t>
            </a:r>
            <a:r>
              <a:rPr lang="en-US" sz="1400" b="1" dirty="0" smtClean="0">
                <a:solidFill>
                  <a:srgbClr val="373545"/>
                </a:solidFill>
                <a:latin typeface="Courier New" panose="02070309020205020404" pitchFamily="49" charset="0"/>
                <a:cs typeface="Courier New" panose="02070309020205020404" pitchFamily="49" charset="0"/>
              </a:rPr>
              <a:t>)</a:t>
            </a:r>
          </a:p>
          <a:p>
            <a:pPr lvl="0"/>
            <a:r>
              <a:rPr lang="en-US" sz="1400" b="1" dirty="0" smtClean="0">
                <a:solidFill>
                  <a:srgbClr val="373545"/>
                </a:solidFill>
                <a:latin typeface="Courier New" panose="02070309020205020404" pitchFamily="49" charset="0"/>
                <a:cs typeface="Courier New" panose="02070309020205020404" pitchFamily="49" charset="0"/>
              </a:rPr>
              <a:t>            </a:t>
            </a:r>
            <a:r>
              <a:rPr lang="en-US" sz="1400" b="1" dirty="0" err="1" smtClean="0">
                <a:solidFill>
                  <a:srgbClr val="373545"/>
                </a:solidFill>
                <a:latin typeface="Courier New" panose="02070309020205020404" pitchFamily="49" charset="0"/>
                <a:cs typeface="Courier New" panose="02070309020205020404" pitchFamily="49" charset="0"/>
              </a:rPr>
              <a:t>ChargeLevel</a:t>
            </a:r>
            <a:r>
              <a:rPr lang="en-US" sz="1400" b="1" dirty="0" smtClean="0">
                <a:solidFill>
                  <a:srgbClr val="373545"/>
                </a:solidFill>
                <a:latin typeface="Courier New" panose="02070309020205020404" pitchFamily="49" charset="0"/>
                <a:cs typeface="Courier New" panose="02070309020205020404" pitchFamily="49" charset="0"/>
              </a:rPr>
              <a:t> = </a:t>
            </a:r>
            <a:r>
              <a:rPr lang="en-US" sz="1400" b="1" dirty="0" err="1" smtClean="0">
                <a:solidFill>
                  <a:srgbClr val="373545"/>
                </a:solidFill>
                <a:latin typeface="Courier New" panose="02070309020205020404" pitchFamily="49" charset="0"/>
                <a:cs typeface="Courier New" panose="02070309020205020404" pitchFamily="49" charset="0"/>
              </a:rPr>
              <a:t>Math.Min</a:t>
            </a:r>
            <a:r>
              <a:rPr lang="en-US" sz="1400" b="1" dirty="0" smtClean="0">
                <a:solidFill>
                  <a:srgbClr val="373545"/>
                </a:solidFill>
                <a:latin typeface="Courier New" panose="02070309020205020404" pitchFamily="49" charset="0"/>
                <a:cs typeface="Courier New" panose="02070309020205020404" pitchFamily="49" charset="0"/>
              </a:rPr>
              <a:t>(100.0, </a:t>
            </a:r>
            <a:r>
              <a:rPr lang="en-US" sz="1400" b="1" dirty="0" err="1" smtClean="0">
                <a:solidFill>
                  <a:srgbClr val="373545"/>
                </a:solidFill>
                <a:latin typeface="Courier New" panose="02070309020205020404" pitchFamily="49" charset="0"/>
                <a:cs typeface="Courier New" panose="02070309020205020404" pitchFamily="49" charset="0"/>
              </a:rPr>
              <a:t>ChargeLevel</a:t>
            </a:r>
            <a:r>
              <a:rPr lang="en-US" sz="1400" b="1" dirty="0" smtClean="0">
                <a:solidFill>
                  <a:srgbClr val="373545"/>
                </a:solidFill>
                <a:latin typeface="Courier New" panose="02070309020205020404" pitchFamily="49" charset="0"/>
                <a:cs typeface="Courier New" panose="02070309020205020404" pitchFamily="49" charset="0"/>
              </a:rPr>
              <a:t> + CHARGE_PER_MIN);</a:t>
            </a:r>
          </a:p>
          <a:p>
            <a:pPr lvl="0"/>
            <a:r>
              <a:rPr lang="en-US" sz="1400" b="1" dirty="0" smtClean="0">
                <a:solidFill>
                  <a:srgbClr val="373545"/>
                </a:solidFill>
                <a:latin typeface="Courier New" panose="02070309020205020404" pitchFamily="49" charset="0"/>
                <a:cs typeface="Courier New" panose="02070309020205020404" pitchFamily="49" charset="0"/>
              </a:rPr>
              <a:t>    </a:t>
            </a:r>
            <a:r>
              <a:rPr lang="en-US" sz="1400" b="1" dirty="0">
                <a:solidFill>
                  <a:srgbClr val="373545"/>
                </a:solidFill>
                <a:latin typeface="Courier New" panose="02070309020205020404" pitchFamily="49" charset="0"/>
                <a:cs typeface="Courier New" panose="02070309020205020404" pitchFamily="49" charset="0"/>
              </a:rPr>
              <a:t>}</a:t>
            </a:r>
          </a:p>
          <a:p>
            <a:pPr lvl="0"/>
            <a:r>
              <a:rPr lang="en-US" sz="1400" b="1" dirty="0">
                <a:solidFill>
                  <a:srgbClr val="373545"/>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4120413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75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750" fill="hold"/>
                                        <p:tgtEl>
                                          <p:spTgt spid="3">
                                            <p:txEl>
                                              <p:pRg st="0" end="0"/>
                                            </p:txEl>
                                          </p:spTgt>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7984503" y="365833"/>
            <a:ext cx="3733015" cy="4093428"/>
          </a:xfrm>
          <a:prstGeom prst="rect">
            <a:avLst/>
          </a:prstGeom>
        </p:spPr>
        <p:txBody>
          <a:bodyPr wrap="square">
            <a:spAutoFit/>
          </a:bodyPr>
          <a:lstStyle/>
          <a:p>
            <a:pPr lvl="0" algn="just"/>
            <a:r>
              <a:rPr lang="en-US" sz="2000" dirty="0">
                <a:solidFill>
                  <a:srgbClr val="DCD8DC"/>
                </a:solidFill>
              </a:rPr>
              <a:t>Encapsulation is used in the </a:t>
            </a:r>
            <a:r>
              <a:rPr lang="en-US" sz="2000" dirty="0" err="1">
                <a:solidFill>
                  <a:srgbClr val="DCD8DC"/>
                </a:solidFill>
                <a:latin typeface="Courier New" panose="02070309020205020404" pitchFamily="49" charset="0"/>
                <a:cs typeface="Courier New" panose="02070309020205020404" pitchFamily="49" charset="0"/>
              </a:rPr>
              <a:t>MainWindow</a:t>
            </a:r>
            <a:r>
              <a:rPr lang="en-US" sz="2000" dirty="0">
                <a:solidFill>
                  <a:srgbClr val="DCD8DC"/>
                </a:solidFill>
                <a:latin typeface="Courier New" panose="02070309020205020404" pitchFamily="49" charset="0"/>
                <a:cs typeface="Courier New" panose="02070309020205020404" pitchFamily="49" charset="0"/>
              </a:rPr>
              <a:t> </a:t>
            </a:r>
            <a:r>
              <a:rPr lang="en-US" sz="2000" dirty="0">
                <a:solidFill>
                  <a:srgbClr val="DCD8DC"/>
                </a:solidFill>
              </a:rPr>
              <a:t>class to isolate the logic of the simulation timer </a:t>
            </a:r>
            <a:r>
              <a:rPr lang="en-US" sz="2000" dirty="0">
                <a:solidFill>
                  <a:srgbClr val="DCD8DC"/>
                </a:solidFill>
                <a:latin typeface="Courier New" panose="02070309020205020404" pitchFamily="49" charset="0"/>
                <a:cs typeface="Courier New" panose="02070309020205020404" pitchFamily="49" charset="0"/>
              </a:rPr>
              <a:t>_</a:t>
            </a:r>
            <a:r>
              <a:rPr lang="en-US" sz="2000" dirty="0" err="1">
                <a:solidFill>
                  <a:srgbClr val="DCD8DC"/>
                </a:solidFill>
                <a:latin typeface="Courier New" panose="02070309020205020404" pitchFamily="49" charset="0"/>
                <a:cs typeface="Courier New" panose="02070309020205020404" pitchFamily="49" charset="0"/>
              </a:rPr>
              <a:t>simulationTimer</a:t>
            </a:r>
            <a:r>
              <a:rPr lang="en-US" sz="2000" dirty="0">
                <a:solidFill>
                  <a:srgbClr val="DCD8DC"/>
                </a:solidFill>
                <a:latin typeface="Courier New" panose="02070309020205020404" pitchFamily="49" charset="0"/>
                <a:cs typeface="Courier New" panose="02070309020205020404" pitchFamily="49" charset="0"/>
              </a:rPr>
              <a:t> </a:t>
            </a:r>
            <a:r>
              <a:rPr lang="en-US" sz="2000" dirty="0">
                <a:solidFill>
                  <a:srgbClr val="DCD8DC"/>
                </a:solidFill>
              </a:rPr>
              <a:t>and the current time field </a:t>
            </a:r>
            <a:r>
              <a:rPr lang="en-US" sz="2000" dirty="0">
                <a:solidFill>
                  <a:srgbClr val="DCD8DC"/>
                </a:solidFill>
                <a:latin typeface="Courier New" panose="02070309020205020404" pitchFamily="49" charset="0"/>
                <a:cs typeface="Courier New" panose="02070309020205020404" pitchFamily="49" charset="0"/>
              </a:rPr>
              <a:t>_</a:t>
            </a:r>
            <a:r>
              <a:rPr lang="en-US" sz="2000" dirty="0" err="1">
                <a:solidFill>
                  <a:srgbClr val="DCD8DC"/>
                </a:solidFill>
                <a:latin typeface="Courier New" panose="02070309020205020404" pitchFamily="49" charset="0"/>
                <a:cs typeface="Courier New" panose="02070309020205020404" pitchFamily="49" charset="0"/>
              </a:rPr>
              <a:t>currentSimTime</a:t>
            </a:r>
            <a:r>
              <a:rPr lang="en-US" sz="2000" dirty="0">
                <a:solidFill>
                  <a:srgbClr val="DCD8DC"/>
                </a:solidFill>
              </a:rPr>
              <a:t>. Since the timer is a private field, no other component of the system can accidentally stop or change the speed of time. Access to time changes is only provided through controlled event handling methods of the interface.</a:t>
            </a:r>
          </a:p>
        </p:txBody>
      </p:sp>
      <p:sp>
        <p:nvSpPr>
          <p:cNvPr id="7" name="Прямоугольник 6"/>
          <p:cNvSpPr/>
          <p:nvPr/>
        </p:nvSpPr>
        <p:spPr>
          <a:xfrm>
            <a:off x="500614" y="1870407"/>
            <a:ext cx="7125670" cy="3754874"/>
          </a:xfrm>
          <a:prstGeom prst="rect">
            <a:avLst/>
          </a:prstGeom>
        </p:spPr>
        <p:txBody>
          <a:bodyPr wrap="square">
            <a:spAutoFit/>
          </a:bodyPr>
          <a:lstStyle/>
          <a:p>
            <a:pPr lvl="0"/>
            <a:r>
              <a:rPr lang="en-US" sz="1400" b="1" dirty="0">
                <a:solidFill>
                  <a:srgbClr val="373545"/>
                </a:solidFill>
                <a:latin typeface="Courier New" panose="02070309020205020404" pitchFamily="49" charset="0"/>
                <a:cs typeface="Courier New" panose="02070309020205020404" pitchFamily="49" charset="0"/>
              </a:rPr>
              <a:t>public partial class </a:t>
            </a:r>
            <a:r>
              <a:rPr lang="en-US" sz="1400" b="1" dirty="0" err="1">
                <a:solidFill>
                  <a:srgbClr val="373545"/>
                </a:solidFill>
                <a:latin typeface="Courier New" panose="02070309020205020404" pitchFamily="49" charset="0"/>
                <a:cs typeface="Courier New" panose="02070309020205020404" pitchFamily="49" charset="0"/>
              </a:rPr>
              <a:t>MainWindow</a:t>
            </a:r>
            <a:r>
              <a:rPr lang="en-US" sz="1400" b="1" dirty="0">
                <a:solidFill>
                  <a:srgbClr val="373545"/>
                </a:solidFill>
                <a:latin typeface="Courier New" panose="02070309020205020404" pitchFamily="49" charset="0"/>
                <a:cs typeface="Courier New" panose="02070309020205020404" pitchFamily="49" charset="0"/>
              </a:rPr>
              <a:t> : Window</a:t>
            </a:r>
          </a:p>
          <a:p>
            <a:pPr lvl="0"/>
            <a:r>
              <a:rPr lang="en-US" sz="1400" b="1" dirty="0">
                <a:solidFill>
                  <a:srgbClr val="373545"/>
                </a:solidFill>
                <a:latin typeface="Courier New" panose="02070309020205020404" pitchFamily="49" charset="0"/>
                <a:cs typeface="Courier New" panose="02070309020205020404" pitchFamily="49" charset="0"/>
              </a:rPr>
              <a:t>{</a:t>
            </a:r>
          </a:p>
          <a:p>
            <a:pPr lvl="0"/>
            <a:r>
              <a:rPr lang="en-US" sz="1400" b="1" dirty="0">
                <a:solidFill>
                  <a:srgbClr val="373545"/>
                </a:solidFill>
                <a:latin typeface="Courier New" panose="02070309020205020404" pitchFamily="49" charset="0"/>
                <a:cs typeface="Courier New" panose="02070309020205020404" pitchFamily="49" charset="0"/>
              </a:rPr>
              <a:t>    // Private fields, not available to other classes</a:t>
            </a:r>
          </a:p>
          <a:p>
            <a:pPr lvl="0"/>
            <a:r>
              <a:rPr lang="en-US" sz="1400" b="1" dirty="0">
                <a:solidFill>
                  <a:srgbClr val="373545"/>
                </a:solidFill>
                <a:latin typeface="Courier New" panose="02070309020205020404" pitchFamily="49" charset="0"/>
                <a:cs typeface="Courier New" panose="02070309020205020404" pitchFamily="49" charset="0"/>
              </a:rPr>
              <a:t>    private </a:t>
            </a:r>
            <a:r>
              <a:rPr lang="en-US" sz="1400" b="1" dirty="0" err="1">
                <a:solidFill>
                  <a:srgbClr val="373545"/>
                </a:solidFill>
                <a:latin typeface="Courier New" panose="02070309020205020404" pitchFamily="49" charset="0"/>
                <a:cs typeface="Courier New" panose="02070309020205020404" pitchFamily="49" charset="0"/>
              </a:rPr>
              <a:t>DispatcherTimer</a:t>
            </a:r>
            <a:r>
              <a:rPr lang="en-US" sz="1400" b="1" dirty="0">
                <a:solidFill>
                  <a:srgbClr val="373545"/>
                </a:solidFill>
                <a:latin typeface="Courier New" panose="02070309020205020404" pitchFamily="49" charset="0"/>
                <a:cs typeface="Courier New" panose="02070309020205020404" pitchFamily="49" charset="0"/>
              </a:rPr>
              <a:t> _</a:t>
            </a:r>
            <a:r>
              <a:rPr lang="en-US" sz="1400" b="1" dirty="0" err="1">
                <a:solidFill>
                  <a:srgbClr val="373545"/>
                </a:solidFill>
                <a:latin typeface="Courier New" panose="02070309020205020404" pitchFamily="49" charset="0"/>
                <a:cs typeface="Courier New" panose="02070309020205020404" pitchFamily="49" charset="0"/>
              </a:rPr>
              <a:t>simulationTimer</a:t>
            </a:r>
            <a:r>
              <a:rPr lang="en-US" sz="1400" b="1" dirty="0">
                <a:solidFill>
                  <a:srgbClr val="373545"/>
                </a:solidFill>
                <a:latin typeface="Courier New" panose="02070309020205020404" pitchFamily="49" charset="0"/>
                <a:cs typeface="Courier New" panose="02070309020205020404" pitchFamily="49" charset="0"/>
              </a:rPr>
              <a:t>;</a:t>
            </a:r>
          </a:p>
          <a:p>
            <a:pPr lvl="0"/>
            <a:r>
              <a:rPr lang="en-US" sz="1400" b="1" dirty="0">
                <a:solidFill>
                  <a:srgbClr val="373545"/>
                </a:solidFill>
                <a:latin typeface="Courier New" panose="02070309020205020404" pitchFamily="49" charset="0"/>
                <a:cs typeface="Courier New" panose="02070309020205020404" pitchFamily="49" charset="0"/>
              </a:rPr>
              <a:t>    private </a:t>
            </a:r>
            <a:r>
              <a:rPr lang="en-US" sz="1400" b="1" dirty="0" err="1">
                <a:solidFill>
                  <a:srgbClr val="373545"/>
                </a:solidFill>
                <a:latin typeface="Courier New" panose="02070309020205020404" pitchFamily="49" charset="0"/>
                <a:cs typeface="Courier New" panose="02070309020205020404" pitchFamily="49" charset="0"/>
              </a:rPr>
              <a:t>TimeSpan</a:t>
            </a:r>
            <a:r>
              <a:rPr lang="en-US" sz="1400" b="1" dirty="0">
                <a:solidFill>
                  <a:srgbClr val="373545"/>
                </a:solidFill>
                <a:latin typeface="Courier New" panose="02070309020205020404" pitchFamily="49" charset="0"/>
                <a:cs typeface="Courier New" panose="02070309020205020404" pitchFamily="49" charset="0"/>
              </a:rPr>
              <a:t> _</a:t>
            </a:r>
            <a:r>
              <a:rPr lang="en-US" sz="1400" b="1" dirty="0" err="1">
                <a:solidFill>
                  <a:srgbClr val="373545"/>
                </a:solidFill>
                <a:latin typeface="Courier New" panose="02070309020205020404" pitchFamily="49" charset="0"/>
                <a:cs typeface="Courier New" panose="02070309020205020404" pitchFamily="49" charset="0"/>
              </a:rPr>
              <a:t>currentSimTime</a:t>
            </a:r>
            <a:r>
              <a:rPr lang="en-US" sz="1400" b="1" dirty="0">
                <a:solidFill>
                  <a:srgbClr val="373545"/>
                </a:solidFill>
                <a:latin typeface="Courier New" panose="02070309020205020404" pitchFamily="49" charset="0"/>
                <a:cs typeface="Courier New" panose="02070309020205020404" pitchFamily="49" charset="0"/>
              </a:rPr>
              <a:t>;</a:t>
            </a:r>
          </a:p>
          <a:p>
            <a:pPr lvl="0"/>
            <a:endParaRPr lang="en-US" sz="1400" b="1" dirty="0">
              <a:solidFill>
                <a:srgbClr val="373545"/>
              </a:solidFill>
              <a:latin typeface="Courier New" panose="02070309020205020404" pitchFamily="49" charset="0"/>
              <a:cs typeface="Courier New" panose="02070309020205020404" pitchFamily="49" charset="0"/>
            </a:endParaRPr>
          </a:p>
          <a:p>
            <a:pPr lvl="0"/>
            <a:r>
              <a:rPr lang="en-US" sz="1400" b="1" dirty="0">
                <a:solidFill>
                  <a:srgbClr val="373545"/>
                </a:solidFill>
                <a:latin typeface="Courier New" panose="02070309020205020404" pitchFamily="49" charset="0"/>
                <a:cs typeface="Courier New" panose="02070309020205020404" pitchFamily="49" charset="0"/>
              </a:rPr>
              <a:t>    // Public property for safe access with change notification</a:t>
            </a:r>
          </a:p>
          <a:p>
            <a:pPr lvl="0"/>
            <a:r>
              <a:rPr lang="en-US" sz="1400" b="1" dirty="0">
                <a:solidFill>
                  <a:srgbClr val="373545"/>
                </a:solidFill>
                <a:latin typeface="Courier New" panose="02070309020205020404" pitchFamily="49" charset="0"/>
                <a:cs typeface="Courier New" panose="02070309020205020404" pitchFamily="49" charset="0"/>
              </a:rPr>
              <a:t>    public </a:t>
            </a:r>
            <a:r>
              <a:rPr lang="en-US" sz="1400" b="1" dirty="0" err="1">
                <a:solidFill>
                  <a:srgbClr val="373545"/>
                </a:solidFill>
                <a:latin typeface="Courier New" panose="02070309020205020404" pitchFamily="49" charset="0"/>
                <a:cs typeface="Courier New" panose="02070309020205020404" pitchFamily="49" charset="0"/>
              </a:rPr>
              <a:t>TimeSpan</a:t>
            </a:r>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CurrentSimTime</a:t>
            </a:r>
            <a:endParaRPr lang="en-US" sz="1400" b="1" dirty="0">
              <a:solidFill>
                <a:srgbClr val="373545"/>
              </a:solidFill>
              <a:latin typeface="Courier New" panose="02070309020205020404" pitchFamily="49" charset="0"/>
              <a:cs typeface="Courier New" panose="02070309020205020404" pitchFamily="49" charset="0"/>
            </a:endParaRPr>
          </a:p>
          <a:p>
            <a:pPr lvl="0"/>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get =&gt; _</a:t>
            </a:r>
            <a:r>
              <a:rPr lang="en-US" sz="1400" b="1" dirty="0" err="1">
                <a:solidFill>
                  <a:srgbClr val="373545"/>
                </a:solidFill>
                <a:latin typeface="Courier New" panose="02070309020205020404" pitchFamily="49" charset="0"/>
                <a:cs typeface="Courier New" panose="02070309020205020404" pitchFamily="49" charset="0"/>
              </a:rPr>
              <a:t>currentSimTime</a:t>
            </a:r>
            <a:r>
              <a:rPr lang="en-US" sz="1400" b="1" dirty="0">
                <a:solidFill>
                  <a:srgbClr val="373545"/>
                </a:solidFill>
                <a:latin typeface="Courier New" panose="02070309020205020404" pitchFamily="49" charset="0"/>
                <a:cs typeface="Courier New" panose="02070309020205020404" pitchFamily="49" charset="0"/>
              </a:rPr>
              <a:t>;</a:t>
            </a:r>
          </a:p>
          <a:p>
            <a:pPr lvl="0"/>
            <a:r>
              <a:rPr lang="en-US" sz="1400" b="1" dirty="0">
                <a:solidFill>
                  <a:srgbClr val="373545"/>
                </a:solidFill>
                <a:latin typeface="Courier New" panose="02070309020205020404" pitchFamily="49" charset="0"/>
                <a:cs typeface="Courier New" panose="02070309020205020404" pitchFamily="49" charset="0"/>
              </a:rPr>
              <a:t>        set </a:t>
            </a:r>
          </a:p>
          <a:p>
            <a:pPr lvl="0"/>
            <a:r>
              <a:rPr lang="en-US" sz="1400" b="1" dirty="0">
                <a:solidFill>
                  <a:srgbClr val="373545"/>
                </a:solidFill>
                <a:latin typeface="Courier New" panose="02070309020205020404" pitchFamily="49" charset="0"/>
                <a:cs typeface="Courier New" panose="02070309020205020404" pitchFamily="49" charset="0"/>
              </a:rPr>
              <a:t>        { </a:t>
            </a:r>
          </a:p>
          <a:p>
            <a:pPr lvl="0"/>
            <a:r>
              <a:rPr lang="en-US" sz="1400" b="1" dirty="0">
                <a:solidFill>
                  <a:srgbClr val="373545"/>
                </a:solidFill>
                <a:latin typeface="Courier New" panose="02070309020205020404" pitchFamily="49" charset="0"/>
                <a:cs typeface="Courier New" panose="02070309020205020404" pitchFamily="49" charset="0"/>
              </a:rPr>
              <a:t>            _</a:t>
            </a:r>
            <a:r>
              <a:rPr lang="en-US" sz="1400" b="1" dirty="0" err="1">
                <a:solidFill>
                  <a:srgbClr val="373545"/>
                </a:solidFill>
                <a:latin typeface="Courier New" panose="02070309020205020404" pitchFamily="49" charset="0"/>
                <a:cs typeface="Courier New" panose="02070309020205020404" pitchFamily="49" charset="0"/>
              </a:rPr>
              <a:t>currentSimTime</a:t>
            </a:r>
            <a:r>
              <a:rPr lang="en-US" sz="1400" b="1" dirty="0">
                <a:solidFill>
                  <a:srgbClr val="373545"/>
                </a:solidFill>
                <a:latin typeface="Courier New" panose="02070309020205020404" pitchFamily="49" charset="0"/>
                <a:cs typeface="Courier New" panose="02070309020205020404" pitchFamily="49" charset="0"/>
              </a:rPr>
              <a:t> = value; </a:t>
            </a:r>
          </a:p>
          <a:p>
            <a:pPr lvl="0"/>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OnPropertyChanged</a:t>
            </a:r>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a:t>
            </a:r>
          </a:p>
        </p:txBody>
      </p:sp>
      <p:sp>
        <p:nvSpPr>
          <p:cNvPr id="4" name="Развернутая стрелка 3">
            <a:hlinkClick r:id="rId2" action="ppaction://hlinksldjump"/>
          </p:cNvPr>
          <p:cNvSpPr/>
          <p:nvPr/>
        </p:nvSpPr>
        <p:spPr>
          <a:xfrm rot="10800000">
            <a:off x="11439427" y="6061435"/>
            <a:ext cx="556181" cy="603315"/>
          </a:xfrm>
          <a:prstGeom prst="uturnArrow">
            <a:avLst>
              <a:gd name="adj1" fmla="val 26695"/>
              <a:gd name="adj2" fmla="val 19915"/>
              <a:gd name="adj3" fmla="val 33475"/>
              <a:gd name="adj4" fmla="val 46293"/>
              <a:gd name="adj5" fmla="val 10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1850498143"/>
      </p:ext>
    </p:extLst>
  </p:cSld>
  <p:clrMapOvr>
    <a:masterClrMapping/>
  </p:clrMapOvr>
  <p:transition spd="slow" advClick="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75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750" fill="hold"/>
                                        <p:tgtEl>
                                          <p:spTgt spid="3">
                                            <p:txEl>
                                              <p:pRg st="0" end="0"/>
                                            </p:txEl>
                                          </p:spTgt>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750"/>
                                        <p:tgtEl>
                                          <p:spTgt spid="7"/>
                                        </p:tgtEl>
                                      </p:cBhvr>
                                    </p:animEffect>
                                  </p:childTnLst>
                                </p:cTn>
                              </p:par>
                              <p:par>
                                <p:cTn id="12" presetID="10" presetClass="entr" presetSubtype="0" fill="hold" grpId="0" nodeType="withEffect">
                                  <p:stCondLst>
                                    <p:cond delay="10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7937369" y="66108"/>
            <a:ext cx="3733015" cy="1323439"/>
          </a:xfrm>
          <a:prstGeom prst="rect">
            <a:avLst/>
          </a:prstGeom>
        </p:spPr>
        <p:txBody>
          <a:bodyPr wrap="square">
            <a:spAutoFit/>
          </a:bodyPr>
          <a:lstStyle/>
          <a:p>
            <a:r>
              <a:rPr lang="en-US" sz="4000" cap="all" spc="200" dirty="0">
                <a:solidFill>
                  <a:srgbClr val="AD84C6"/>
                </a:solidFill>
                <a:latin typeface="Impact" panose="020B0806030902050204"/>
                <a:ea typeface="+mj-ea"/>
                <a:cs typeface="+mj-cs"/>
              </a:rPr>
              <a:t>Use of Abstraction</a:t>
            </a:r>
          </a:p>
        </p:txBody>
      </p:sp>
      <p:sp>
        <p:nvSpPr>
          <p:cNvPr id="3" name="Прямоугольник 2"/>
          <p:cNvSpPr/>
          <p:nvPr/>
        </p:nvSpPr>
        <p:spPr>
          <a:xfrm>
            <a:off x="7937369" y="1402781"/>
            <a:ext cx="3733015" cy="4708981"/>
          </a:xfrm>
          <a:prstGeom prst="rect">
            <a:avLst/>
          </a:prstGeom>
        </p:spPr>
        <p:txBody>
          <a:bodyPr wrap="square">
            <a:spAutoFit/>
          </a:bodyPr>
          <a:lstStyle/>
          <a:p>
            <a:pPr lvl="0" algn="just"/>
            <a:r>
              <a:rPr lang="en-US" sz="2000" dirty="0">
                <a:solidFill>
                  <a:srgbClr val="DCD8DC"/>
                </a:solidFill>
              </a:rPr>
              <a:t>Abstraction is used in the design of the base class </a:t>
            </a:r>
            <a:r>
              <a:rPr lang="en-US" sz="2000" dirty="0" err="1">
                <a:solidFill>
                  <a:srgbClr val="DCD8DC"/>
                </a:solidFill>
                <a:latin typeface="Courier New" panose="02070309020205020404" pitchFamily="49" charset="0"/>
                <a:cs typeface="Courier New" panose="02070309020205020404" pitchFamily="49" charset="0"/>
              </a:rPr>
              <a:t>SmartDeviceBase</a:t>
            </a:r>
            <a:r>
              <a:rPr lang="en-US" sz="2000" dirty="0">
                <a:solidFill>
                  <a:srgbClr val="DCD8DC"/>
                </a:solidFill>
              </a:rPr>
              <a:t>, in which the abstract method </a:t>
            </a:r>
            <a:r>
              <a:rPr lang="en-US" sz="2000" dirty="0" err="1">
                <a:solidFill>
                  <a:srgbClr val="DCD8DC"/>
                </a:solidFill>
                <a:latin typeface="Courier New" panose="02070309020205020404" pitchFamily="49" charset="0"/>
                <a:cs typeface="Courier New" panose="02070309020205020404" pitchFamily="49" charset="0"/>
              </a:rPr>
              <a:t>UpdateState</a:t>
            </a:r>
            <a:r>
              <a:rPr lang="en-US" sz="2000" dirty="0">
                <a:solidFill>
                  <a:srgbClr val="DCD8DC"/>
                </a:solidFill>
              </a:rPr>
              <a:t> is declared without realization. This allows the main simulation controller to interact with any device as a universal entity without going into the details of its specific operation, which greatly simplifies the extensibility of the system when adding new types of devices that simply need to fulfill this contract.</a:t>
            </a:r>
          </a:p>
        </p:txBody>
      </p:sp>
      <p:sp>
        <p:nvSpPr>
          <p:cNvPr id="7" name="Прямоугольник 6"/>
          <p:cNvSpPr/>
          <p:nvPr/>
        </p:nvSpPr>
        <p:spPr>
          <a:xfrm>
            <a:off x="557175" y="1879834"/>
            <a:ext cx="6937134" cy="2246769"/>
          </a:xfrm>
          <a:prstGeom prst="rect">
            <a:avLst/>
          </a:prstGeom>
        </p:spPr>
        <p:txBody>
          <a:bodyPr wrap="square">
            <a:spAutoFit/>
          </a:bodyPr>
          <a:lstStyle/>
          <a:p>
            <a:pPr lvl="0"/>
            <a:r>
              <a:rPr lang="en-US" sz="1400" b="1" dirty="0">
                <a:solidFill>
                  <a:srgbClr val="373545"/>
                </a:solidFill>
                <a:latin typeface="Courier New" panose="02070309020205020404" pitchFamily="49" charset="0"/>
                <a:cs typeface="Courier New" panose="02070309020205020404" pitchFamily="49" charset="0"/>
              </a:rPr>
              <a:t>public abstract class </a:t>
            </a:r>
            <a:r>
              <a:rPr lang="en-US" sz="1400" b="1" dirty="0" err="1">
                <a:solidFill>
                  <a:srgbClr val="373545"/>
                </a:solidFill>
                <a:latin typeface="Courier New" panose="02070309020205020404" pitchFamily="49" charset="0"/>
                <a:cs typeface="Courier New" panose="02070309020205020404" pitchFamily="49" charset="0"/>
              </a:rPr>
              <a:t>SmartDeviceBase</a:t>
            </a:r>
            <a:r>
              <a:rPr lang="en-US" sz="1400" b="1" dirty="0">
                <a:solidFill>
                  <a:srgbClr val="373545"/>
                </a:solidFill>
                <a:latin typeface="Courier New" panose="02070309020205020404" pitchFamily="49" charset="0"/>
                <a:cs typeface="Courier New" panose="02070309020205020404" pitchFamily="49" charset="0"/>
              </a:rPr>
              <a:t> : </a:t>
            </a:r>
            <a:r>
              <a:rPr lang="en-US" sz="1400" b="1" dirty="0" err="1">
                <a:solidFill>
                  <a:srgbClr val="373545"/>
                </a:solidFill>
                <a:latin typeface="Courier New" panose="02070309020205020404" pitchFamily="49" charset="0"/>
                <a:cs typeface="Courier New" panose="02070309020205020404" pitchFamily="49" charset="0"/>
              </a:rPr>
              <a:t>INotifyPropertyChanged</a:t>
            </a:r>
            <a:endParaRPr lang="en-US" sz="1400" b="1" dirty="0">
              <a:solidFill>
                <a:srgbClr val="373545"/>
              </a:solidFill>
              <a:latin typeface="Courier New" panose="02070309020205020404" pitchFamily="49" charset="0"/>
              <a:cs typeface="Courier New" panose="02070309020205020404" pitchFamily="49" charset="0"/>
            </a:endParaRPr>
          </a:p>
          <a:p>
            <a:pPr lvl="0"/>
            <a:r>
              <a:rPr lang="en-US" sz="1400" b="1" dirty="0">
                <a:solidFill>
                  <a:srgbClr val="373545"/>
                </a:solidFill>
                <a:latin typeface="Courier New" panose="02070309020205020404" pitchFamily="49" charset="0"/>
                <a:cs typeface="Courier New" panose="02070309020205020404" pitchFamily="49" charset="0"/>
              </a:rPr>
              <a:t>{</a:t>
            </a:r>
          </a:p>
          <a:p>
            <a:pPr lvl="0"/>
            <a:r>
              <a:rPr lang="en-US" sz="1400" b="1" dirty="0">
                <a:solidFill>
                  <a:srgbClr val="373545"/>
                </a:solidFill>
                <a:latin typeface="Courier New" panose="02070309020205020404" pitchFamily="49" charset="0"/>
                <a:cs typeface="Courier New" panose="02070309020205020404" pitchFamily="49" charset="0"/>
              </a:rPr>
              <a:t>    public string Name { get; }</a:t>
            </a:r>
          </a:p>
          <a:p>
            <a:pPr lvl="0"/>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 An abstract method defines “what” a device should do, </a:t>
            </a:r>
          </a:p>
          <a:p>
            <a:pPr lvl="0"/>
            <a:r>
              <a:rPr lang="en-US" sz="1400" b="1" dirty="0">
                <a:solidFill>
                  <a:srgbClr val="373545"/>
                </a:solidFill>
                <a:latin typeface="Courier New" panose="02070309020205020404" pitchFamily="49" charset="0"/>
                <a:cs typeface="Courier New" panose="02070309020205020404" pitchFamily="49" charset="0"/>
              </a:rPr>
              <a:t>    // but not “how” it does it. Implementation is left to inheritors.</a:t>
            </a:r>
          </a:p>
          <a:p>
            <a:pPr lvl="0"/>
            <a:r>
              <a:rPr lang="en-US" sz="1400" b="1" dirty="0">
                <a:solidFill>
                  <a:srgbClr val="373545"/>
                </a:solidFill>
                <a:latin typeface="Courier New" panose="02070309020205020404" pitchFamily="49" charset="0"/>
                <a:cs typeface="Courier New" panose="02070309020205020404" pitchFamily="49" charset="0"/>
              </a:rPr>
              <a:t>    public abstract void </a:t>
            </a:r>
            <a:r>
              <a:rPr lang="en-US" sz="1400" b="1" dirty="0" err="1">
                <a:solidFill>
                  <a:srgbClr val="373545"/>
                </a:solidFill>
                <a:latin typeface="Courier New" panose="02070309020205020404" pitchFamily="49" charset="0"/>
                <a:cs typeface="Courier New" panose="02070309020205020404" pitchFamily="49" charset="0"/>
              </a:rPr>
              <a:t>UpdateState</a:t>
            </a:r>
            <a:r>
              <a:rPr lang="en-US" sz="1400" b="1" dirty="0">
                <a:solidFill>
                  <a:srgbClr val="373545"/>
                </a:solidFill>
                <a:latin typeface="Courier New" panose="02070309020205020404" pitchFamily="49" charset="0"/>
                <a:cs typeface="Courier New" panose="02070309020205020404" pitchFamily="49" charset="0"/>
              </a:rPr>
              <a:t>(</a:t>
            </a:r>
            <a:r>
              <a:rPr lang="en-US" sz="1400" b="1" dirty="0" err="1">
                <a:solidFill>
                  <a:srgbClr val="373545"/>
                </a:solidFill>
                <a:latin typeface="Courier New" panose="02070309020205020404" pitchFamily="49" charset="0"/>
                <a:cs typeface="Courier New" panose="02070309020205020404" pitchFamily="49" charset="0"/>
              </a:rPr>
              <a:t>TimeSpan</a:t>
            </a:r>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smtClean="0">
                <a:solidFill>
                  <a:srgbClr val="373545"/>
                </a:solidFill>
                <a:latin typeface="Courier New" panose="02070309020205020404" pitchFamily="49" charset="0"/>
                <a:cs typeface="Courier New" panose="02070309020205020404" pitchFamily="49" charset="0"/>
              </a:rPr>
              <a:t>currentTime</a:t>
            </a:r>
            <a:r>
              <a:rPr lang="en-US" sz="1400" b="1" dirty="0" smtClean="0">
                <a:solidFill>
                  <a:srgbClr val="373545"/>
                </a:solidFill>
                <a:latin typeface="Courier New" panose="02070309020205020404" pitchFamily="49" charset="0"/>
                <a:cs typeface="Courier New" panose="02070309020205020404" pitchFamily="49" charset="0"/>
              </a:rPr>
              <a:t>,</a:t>
            </a:r>
            <a:r>
              <a:rPr lang="ru-RU" sz="1400" b="1" dirty="0" smtClean="0">
                <a:solidFill>
                  <a:srgbClr val="373545"/>
                </a:solidFill>
                <a:latin typeface="Courier New" panose="02070309020205020404" pitchFamily="49" charset="0"/>
                <a:cs typeface="Courier New" panose="02070309020205020404" pitchFamily="49" charset="0"/>
              </a:rPr>
              <a:t> </a:t>
            </a:r>
            <a:r>
              <a:rPr lang="en-US" sz="1400" b="1" dirty="0" smtClean="0">
                <a:solidFill>
                  <a:srgbClr val="373545"/>
                </a:solidFill>
                <a:latin typeface="Courier New" panose="02070309020205020404" pitchFamily="49" charset="0"/>
                <a:cs typeface="Courier New" panose="02070309020205020404" pitchFamily="49" charset="0"/>
              </a:rPr>
              <a:t>bool </a:t>
            </a:r>
            <a:r>
              <a:rPr lang="en-US" sz="1400" b="1" dirty="0" err="1" smtClean="0">
                <a:solidFill>
                  <a:srgbClr val="373545"/>
                </a:solidFill>
                <a:latin typeface="Courier New" panose="02070309020205020404" pitchFamily="49" charset="0"/>
                <a:cs typeface="Courier New" panose="02070309020205020404" pitchFamily="49" charset="0"/>
              </a:rPr>
              <a:t>isElectricityOn</a:t>
            </a:r>
            <a:r>
              <a:rPr lang="en-US" sz="1400" b="1" dirty="0" smtClean="0">
                <a:solidFill>
                  <a:srgbClr val="373545"/>
                </a:solidFill>
                <a:latin typeface="Courier New" panose="02070309020205020404" pitchFamily="49" charset="0"/>
                <a:cs typeface="Courier New" panose="02070309020205020404" pitchFamily="49" charset="0"/>
              </a:rPr>
              <a:t>,</a:t>
            </a:r>
            <a:r>
              <a:rPr lang="ru-RU" sz="1400" b="1" dirty="0" smtClean="0">
                <a:solidFill>
                  <a:srgbClr val="373545"/>
                </a:solidFill>
                <a:latin typeface="Courier New" panose="02070309020205020404" pitchFamily="49" charset="0"/>
                <a:cs typeface="Courier New" panose="02070309020205020404" pitchFamily="49" charset="0"/>
              </a:rPr>
              <a:t> </a:t>
            </a:r>
            <a:r>
              <a:rPr lang="en-US" sz="1400" b="1" dirty="0" smtClean="0">
                <a:solidFill>
                  <a:srgbClr val="373545"/>
                </a:solidFill>
                <a:latin typeface="Courier New" panose="02070309020205020404" pitchFamily="49" charset="0"/>
                <a:cs typeface="Courier New" panose="02070309020205020404" pitchFamily="49" charset="0"/>
              </a:rPr>
              <a:t>Room </a:t>
            </a:r>
            <a:r>
              <a:rPr lang="en-US" sz="1400" b="1" dirty="0">
                <a:solidFill>
                  <a:srgbClr val="373545"/>
                </a:solidFill>
                <a:latin typeface="Courier New" panose="02070309020205020404" pitchFamily="49" charset="0"/>
                <a:cs typeface="Courier New" panose="02070309020205020404" pitchFamily="49" charset="0"/>
              </a:rPr>
              <a:t>environment);</a:t>
            </a:r>
          </a:p>
          <a:p>
            <a:pPr lvl="0"/>
            <a:r>
              <a:rPr lang="en-US" sz="1400" b="1" dirty="0">
                <a:solidFill>
                  <a:srgbClr val="373545"/>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4988555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2" presetClass="entr" presetSubtype="2" fill="hold" nodeType="withEffect">
                                  <p:stCondLst>
                                    <p:cond delay="500"/>
                                  </p:stCondLst>
                                  <p:childTnLst>
                                    <p:set>
                                      <p:cBhvr>
                                        <p:cTn id="9" dur="1" fill="hold">
                                          <p:stCondLst>
                                            <p:cond delay="0"/>
                                          </p:stCondLst>
                                        </p:cTn>
                                        <p:tgtEl>
                                          <p:spTgt spid="3">
                                            <p:txEl>
                                              <p:pRg st="0" end="0"/>
                                            </p:txEl>
                                          </p:spTgt>
                                        </p:tgtEl>
                                        <p:attrNameLst>
                                          <p:attrName>style.visibility</p:attrName>
                                        </p:attrNameLst>
                                      </p:cBhvr>
                                      <p:to>
                                        <p:strVal val="visible"/>
                                      </p:to>
                                    </p:set>
                                    <p:anim calcmode="lin" valueType="num">
                                      <p:cBhvr additive="base">
                                        <p:cTn id="10" dur="75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11" dur="750" fill="hold"/>
                                        <p:tgtEl>
                                          <p:spTgt spid="3">
                                            <p:txEl>
                                              <p:pRg st="0" end="0"/>
                                            </p:txEl>
                                          </p:spTgt>
                                        </p:tgtEl>
                                        <p:attrNameLst>
                                          <p:attrName>ppt_y</p:attrName>
                                        </p:attrNameLst>
                                      </p:cBhvr>
                                      <p:tavLst>
                                        <p:tav tm="0">
                                          <p:val>
                                            <p:strVal val="#ppt_y"/>
                                          </p:val>
                                        </p:tav>
                                        <p:tav tm="100000">
                                          <p:val>
                                            <p:strVal val="#ppt_y"/>
                                          </p:val>
                                        </p:tav>
                                      </p:tavLst>
                                    </p:anim>
                                  </p:childTnLst>
                                </p:cTn>
                              </p:par>
                              <p:par>
                                <p:cTn id="12" presetID="10" presetClass="entr" presetSubtype="0" fill="hold" grpId="0" nodeType="withEffect">
                                  <p:stCondLst>
                                    <p:cond delay="100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7984503" y="365833"/>
            <a:ext cx="3733015" cy="3785652"/>
          </a:xfrm>
          <a:prstGeom prst="rect">
            <a:avLst/>
          </a:prstGeom>
        </p:spPr>
        <p:txBody>
          <a:bodyPr wrap="square">
            <a:spAutoFit/>
          </a:bodyPr>
          <a:lstStyle/>
          <a:p>
            <a:pPr lvl="0" algn="just"/>
            <a:r>
              <a:rPr lang="en-US" sz="2000" dirty="0">
                <a:solidFill>
                  <a:srgbClr val="DCD8DC"/>
                </a:solidFill>
              </a:rPr>
              <a:t>Abstraction is used through the implementation of the </a:t>
            </a:r>
            <a:r>
              <a:rPr lang="en-US" sz="2000" dirty="0" err="1">
                <a:solidFill>
                  <a:srgbClr val="DCD8DC"/>
                </a:solidFill>
                <a:latin typeface="Courier New" panose="02070309020205020404" pitchFamily="49" charset="0"/>
                <a:cs typeface="Courier New" panose="02070309020205020404" pitchFamily="49" charset="0"/>
              </a:rPr>
              <a:t>IOnOffToggleable</a:t>
            </a:r>
            <a:r>
              <a:rPr lang="en-US" sz="2000" dirty="0">
                <a:solidFill>
                  <a:srgbClr val="DCD8DC"/>
                </a:solidFill>
              </a:rPr>
              <a:t> interface for devices that support manual state switching. This makes it possible to handle mouse clicks on different objects, such as lamps, fans, or thermostats, using a single universal method, ignoring their class affiliation and focusing only on their common ability to be turned on or off.</a:t>
            </a:r>
          </a:p>
        </p:txBody>
      </p:sp>
      <p:sp>
        <p:nvSpPr>
          <p:cNvPr id="7" name="Прямоугольник 6"/>
          <p:cNvSpPr/>
          <p:nvPr/>
        </p:nvSpPr>
        <p:spPr>
          <a:xfrm>
            <a:off x="509047" y="1879834"/>
            <a:ext cx="6890994" cy="2677656"/>
          </a:xfrm>
          <a:prstGeom prst="rect">
            <a:avLst/>
          </a:prstGeom>
        </p:spPr>
        <p:txBody>
          <a:bodyPr wrap="square">
            <a:spAutoFit/>
          </a:bodyPr>
          <a:lstStyle/>
          <a:p>
            <a:pPr lvl="0"/>
            <a:r>
              <a:rPr lang="en-US" sz="1400" b="1" dirty="0">
                <a:solidFill>
                  <a:srgbClr val="373545"/>
                </a:solidFill>
                <a:latin typeface="Courier New" panose="02070309020205020404" pitchFamily="49" charset="0"/>
                <a:cs typeface="Courier New" panose="02070309020205020404" pitchFamily="49" charset="0"/>
              </a:rPr>
              <a:t>// The interface defines only a set of actions, abstracting from the object type.</a:t>
            </a:r>
          </a:p>
          <a:p>
            <a:pPr lvl="0"/>
            <a:r>
              <a:rPr lang="en-US" sz="1400" b="1" dirty="0">
                <a:solidFill>
                  <a:srgbClr val="373545"/>
                </a:solidFill>
                <a:latin typeface="Courier New" panose="02070309020205020404" pitchFamily="49" charset="0"/>
                <a:cs typeface="Courier New" panose="02070309020205020404" pitchFamily="49" charset="0"/>
              </a:rPr>
              <a:t>public interface </a:t>
            </a:r>
            <a:r>
              <a:rPr lang="en-US" sz="1400" b="1" dirty="0" err="1">
                <a:solidFill>
                  <a:srgbClr val="373545"/>
                </a:solidFill>
                <a:latin typeface="Courier New" panose="02070309020205020404" pitchFamily="49" charset="0"/>
                <a:cs typeface="Courier New" panose="02070309020205020404" pitchFamily="49" charset="0"/>
              </a:rPr>
              <a:t>IOnOffToggleable</a:t>
            </a:r>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void </a:t>
            </a:r>
            <a:r>
              <a:rPr lang="en-US" sz="1400" b="1" dirty="0" err="1">
                <a:solidFill>
                  <a:srgbClr val="373545"/>
                </a:solidFill>
                <a:latin typeface="Courier New" panose="02070309020205020404" pitchFamily="49" charset="0"/>
                <a:cs typeface="Courier New" panose="02070309020205020404" pitchFamily="49" charset="0"/>
              </a:rPr>
              <a:t>TurnOn</a:t>
            </a:r>
            <a:r>
              <a:rPr lang="en-US" sz="1400" b="1" dirty="0">
                <a:solidFill>
                  <a:srgbClr val="373545"/>
                </a:solidFill>
                <a:latin typeface="Courier New" panose="02070309020205020404" pitchFamily="49" charset="0"/>
                <a:cs typeface="Courier New" panose="02070309020205020404" pitchFamily="49" charset="0"/>
              </a:rPr>
              <a:t>(bool </a:t>
            </a:r>
            <a:r>
              <a:rPr lang="en-US" sz="1400" b="1" dirty="0" err="1">
                <a:solidFill>
                  <a:srgbClr val="373545"/>
                </a:solidFill>
                <a:latin typeface="Courier New" panose="02070309020205020404" pitchFamily="49" charset="0"/>
                <a:cs typeface="Courier New" panose="02070309020205020404" pitchFamily="49" charset="0"/>
              </a:rPr>
              <a:t>isElectricityOn</a:t>
            </a:r>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void </a:t>
            </a:r>
            <a:r>
              <a:rPr lang="en-US" sz="1400" b="1" dirty="0" err="1">
                <a:solidFill>
                  <a:srgbClr val="373545"/>
                </a:solidFill>
                <a:latin typeface="Courier New" panose="02070309020205020404" pitchFamily="49" charset="0"/>
                <a:cs typeface="Courier New" panose="02070309020205020404" pitchFamily="49" charset="0"/>
              </a:rPr>
              <a:t>TurnOff</a:t>
            </a:r>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void </a:t>
            </a:r>
            <a:r>
              <a:rPr lang="en-US" sz="1400" b="1" dirty="0" err="1">
                <a:solidFill>
                  <a:srgbClr val="373545"/>
                </a:solidFill>
                <a:latin typeface="Courier New" panose="02070309020205020404" pitchFamily="49" charset="0"/>
                <a:cs typeface="Courier New" panose="02070309020205020404" pitchFamily="49" charset="0"/>
              </a:rPr>
              <a:t>ToggleState</a:t>
            </a:r>
            <a:r>
              <a:rPr lang="en-US" sz="1400" b="1" dirty="0">
                <a:solidFill>
                  <a:srgbClr val="373545"/>
                </a:solidFill>
                <a:latin typeface="Courier New" panose="02070309020205020404" pitchFamily="49" charset="0"/>
                <a:cs typeface="Courier New" panose="02070309020205020404" pitchFamily="49" charset="0"/>
              </a:rPr>
              <a:t>(bool </a:t>
            </a:r>
            <a:r>
              <a:rPr lang="en-US" sz="1400" b="1" dirty="0" err="1">
                <a:solidFill>
                  <a:srgbClr val="373545"/>
                </a:solidFill>
                <a:latin typeface="Courier New" panose="02070309020205020404" pitchFamily="49" charset="0"/>
                <a:cs typeface="Courier New" panose="02070309020205020404" pitchFamily="49" charset="0"/>
              </a:rPr>
              <a:t>isElectricityOn</a:t>
            </a:r>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a:t>
            </a:r>
          </a:p>
          <a:p>
            <a:pPr lvl="0"/>
            <a:endParaRPr lang="en-US" sz="1400" b="1" dirty="0">
              <a:solidFill>
                <a:srgbClr val="373545"/>
              </a:solidFill>
              <a:latin typeface="Courier New" panose="02070309020205020404" pitchFamily="49" charset="0"/>
              <a:cs typeface="Courier New" panose="02070309020205020404" pitchFamily="49" charset="0"/>
            </a:endParaRPr>
          </a:p>
          <a:p>
            <a:pPr lvl="0"/>
            <a:r>
              <a:rPr lang="en-US" sz="1400" b="1" dirty="0">
                <a:solidFill>
                  <a:srgbClr val="373545"/>
                </a:solidFill>
                <a:latin typeface="Courier New" panose="02070309020205020404" pitchFamily="49" charset="0"/>
                <a:cs typeface="Courier New" panose="02070309020205020404" pitchFamily="49" charset="0"/>
              </a:rPr>
              <a:t>// Use in click handling:</a:t>
            </a:r>
          </a:p>
          <a:p>
            <a:pPr lvl="0"/>
            <a:r>
              <a:rPr lang="en-US" sz="1400" b="1" dirty="0">
                <a:solidFill>
                  <a:srgbClr val="373545"/>
                </a:solidFill>
                <a:latin typeface="Courier New" panose="02070309020205020404" pitchFamily="49" charset="0"/>
                <a:cs typeface="Courier New" panose="02070309020205020404" pitchFamily="49" charset="0"/>
              </a:rPr>
              <a:t>if (device is </a:t>
            </a:r>
            <a:r>
              <a:rPr lang="en-US" sz="1400" b="1" dirty="0" err="1">
                <a:solidFill>
                  <a:srgbClr val="373545"/>
                </a:solidFill>
                <a:latin typeface="Courier New" panose="02070309020205020404" pitchFamily="49" charset="0"/>
                <a:cs typeface="Courier New" panose="02070309020205020404" pitchFamily="49" charset="0"/>
              </a:rPr>
              <a:t>IOnOffToggleable</a:t>
            </a:r>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smtClean="0">
                <a:solidFill>
                  <a:srgbClr val="373545"/>
                </a:solidFill>
                <a:latin typeface="Courier New" panose="02070309020205020404" pitchFamily="49" charset="0"/>
                <a:cs typeface="Courier New" panose="02070309020205020404" pitchFamily="49" charset="0"/>
              </a:rPr>
              <a:t>toggleable</a:t>
            </a:r>
            <a:r>
              <a:rPr lang="en-US" sz="1400" b="1" dirty="0" smtClean="0">
                <a:solidFill>
                  <a:srgbClr val="373545"/>
                </a:solidFill>
                <a:latin typeface="Courier New" panose="02070309020205020404" pitchFamily="49" charset="0"/>
                <a:cs typeface="Courier New" panose="02070309020205020404" pitchFamily="49" charset="0"/>
              </a:rPr>
              <a:t>)</a:t>
            </a:r>
            <a:r>
              <a:rPr lang="ru-RU" sz="1400" b="1" dirty="0" smtClean="0">
                <a:solidFill>
                  <a:srgbClr val="373545"/>
                </a:solidFill>
                <a:latin typeface="Courier New" panose="02070309020205020404" pitchFamily="49" charset="0"/>
                <a:cs typeface="Courier New" panose="02070309020205020404" pitchFamily="49" charset="0"/>
              </a:rPr>
              <a:t>   </a:t>
            </a:r>
          </a:p>
          <a:p>
            <a:pPr lvl="0"/>
            <a:r>
              <a:rPr lang="ru-RU" sz="1400" b="1" dirty="0">
                <a:solidFill>
                  <a:srgbClr val="373545"/>
                </a:solidFill>
                <a:latin typeface="Courier New" panose="02070309020205020404" pitchFamily="49" charset="0"/>
                <a:cs typeface="Courier New" panose="02070309020205020404" pitchFamily="49" charset="0"/>
              </a:rPr>
              <a:t> </a:t>
            </a:r>
            <a:r>
              <a:rPr lang="ru-RU" sz="1400" b="1" dirty="0" smtClean="0">
                <a:solidFill>
                  <a:srgbClr val="373545"/>
                </a:solidFill>
                <a:latin typeface="Courier New" panose="02070309020205020404" pitchFamily="49" charset="0"/>
                <a:cs typeface="Courier New" panose="02070309020205020404" pitchFamily="49" charset="0"/>
              </a:rPr>
              <a:t>   </a:t>
            </a:r>
            <a:r>
              <a:rPr lang="en-US" sz="1400" b="1" dirty="0" err="1" smtClean="0">
                <a:solidFill>
                  <a:srgbClr val="373545"/>
                </a:solidFill>
                <a:latin typeface="Courier New" panose="02070309020205020404" pitchFamily="49" charset="0"/>
                <a:cs typeface="Courier New" panose="02070309020205020404" pitchFamily="49" charset="0"/>
              </a:rPr>
              <a:t>toggleable.ToggleState</a:t>
            </a:r>
            <a:r>
              <a:rPr lang="en-US" sz="1400" b="1" dirty="0" smtClean="0">
                <a:solidFill>
                  <a:srgbClr val="373545"/>
                </a:solidFill>
                <a:latin typeface="Courier New" panose="02070309020205020404" pitchFamily="49" charset="0"/>
                <a:cs typeface="Courier New" panose="02070309020205020404" pitchFamily="49" charset="0"/>
              </a:rPr>
              <a:t>(</a:t>
            </a:r>
            <a:r>
              <a:rPr lang="en-US" sz="1400" b="1" dirty="0" err="1" smtClean="0">
                <a:solidFill>
                  <a:srgbClr val="373545"/>
                </a:solidFill>
                <a:latin typeface="Courier New" panose="02070309020205020404" pitchFamily="49" charset="0"/>
                <a:cs typeface="Courier New" panose="02070309020205020404" pitchFamily="49" charset="0"/>
              </a:rPr>
              <a:t>IsElectricityOn</a:t>
            </a:r>
            <a:r>
              <a:rPr lang="en-US" sz="1400" b="1" dirty="0">
                <a:solidFill>
                  <a:srgbClr val="373545"/>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28107525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75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750" fill="hold"/>
                                        <p:tgtEl>
                                          <p:spTgt spid="3">
                                            <p:txEl>
                                              <p:pRg st="0" end="0"/>
                                            </p:txEl>
                                          </p:spTgt>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7984503" y="365833"/>
            <a:ext cx="3733015" cy="4708981"/>
          </a:xfrm>
          <a:prstGeom prst="rect">
            <a:avLst/>
          </a:prstGeom>
        </p:spPr>
        <p:txBody>
          <a:bodyPr wrap="square">
            <a:spAutoFit/>
          </a:bodyPr>
          <a:lstStyle/>
          <a:p>
            <a:pPr lvl="0" algn="just"/>
            <a:r>
              <a:rPr lang="en-US" sz="2000" dirty="0">
                <a:solidFill>
                  <a:srgbClr val="DCD8DC"/>
                </a:solidFill>
              </a:rPr>
              <a:t>Abstraction is used in the creation of an intermediate abstract class, </a:t>
            </a:r>
            <a:r>
              <a:rPr lang="en-US" sz="2000" dirty="0" err="1">
                <a:solidFill>
                  <a:srgbClr val="DCD8DC"/>
                </a:solidFill>
                <a:latin typeface="Courier New" panose="02070309020205020404" pitchFamily="49" charset="0"/>
                <a:cs typeface="Courier New" panose="02070309020205020404" pitchFamily="49" charset="0"/>
              </a:rPr>
              <a:t>ClimateControlUnit</a:t>
            </a:r>
            <a:r>
              <a:rPr lang="en-US" sz="2000" dirty="0">
                <a:solidFill>
                  <a:srgbClr val="DCD8DC"/>
                </a:solidFill>
              </a:rPr>
              <a:t>, which generalizes the logic of operation for the entire group of climate control devices. This allows to hide and centralize the basic power management mechanisms in one place, thanks to which specific classes of heaters or conditioners are freed from duplicating routine code and contain only temperature checking algorithms specific to them.</a:t>
            </a:r>
          </a:p>
        </p:txBody>
      </p:sp>
      <p:sp>
        <p:nvSpPr>
          <p:cNvPr id="7" name="Прямоугольник 6"/>
          <p:cNvSpPr/>
          <p:nvPr/>
        </p:nvSpPr>
        <p:spPr>
          <a:xfrm>
            <a:off x="500614" y="1870407"/>
            <a:ext cx="6965415" cy="3539430"/>
          </a:xfrm>
          <a:prstGeom prst="rect">
            <a:avLst/>
          </a:prstGeom>
        </p:spPr>
        <p:txBody>
          <a:bodyPr wrap="square">
            <a:spAutoFit/>
          </a:bodyPr>
          <a:lstStyle/>
          <a:p>
            <a:pPr lvl="0"/>
            <a:r>
              <a:rPr lang="en-US" sz="1400" b="1" dirty="0">
                <a:solidFill>
                  <a:srgbClr val="373545"/>
                </a:solidFill>
                <a:latin typeface="Courier New" panose="02070309020205020404" pitchFamily="49" charset="0"/>
                <a:cs typeface="Courier New" panose="02070309020205020404" pitchFamily="49" charset="0"/>
              </a:rPr>
              <a:t>public abstract class </a:t>
            </a:r>
            <a:r>
              <a:rPr lang="en-US" sz="1400" b="1" dirty="0" err="1">
                <a:solidFill>
                  <a:srgbClr val="373545"/>
                </a:solidFill>
                <a:latin typeface="Courier New" panose="02070309020205020404" pitchFamily="49" charset="0"/>
                <a:cs typeface="Courier New" panose="02070309020205020404" pitchFamily="49" charset="0"/>
              </a:rPr>
              <a:t>ClimateControlUnit</a:t>
            </a:r>
            <a:r>
              <a:rPr lang="en-US" sz="1400" b="1" dirty="0">
                <a:solidFill>
                  <a:srgbClr val="373545"/>
                </a:solidFill>
                <a:latin typeface="Courier New" panose="02070309020205020404" pitchFamily="49" charset="0"/>
                <a:cs typeface="Courier New" panose="02070309020205020404" pitchFamily="49" charset="0"/>
              </a:rPr>
              <a:t> : </a:t>
            </a:r>
            <a:r>
              <a:rPr lang="en-US" sz="1400" b="1" dirty="0" err="1">
                <a:solidFill>
                  <a:srgbClr val="373545"/>
                </a:solidFill>
                <a:latin typeface="Courier New" panose="02070309020205020404" pitchFamily="49" charset="0"/>
                <a:cs typeface="Courier New" panose="02070309020205020404" pitchFamily="49" charset="0"/>
              </a:rPr>
              <a:t>SmartDeviceBase</a:t>
            </a:r>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IOnOffToggleable</a:t>
            </a:r>
            <a:endParaRPr lang="en-US" sz="1400" b="1" dirty="0">
              <a:solidFill>
                <a:srgbClr val="373545"/>
              </a:solidFill>
              <a:latin typeface="Courier New" panose="02070309020205020404" pitchFamily="49" charset="0"/>
              <a:cs typeface="Courier New" panose="02070309020205020404" pitchFamily="49" charset="0"/>
            </a:endParaRPr>
          </a:p>
          <a:p>
            <a:pPr lvl="0"/>
            <a:r>
              <a:rPr lang="en-US" sz="1400" b="1" dirty="0">
                <a:solidFill>
                  <a:srgbClr val="373545"/>
                </a:solidFill>
                <a:latin typeface="Courier New" panose="02070309020205020404" pitchFamily="49" charset="0"/>
                <a:cs typeface="Courier New" panose="02070309020205020404" pitchFamily="49" charset="0"/>
              </a:rPr>
              <a:t>{</a:t>
            </a:r>
          </a:p>
          <a:p>
            <a:pPr lvl="0"/>
            <a:r>
              <a:rPr lang="en-US" sz="1400" b="1" dirty="0">
                <a:solidFill>
                  <a:srgbClr val="373545"/>
                </a:solidFill>
                <a:latin typeface="Courier New" panose="02070309020205020404" pitchFamily="49" charset="0"/>
                <a:cs typeface="Courier New" panose="02070309020205020404" pitchFamily="49" charset="0"/>
              </a:rPr>
              <a:t>    // Common implementation for all climate devices</a:t>
            </a:r>
          </a:p>
          <a:p>
            <a:pPr lvl="0"/>
            <a:r>
              <a:rPr lang="en-US" sz="1400" b="1" dirty="0">
                <a:solidFill>
                  <a:srgbClr val="373545"/>
                </a:solidFill>
                <a:latin typeface="Courier New" panose="02070309020205020404" pitchFamily="49" charset="0"/>
                <a:cs typeface="Courier New" panose="02070309020205020404" pitchFamily="49" charset="0"/>
              </a:rPr>
              <a:t>    public void </a:t>
            </a:r>
            <a:r>
              <a:rPr lang="en-US" sz="1400" b="1" dirty="0" err="1">
                <a:solidFill>
                  <a:srgbClr val="373545"/>
                </a:solidFill>
                <a:latin typeface="Courier New" panose="02070309020205020404" pitchFamily="49" charset="0"/>
                <a:cs typeface="Courier New" panose="02070309020205020404" pitchFamily="49" charset="0"/>
              </a:rPr>
              <a:t>TurnOn</a:t>
            </a:r>
            <a:r>
              <a:rPr lang="en-US" sz="1400" b="1" dirty="0">
                <a:solidFill>
                  <a:srgbClr val="373545"/>
                </a:solidFill>
                <a:latin typeface="Courier New" panose="02070309020205020404" pitchFamily="49" charset="0"/>
                <a:cs typeface="Courier New" panose="02070309020205020404" pitchFamily="49" charset="0"/>
              </a:rPr>
              <a:t>(bool </a:t>
            </a:r>
            <a:r>
              <a:rPr lang="en-US" sz="1400" b="1" dirty="0" err="1">
                <a:solidFill>
                  <a:srgbClr val="373545"/>
                </a:solidFill>
                <a:latin typeface="Courier New" panose="02070309020205020404" pitchFamily="49" charset="0"/>
                <a:cs typeface="Courier New" panose="02070309020205020404" pitchFamily="49" charset="0"/>
              </a:rPr>
              <a:t>isElectricityOn</a:t>
            </a:r>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 </a:t>
            </a:r>
          </a:p>
          <a:p>
            <a:pPr lvl="0"/>
            <a:r>
              <a:rPr lang="en-US" sz="1400" b="1" dirty="0">
                <a:solidFill>
                  <a:srgbClr val="373545"/>
                </a:solidFill>
                <a:latin typeface="Courier New" panose="02070309020205020404" pitchFamily="49" charset="0"/>
                <a:cs typeface="Courier New" panose="02070309020205020404" pitchFamily="49" charset="0"/>
              </a:rPr>
              <a:t>        if (</a:t>
            </a:r>
            <a:r>
              <a:rPr lang="en-US" sz="1400" b="1" dirty="0" err="1">
                <a:solidFill>
                  <a:srgbClr val="373545"/>
                </a:solidFill>
                <a:latin typeface="Courier New" panose="02070309020205020404" pitchFamily="49" charset="0"/>
                <a:cs typeface="Courier New" panose="02070309020205020404" pitchFamily="49" charset="0"/>
              </a:rPr>
              <a:t>isElectricityOn</a:t>
            </a:r>
            <a:r>
              <a:rPr lang="en-US" sz="1400" b="1" dirty="0">
                <a:solidFill>
                  <a:srgbClr val="373545"/>
                </a:solidFill>
                <a:latin typeface="Courier New" panose="02070309020205020404" pitchFamily="49" charset="0"/>
                <a:cs typeface="Courier New" panose="02070309020205020404" pitchFamily="49" charset="0"/>
              </a:rPr>
              <a:t> &amp;&amp; </a:t>
            </a:r>
            <a:r>
              <a:rPr lang="en-US" sz="1400" b="1" dirty="0" err="1">
                <a:solidFill>
                  <a:srgbClr val="373545"/>
                </a:solidFill>
                <a:latin typeface="Courier New" panose="02070309020205020404" pitchFamily="49" charset="0"/>
                <a:cs typeface="Courier New" panose="02070309020205020404" pitchFamily="49" charset="0"/>
              </a:rPr>
              <a:t>CurrentState</a:t>
            </a:r>
            <a:r>
              <a:rPr lang="en-US" sz="1400" b="1" dirty="0">
                <a:solidFill>
                  <a:srgbClr val="373545"/>
                </a:solidFill>
                <a:latin typeface="Courier New" panose="02070309020205020404" pitchFamily="49" charset="0"/>
                <a:cs typeface="Courier New" panose="02070309020205020404" pitchFamily="49" charset="0"/>
              </a:rPr>
              <a:t> == </a:t>
            </a:r>
            <a:r>
              <a:rPr lang="en-US" sz="1400" b="1" dirty="0" err="1">
                <a:solidFill>
                  <a:srgbClr val="373545"/>
                </a:solidFill>
                <a:latin typeface="Courier New" panose="02070309020205020404" pitchFamily="49" charset="0"/>
                <a:cs typeface="Courier New" panose="02070309020205020404" pitchFamily="49" charset="0"/>
              </a:rPr>
              <a:t>DeviceState.Off</a:t>
            </a:r>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 </a:t>
            </a:r>
          </a:p>
          <a:p>
            <a:pPr lvl="0"/>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CurrentState</a:t>
            </a:r>
            <a:r>
              <a:rPr lang="en-US" sz="1400" b="1" dirty="0">
                <a:solidFill>
                  <a:srgbClr val="373545"/>
                </a:solidFill>
                <a:latin typeface="Courier New" panose="02070309020205020404" pitchFamily="49" charset="0"/>
                <a:cs typeface="Courier New" panose="02070309020205020404" pitchFamily="49" charset="0"/>
              </a:rPr>
              <a:t> = </a:t>
            </a:r>
            <a:r>
              <a:rPr lang="en-US" sz="1400" b="1" dirty="0" err="1">
                <a:solidFill>
                  <a:srgbClr val="373545"/>
                </a:solidFill>
                <a:latin typeface="Courier New" panose="02070309020205020404" pitchFamily="49" charset="0"/>
                <a:cs typeface="Courier New" panose="02070309020205020404" pitchFamily="49" charset="0"/>
              </a:rPr>
              <a:t>DeviceState.Working</a:t>
            </a:r>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 </a:t>
            </a:r>
          </a:p>
          <a:p>
            <a:pPr lvl="0"/>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a:t>
            </a:r>
          </a:p>
          <a:p>
            <a:pPr lvl="0"/>
            <a:endParaRPr lang="en-US" sz="1400" b="1" dirty="0">
              <a:solidFill>
                <a:srgbClr val="373545"/>
              </a:solidFill>
              <a:latin typeface="Courier New" panose="02070309020205020404" pitchFamily="49" charset="0"/>
              <a:cs typeface="Courier New" panose="02070309020205020404" pitchFamily="49" charset="0"/>
            </a:endParaRPr>
          </a:p>
          <a:p>
            <a:pPr lvl="0"/>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HeaterDevice</a:t>
            </a:r>
            <a:r>
              <a:rPr lang="en-US" sz="1400" b="1" dirty="0">
                <a:solidFill>
                  <a:srgbClr val="373545"/>
                </a:solidFill>
                <a:latin typeface="Courier New" panose="02070309020205020404" pitchFamily="49" charset="0"/>
                <a:cs typeface="Courier New" panose="02070309020205020404" pitchFamily="49" charset="0"/>
              </a:rPr>
              <a:t> does not duplicate </a:t>
            </a:r>
            <a:r>
              <a:rPr lang="en-US" sz="1400" b="1" dirty="0" err="1">
                <a:solidFill>
                  <a:srgbClr val="373545"/>
                </a:solidFill>
                <a:latin typeface="Courier New" panose="02070309020205020404" pitchFamily="49" charset="0"/>
                <a:cs typeface="Courier New" panose="02070309020205020404" pitchFamily="49" charset="0"/>
              </a:rPr>
              <a:t>TurnOn</a:t>
            </a:r>
            <a:r>
              <a:rPr lang="en-US" sz="1400" b="1" dirty="0">
                <a:solidFill>
                  <a:srgbClr val="373545"/>
                </a:solidFill>
                <a:latin typeface="Courier New" panose="02070309020205020404" pitchFamily="49" charset="0"/>
                <a:cs typeface="Courier New" panose="02070309020205020404" pitchFamily="49" charset="0"/>
              </a:rPr>
              <a:t>, but uses the parent abstraction</a:t>
            </a:r>
          </a:p>
          <a:p>
            <a:pPr lvl="0"/>
            <a:r>
              <a:rPr lang="en-US" sz="1400" b="1" dirty="0">
                <a:solidFill>
                  <a:srgbClr val="373545"/>
                </a:solidFill>
                <a:latin typeface="Courier New" panose="02070309020205020404" pitchFamily="49" charset="0"/>
                <a:cs typeface="Courier New" panose="02070309020205020404" pitchFamily="49" charset="0"/>
              </a:rPr>
              <a:t>public class </a:t>
            </a:r>
            <a:r>
              <a:rPr lang="en-US" sz="1400" b="1" dirty="0" err="1">
                <a:solidFill>
                  <a:srgbClr val="373545"/>
                </a:solidFill>
                <a:latin typeface="Courier New" panose="02070309020205020404" pitchFamily="49" charset="0"/>
                <a:cs typeface="Courier New" panose="02070309020205020404" pitchFamily="49" charset="0"/>
              </a:rPr>
              <a:t>HeaterDevice</a:t>
            </a:r>
            <a:r>
              <a:rPr lang="en-US" sz="1400" b="1" dirty="0">
                <a:solidFill>
                  <a:srgbClr val="373545"/>
                </a:solidFill>
                <a:latin typeface="Courier New" panose="02070309020205020404" pitchFamily="49" charset="0"/>
                <a:cs typeface="Courier New" panose="02070309020205020404" pitchFamily="49" charset="0"/>
              </a:rPr>
              <a:t> : </a:t>
            </a:r>
            <a:r>
              <a:rPr lang="en-US" sz="1400" b="1" dirty="0" err="1">
                <a:solidFill>
                  <a:srgbClr val="373545"/>
                </a:solidFill>
                <a:latin typeface="Courier New" panose="02070309020205020404" pitchFamily="49" charset="0"/>
                <a:cs typeface="Courier New" panose="02070309020205020404" pitchFamily="49" charset="0"/>
              </a:rPr>
              <a:t>ClimateControlUnit</a:t>
            </a:r>
            <a:r>
              <a:rPr lang="en-US" sz="1400" b="1" dirty="0">
                <a:solidFill>
                  <a:srgbClr val="373545"/>
                </a:solidFill>
                <a:latin typeface="Courier New" panose="02070309020205020404" pitchFamily="49" charset="0"/>
                <a:cs typeface="Courier New" panose="02070309020205020404" pitchFamily="49" charset="0"/>
              </a:rPr>
              <a:t> { ... }</a:t>
            </a:r>
          </a:p>
        </p:txBody>
      </p:sp>
      <p:sp>
        <p:nvSpPr>
          <p:cNvPr id="4" name="Развернутая стрелка 3">
            <a:hlinkClick r:id="rId2" action="ppaction://hlinksldjump"/>
          </p:cNvPr>
          <p:cNvSpPr/>
          <p:nvPr/>
        </p:nvSpPr>
        <p:spPr>
          <a:xfrm rot="10800000">
            <a:off x="11439427" y="6061435"/>
            <a:ext cx="556181" cy="603315"/>
          </a:xfrm>
          <a:prstGeom prst="uturnArrow">
            <a:avLst>
              <a:gd name="adj1" fmla="val 26695"/>
              <a:gd name="adj2" fmla="val 19915"/>
              <a:gd name="adj3" fmla="val 33475"/>
              <a:gd name="adj4" fmla="val 46293"/>
              <a:gd name="adj5" fmla="val 10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1216377539"/>
      </p:ext>
    </p:extLst>
  </p:cSld>
  <p:clrMapOvr>
    <a:masterClrMapping/>
  </p:clrMapOvr>
  <p:transition spd="slow" advClick="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75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750" fill="hold"/>
                                        <p:tgtEl>
                                          <p:spTgt spid="3">
                                            <p:txEl>
                                              <p:pRg st="0" end="0"/>
                                            </p:txEl>
                                          </p:spTgt>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750"/>
                                        <p:tgtEl>
                                          <p:spTgt spid="7"/>
                                        </p:tgtEl>
                                      </p:cBhvr>
                                    </p:animEffect>
                                  </p:childTnLst>
                                </p:cTn>
                              </p:par>
                              <p:par>
                                <p:cTn id="12" presetID="10" presetClass="entr" presetSubtype="0" fill="hold" grpId="0" nodeType="withEffect">
                                  <p:stCondLst>
                                    <p:cond delay="10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7937369" y="66108"/>
            <a:ext cx="3733015" cy="1323439"/>
          </a:xfrm>
          <a:prstGeom prst="rect">
            <a:avLst/>
          </a:prstGeom>
        </p:spPr>
        <p:txBody>
          <a:bodyPr wrap="square">
            <a:spAutoFit/>
          </a:bodyPr>
          <a:lstStyle/>
          <a:p>
            <a:r>
              <a:rPr lang="en-US" sz="4000" cap="all" spc="200" dirty="0">
                <a:solidFill>
                  <a:srgbClr val="AD84C6"/>
                </a:solidFill>
                <a:latin typeface="Impact" panose="020B0806030902050204"/>
                <a:ea typeface="+mj-ea"/>
                <a:cs typeface="+mj-cs"/>
              </a:rPr>
              <a:t>Use of Inheritance</a:t>
            </a:r>
          </a:p>
        </p:txBody>
      </p:sp>
      <p:sp>
        <p:nvSpPr>
          <p:cNvPr id="3" name="Прямоугольник 2"/>
          <p:cNvSpPr/>
          <p:nvPr/>
        </p:nvSpPr>
        <p:spPr>
          <a:xfrm>
            <a:off x="7937369" y="1402781"/>
            <a:ext cx="3733015" cy="3785652"/>
          </a:xfrm>
          <a:prstGeom prst="rect">
            <a:avLst/>
          </a:prstGeom>
        </p:spPr>
        <p:txBody>
          <a:bodyPr wrap="square">
            <a:spAutoFit/>
          </a:bodyPr>
          <a:lstStyle/>
          <a:p>
            <a:pPr lvl="0" algn="just"/>
            <a:r>
              <a:rPr lang="en-US" sz="2000" dirty="0">
                <a:solidFill>
                  <a:srgbClr val="DCD8DC"/>
                </a:solidFill>
              </a:rPr>
              <a:t>Inheritance is used when declaring the abstract class </a:t>
            </a:r>
            <a:r>
              <a:rPr lang="en-US" sz="2000" dirty="0" err="1">
                <a:solidFill>
                  <a:srgbClr val="DCD8DC"/>
                </a:solidFill>
                <a:latin typeface="Courier New" panose="02070309020205020404" pitchFamily="49" charset="0"/>
                <a:cs typeface="Courier New" panose="02070309020205020404" pitchFamily="49" charset="0"/>
              </a:rPr>
              <a:t>SmartDeviceBase</a:t>
            </a:r>
            <a:r>
              <a:rPr lang="en-US" sz="2000" dirty="0">
                <a:solidFill>
                  <a:srgbClr val="DCD8DC"/>
                </a:solidFill>
              </a:rPr>
              <a:t> as the parent base for the entire hierarchy of smart home components. This avoids code duplication by defining common characteristics such as name and location in one place and ensures that these properties are automatically passed on to all descendant classes.</a:t>
            </a:r>
          </a:p>
        </p:txBody>
      </p:sp>
      <p:sp>
        <p:nvSpPr>
          <p:cNvPr id="7" name="Прямоугольник 6"/>
          <p:cNvSpPr/>
          <p:nvPr/>
        </p:nvSpPr>
        <p:spPr>
          <a:xfrm>
            <a:off x="491187" y="1864446"/>
            <a:ext cx="7031402" cy="3108543"/>
          </a:xfrm>
          <a:prstGeom prst="rect">
            <a:avLst/>
          </a:prstGeom>
        </p:spPr>
        <p:txBody>
          <a:bodyPr wrap="square">
            <a:spAutoFit/>
          </a:bodyPr>
          <a:lstStyle/>
          <a:p>
            <a:pPr lvl="0"/>
            <a:r>
              <a:rPr lang="en-US" sz="1400" b="1" dirty="0">
                <a:solidFill>
                  <a:srgbClr val="373545"/>
                </a:solidFill>
                <a:latin typeface="Courier New" panose="02070309020205020404" pitchFamily="49" charset="0"/>
                <a:cs typeface="Courier New" panose="02070309020205020404" pitchFamily="49" charset="0"/>
              </a:rPr>
              <a:t>// Base class from which all devices inherit</a:t>
            </a:r>
          </a:p>
          <a:p>
            <a:pPr lvl="0"/>
            <a:r>
              <a:rPr lang="en-US" sz="1400" b="1" dirty="0">
                <a:solidFill>
                  <a:srgbClr val="373545"/>
                </a:solidFill>
                <a:latin typeface="Courier New" panose="02070309020205020404" pitchFamily="49" charset="0"/>
                <a:cs typeface="Courier New" panose="02070309020205020404" pitchFamily="49" charset="0"/>
              </a:rPr>
              <a:t>public abstract class </a:t>
            </a:r>
            <a:r>
              <a:rPr lang="en-US" sz="1400" b="1" dirty="0" err="1">
                <a:solidFill>
                  <a:srgbClr val="373545"/>
                </a:solidFill>
                <a:latin typeface="Courier New" panose="02070309020205020404" pitchFamily="49" charset="0"/>
                <a:cs typeface="Courier New" panose="02070309020205020404" pitchFamily="49" charset="0"/>
              </a:rPr>
              <a:t>SmartDeviceBase</a:t>
            </a:r>
            <a:r>
              <a:rPr lang="en-US" sz="1400" b="1" dirty="0">
                <a:solidFill>
                  <a:srgbClr val="373545"/>
                </a:solidFill>
                <a:latin typeface="Courier New" panose="02070309020205020404" pitchFamily="49" charset="0"/>
                <a:cs typeface="Courier New" panose="02070309020205020404" pitchFamily="49" charset="0"/>
              </a:rPr>
              <a:t> : </a:t>
            </a:r>
            <a:r>
              <a:rPr lang="en-US" sz="1400" b="1" dirty="0" err="1">
                <a:solidFill>
                  <a:srgbClr val="373545"/>
                </a:solidFill>
                <a:latin typeface="Courier New" panose="02070309020205020404" pitchFamily="49" charset="0"/>
                <a:cs typeface="Courier New" panose="02070309020205020404" pitchFamily="49" charset="0"/>
              </a:rPr>
              <a:t>INotifyPropertyChanged</a:t>
            </a:r>
            <a:endParaRPr lang="en-US" sz="1400" b="1" dirty="0">
              <a:solidFill>
                <a:srgbClr val="373545"/>
              </a:solidFill>
              <a:latin typeface="Courier New" panose="02070309020205020404" pitchFamily="49" charset="0"/>
              <a:cs typeface="Courier New" panose="02070309020205020404" pitchFamily="49" charset="0"/>
            </a:endParaRPr>
          </a:p>
          <a:p>
            <a:pPr lvl="0"/>
            <a:r>
              <a:rPr lang="en-US" sz="1400" b="1" dirty="0">
                <a:solidFill>
                  <a:srgbClr val="373545"/>
                </a:solidFill>
                <a:latin typeface="Courier New" panose="02070309020205020404" pitchFamily="49" charset="0"/>
                <a:cs typeface="Courier New" panose="02070309020205020404" pitchFamily="49" charset="0"/>
              </a:rPr>
              <a:t>{</a:t>
            </a:r>
          </a:p>
          <a:p>
            <a:pPr lvl="0"/>
            <a:r>
              <a:rPr lang="en-US" sz="1400" b="1" dirty="0">
                <a:solidFill>
                  <a:srgbClr val="373545"/>
                </a:solidFill>
                <a:latin typeface="Courier New" panose="02070309020205020404" pitchFamily="49" charset="0"/>
                <a:cs typeface="Courier New" panose="02070309020205020404" pitchFamily="49" charset="0"/>
              </a:rPr>
              <a:t>    public string Name { get; }</a:t>
            </a:r>
          </a:p>
          <a:p>
            <a:pPr lvl="0"/>
            <a:r>
              <a:rPr lang="en-US" sz="1400" b="1" dirty="0">
                <a:solidFill>
                  <a:srgbClr val="373545"/>
                </a:solidFill>
                <a:latin typeface="Courier New" panose="02070309020205020404" pitchFamily="49" charset="0"/>
                <a:cs typeface="Courier New" panose="02070309020205020404" pitchFamily="49" charset="0"/>
              </a:rPr>
              <a:t>    public Point Position { get; set; }</a:t>
            </a:r>
          </a:p>
          <a:p>
            <a:pPr lvl="0"/>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protected </a:t>
            </a:r>
            <a:r>
              <a:rPr lang="en-US" sz="1400" b="1" dirty="0" err="1">
                <a:solidFill>
                  <a:srgbClr val="373545"/>
                </a:solidFill>
                <a:latin typeface="Courier New" panose="02070309020205020404" pitchFamily="49" charset="0"/>
                <a:cs typeface="Courier New" panose="02070309020205020404" pitchFamily="49" charset="0"/>
              </a:rPr>
              <a:t>SmartDeviceBase</a:t>
            </a:r>
            <a:r>
              <a:rPr lang="en-US" sz="1400" b="1" dirty="0">
                <a:solidFill>
                  <a:srgbClr val="373545"/>
                </a:solidFill>
                <a:latin typeface="Courier New" panose="02070309020205020404" pitchFamily="49" charset="0"/>
                <a:cs typeface="Courier New" panose="02070309020205020404" pitchFamily="49" charset="0"/>
              </a:rPr>
              <a:t>(string name, string id, Room </a:t>
            </a:r>
            <a:r>
              <a:rPr lang="en-US" sz="1400" b="1" dirty="0" err="1" smtClean="0">
                <a:solidFill>
                  <a:srgbClr val="373545"/>
                </a:solidFill>
                <a:latin typeface="Courier New" panose="02070309020205020404" pitchFamily="49" charset="0"/>
                <a:cs typeface="Courier New" panose="02070309020205020404" pitchFamily="49" charset="0"/>
              </a:rPr>
              <a:t>room</a:t>
            </a:r>
            <a:r>
              <a:rPr lang="en-US" sz="1400" b="1" dirty="0" smtClean="0">
                <a:solidFill>
                  <a:srgbClr val="373545"/>
                </a:solidFill>
                <a:latin typeface="Courier New" panose="02070309020205020404" pitchFamily="49" charset="0"/>
                <a:cs typeface="Courier New" panose="02070309020205020404" pitchFamily="49" charset="0"/>
              </a:rPr>
              <a:t>,</a:t>
            </a:r>
            <a:r>
              <a:rPr lang="ru-RU" sz="1400" b="1" dirty="0" smtClean="0">
                <a:solidFill>
                  <a:srgbClr val="373545"/>
                </a:solidFill>
                <a:latin typeface="Courier New" panose="02070309020205020404" pitchFamily="49" charset="0"/>
                <a:cs typeface="Courier New" panose="02070309020205020404" pitchFamily="49" charset="0"/>
              </a:rPr>
              <a:t> </a:t>
            </a:r>
            <a:r>
              <a:rPr lang="en-US" sz="1400" b="1" dirty="0" smtClean="0">
                <a:solidFill>
                  <a:srgbClr val="373545"/>
                </a:solidFill>
                <a:latin typeface="Courier New" panose="02070309020205020404" pitchFamily="49" charset="0"/>
                <a:cs typeface="Courier New" panose="02070309020205020404" pitchFamily="49" charset="0"/>
              </a:rPr>
              <a:t>Point </a:t>
            </a:r>
            <a:r>
              <a:rPr lang="en-US" sz="1400" b="1" dirty="0">
                <a:solidFill>
                  <a:srgbClr val="373545"/>
                </a:solidFill>
                <a:latin typeface="Courier New" panose="02070309020205020404" pitchFamily="49" charset="0"/>
                <a:cs typeface="Courier New" panose="02070309020205020404" pitchFamily="49" charset="0"/>
              </a:rPr>
              <a:t>position, Size </a:t>
            </a:r>
            <a:r>
              <a:rPr lang="en-US" sz="1400" b="1" dirty="0" err="1">
                <a:solidFill>
                  <a:srgbClr val="373545"/>
                </a:solidFill>
                <a:latin typeface="Courier New" panose="02070309020205020404" pitchFamily="49" charset="0"/>
                <a:cs typeface="Courier New" panose="02070309020205020404" pitchFamily="49" charset="0"/>
              </a:rPr>
              <a:t>size</a:t>
            </a:r>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MainWindow</a:t>
            </a:r>
            <a:r>
              <a:rPr lang="en-US" sz="1400" b="1" dirty="0">
                <a:solidFill>
                  <a:srgbClr val="373545"/>
                </a:solidFill>
                <a:latin typeface="Courier New" panose="02070309020205020404" pitchFamily="49" charset="0"/>
                <a:cs typeface="Courier New" panose="02070309020205020404" pitchFamily="49" charset="0"/>
              </a:rPr>
              <a:t> mw)</a:t>
            </a:r>
          </a:p>
          <a:p>
            <a:pPr lvl="0"/>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Name = name;</a:t>
            </a:r>
          </a:p>
          <a:p>
            <a:pPr lvl="0"/>
            <a:r>
              <a:rPr lang="en-US" sz="1400" b="1" dirty="0">
                <a:solidFill>
                  <a:srgbClr val="373545"/>
                </a:solidFill>
                <a:latin typeface="Courier New" panose="02070309020205020404" pitchFamily="49" charset="0"/>
                <a:cs typeface="Courier New" panose="02070309020205020404" pitchFamily="49" charset="0"/>
              </a:rPr>
              <a:t>        Position = position;</a:t>
            </a:r>
          </a:p>
          <a:p>
            <a:pPr lvl="0"/>
            <a:r>
              <a:rPr lang="en-US" sz="1400" b="1" dirty="0">
                <a:solidFill>
                  <a:srgbClr val="373545"/>
                </a:solidFill>
                <a:latin typeface="Courier New" panose="02070309020205020404" pitchFamily="49" charset="0"/>
                <a:cs typeface="Courier New" panose="02070309020205020404" pitchFamily="49" charset="0"/>
              </a:rPr>
              <a:t>        // ... initialization of other common fields</a:t>
            </a:r>
          </a:p>
          <a:p>
            <a:pPr lvl="0"/>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78251348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2" presetClass="entr" presetSubtype="2" fill="hold" nodeType="withEffect">
                                  <p:stCondLst>
                                    <p:cond delay="500"/>
                                  </p:stCondLst>
                                  <p:childTnLst>
                                    <p:set>
                                      <p:cBhvr>
                                        <p:cTn id="9" dur="1" fill="hold">
                                          <p:stCondLst>
                                            <p:cond delay="0"/>
                                          </p:stCondLst>
                                        </p:cTn>
                                        <p:tgtEl>
                                          <p:spTgt spid="3">
                                            <p:txEl>
                                              <p:pRg st="0" end="0"/>
                                            </p:txEl>
                                          </p:spTgt>
                                        </p:tgtEl>
                                        <p:attrNameLst>
                                          <p:attrName>style.visibility</p:attrName>
                                        </p:attrNameLst>
                                      </p:cBhvr>
                                      <p:to>
                                        <p:strVal val="visible"/>
                                      </p:to>
                                    </p:set>
                                    <p:anim calcmode="lin" valueType="num">
                                      <p:cBhvr additive="base">
                                        <p:cTn id="10" dur="75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11" dur="750" fill="hold"/>
                                        <p:tgtEl>
                                          <p:spTgt spid="3">
                                            <p:txEl>
                                              <p:pRg st="0" end="0"/>
                                            </p:txEl>
                                          </p:spTgt>
                                        </p:tgtEl>
                                        <p:attrNameLst>
                                          <p:attrName>ppt_y</p:attrName>
                                        </p:attrNameLst>
                                      </p:cBhvr>
                                      <p:tavLst>
                                        <p:tav tm="0">
                                          <p:val>
                                            <p:strVal val="#ppt_y"/>
                                          </p:val>
                                        </p:tav>
                                        <p:tav tm="100000">
                                          <p:val>
                                            <p:strVal val="#ppt_y"/>
                                          </p:val>
                                        </p:tav>
                                      </p:tavLst>
                                    </p:anim>
                                  </p:childTnLst>
                                </p:cTn>
                              </p:par>
                              <p:par>
                                <p:cTn id="12" presetID="10" presetClass="entr" presetSubtype="0" fill="hold" grpId="0" nodeType="withEffect">
                                  <p:stCondLst>
                                    <p:cond delay="100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7984503" y="365833"/>
            <a:ext cx="3733015" cy="3477875"/>
          </a:xfrm>
          <a:prstGeom prst="rect">
            <a:avLst/>
          </a:prstGeom>
        </p:spPr>
        <p:txBody>
          <a:bodyPr wrap="square">
            <a:spAutoFit/>
          </a:bodyPr>
          <a:lstStyle/>
          <a:p>
            <a:pPr lvl="0" algn="just"/>
            <a:r>
              <a:rPr lang="en-US" sz="2000" dirty="0">
                <a:solidFill>
                  <a:srgbClr val="DCD8DC"/>
                </a:solidFill>
              </a:rPr>
              <a:t>Inheritance is </a:t>
            </a:r>
            <a:r>
              <a:rPr lang="en-US" sz="2000" dirty="0" smtClean="0">
                <a:solidFill>
                  <a:srgbClr val="DCD8DC"/>
                </a:solidFill>
              </a:rPr>
              <a:t>used, as example, </a:t>
            </a:r>
            <a:r>
              <a:rPr lang="en-US" sz="2000" dirty="0">
                <a:solidFill>
                  <a:srgbClr val="DCD8DC"/>
                </a:solidFill>
              </a:rPr>
              <a:t>in the </a:t>
            </a:r>
            <a:r>
              <a:rPr lang="en-US" sz="2000" dirty="0" err="1" smtClean="0">
                <a:solidFill>
                  <a:srgbClr val="DCD8DC"/>
                </a:solidFill>
                <a:latin typeface="Courier New" panose="02070309020205020404" pitchFamily="49" charset="0"/>
                <a:cs typeface="Courier New" panose="02070309020205020404" pitchFamily="49" charset="0"/>
              </a:rPr>
              <a:t>WindowDevice</a:t>
            </a:r>
            <a:r>
              <a:rPr lang="en-US" sz="2000" dirty="0" smtClean="0">
                <a:solidFill>
                  <a:srgbClr val="DCD8DC"/>
                </a:solidFill>
              </a:rPr>
              <a:t> </a:t>
            </a:r>
            <a:r>
              <a:rPr lang="en-US" sz="2000" dirty="0">
                <a:solidFill>
                  <a:srgbClr val="DCD8DC"/>
                </a:solidFill>
              </a:rPr>
              <a:t>class, which inherits the basic functionality from the parent class </a:t>
            </a:r>
            <a:r>
              <a:rPr lang="en-US" sz="2000" dirty="0" err="1">
                <a:solidFill>
                  <a:srgbClr val="DCD8DC"/>
                </a:solidFill>
                <a:latin typeface="Courier New" panose="02070309020205020404" pitchFamily="49" charset="0"/>
                <a:cs typeface="Courier New" panose="02070309020205020404" pitchFamily="49" charset="0"/>
              </a:rPr>
              <a:t>SmartDeviceBase</a:t>
            </a:r>
            <a:r>
              <a:rPr lang="en-US" sz="2000" dirty="0">
                <a:solidFill>
                  <a:srgbClr val="DCD8DC"/>
                </a:solidFill>
              </a:rPr>
              <a:t> through colon syntax. This allows to avoid rewriting common state saving mechanisms and only override the specific Interact method to implement a unique window response to the hammer tool.</a:t>
            </a:r>
          </a:p>
        </p:txBody>
      </p:sp>
      <p:sp>
        <p:nvSpPr>
          <p:cNvPr id="7" name="Прямоугольник 6"/>
          <p:cNvSpPr/>
          <p:nvPr/>
        </p:nvSpPr>
        <p:spPr>
          <a:xfrm>
            <a:off x="490193" y="1069129"/>
            <a:ext cx="6890994" cy="4832092"/>
          </a:xfrm>
          <a:prstGeom prst="rect">
            <a:avLst/>
          </a:prstGeom>
        </p:spPr>
        <p:txBody>
          <a:bodyPr wrap="square">
            <a:spAutoFit/>
          </a:bodyPr>
          <a:lstStyle/>
          <a:p>
            <a:pPr lvl="0"/>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WindowDevice</a:t>
            </a:r>
            <a:r>
              <a:rPr lang="en-US" sz="1400" b="1" dirty="0">
                <a:solidFill>
                  <a:srgbClr val="373545"/>
                </a:solidFill>
                <a:latin typeface="Courier New" panose="02070309020205020404" pitchFamily="49" charset="0"/>
                <a:cs typeface="Courier New" panose="02070309020205020404" pitchFamily="49" charset="0"/>
              </a:rPr>
              <a:t> is a child of </a:t>
            </a:r>
            <a:r>
              <a:rPr lang="en-US" sz="1400" b="1" dirty="0" err="1">
                <a:solidFill>
                  <a:srgbClr val="373545"/>
                </a:solidFill>
                <a:latin typeface="Courier New" panose="02070309020205020404" pitchFamily="49" charset="0"/>
                <a:cs typeface="Courier New" panose="02070309020205020404" pitchFamily="49" charset="0"/>
              </a:rPr>
              <a:t>SmartDeviceBase</a:t>
            </a:r>
            <a:endParaRPr lang="en-US" sz="1400" b="1" dirty="0">
              <a:solidFill>
                <a:srgbClr val="373545"/>
              </a:solidFill>
              <a:latin typeface="Courier New" panose="02070309020205020404" pitchFamily="49" charset="0"/>
              <a:cs typeface="Courier New" panose="02070309020205020404" pitchFamily="49" charset="0"/>
            </a:endParaRPr>
          </a:p>
          <a:p>
            <a:pPr lvl="0"/>
            <a:r>
              <a:rPr lang="en-US" sz="1400" b="1" dirty="0">
                <a:solidFill>
                  <a:srgbClr val="373545"/>
                </a:solidFill>
                <a:latin typeface="Courier New" panose="02070309020205020404" pitchFamily="49" charset="0"/>
                <a:cs typeface="Courier New" panose="02070309020205020404" pitchFamily="49" charset="0"/>
              </a:rPr>
              <a:t>public class </a:t>
            </a:r>
            <a:r>
              <a:rPr lang="en-US" sz="1400" b="1" dirty="0" err="1">
                <a:solidFill>
                  <a:srgbClr val="373545"/>
                </a:solidFill>
                <a:latin typeface="Courier New" panose="02070309020205020404" pitchFamily="49" charset="0"/>
                <a:cs typeface="Courier New" panose="02070309020205020404" pitchFamily="49" charset="0"/>
              </a:rPr>
              <a:t>WindowDevice</a:t>
            </a:r>
            <a:r>
              <a:rPr lang="en-US" sz="1400" b="1" dirty="0">
                <a:solidFill>
                  <a:srgbClr val="373545"/>
                </a:solidFill>
                <a:latin typeface="Courier New" panose="02070309020205020404" pitchFamily="49" charset="0"/>
                <a:cs typeface="Courier New" panose="02070309020205020404" pitchFamily="49" charset="0"/>
              </a:rPr>
              <a:t> : </a:t>
            </a:r>
            <a:r>
              <a:rPr lang="en-US" sz="1400" b="1" dirty="0" err="1">
                <a:solidFill>
                  <a:srgbClr val="373545"/>
                </a:solidFill>
                <a:latin typeface="Courier New" panose="02070309020205020404" pitchFamily="49" charset="0"/>
                <a:cs typeface="Courier New" panose="02070309020205020404" pitchFamily="49" charset="0"/>
              </a:rPr>
              <a:t>SmartDeviceBase</a:t>
            </a:r>
            <a:endParaRPr lang="en-US" sz="1400" b="1" dirty="0">
              <a:solidFill>
                <a:srgbClr val="373545"/>
              </a:solidFill>
              <a:latin typeface="Courier New" panose="02070309020205020404" pitchFamily="49" charset="0"/>
              <a:cs typeface="Courier New" panose="02070309020205020404" pitchFamily="49" charset="0"/>
            </a:endParaRPr>
          </a:p>
          <a:p>
            <a:pPr lvl="0"/>
            <a:r>
              <a:rPr lang="en-US" sz="1400" b="1" dirty="0">
                <a:solidFill>
                  <a:srgbClr val="373545"/>
                </a:solidFill>
                <a:latin typeface="Courier New" panose="02070309020205020404" pitchFamily="49" charset="0"/>
                <a:cs typeface="Courier New" panose="02070309020205020404" pitchFamily="49" charset="0"/>
              </a:rPr>
              <a:t>{</a:t>
            </a:r>
          </a:p>
          <a:p>
            <a:pPr lvl="0"/>
            <a:r>
              <a:rPr lang="en-US" sz="1400" b="1" dirty="0">
                <a:solidFill>
                  <a:srgbClr val="373545"/>
                </a:solidFill>
                <a:latin typeface="Courier New" panose="02070309020205020404" pitchFamily="49" charset="0"/>
                <a:cs typeface="Courier New" panose="02070309020205020404" pitchFamily="49" charset="0"/>
              </a:rPr>
              <a:t>    // The constructor passes parameters to the base class</a:t>
            </a:r>
          </a:p>
          <a:p>
            <a:pPr lvl="0"/>
            <a:r>
              <a:rPr lang="en-US" sz="1400" b="1" dirty="0">
                <a:solidFill>
                  <a:srgbClr val="373545"/>
                </a:solidFill>
                <a:latin typeface="Courier New" panose="02070309020205020404" pitchFamily="49" charset="0"/>
                <a:cs typeface="Courier New" panose="02070309020205020404" pitchFamily="49" charset="0"/>
              </a:rPr>
              <a:t>    public </a:t>
            </a:r>
            <a:r>
              <a:rPr lang="en-US" sz="1400" b="1" dirty="0" err="1">
                <a:solidFill>
                  <a:srgbClr val="373545"/>
                </a:solidFill>
                <a:latin typeface="Courier New" panose="02070309020205020404" pitchFamily="49" charset="0"/>
                <a:cs typeface="Courier New" panose="02070309020205020404" pitchFamily="49" charset="0"/>
              </a:rPr>
              <a:t>WindowDevice</a:t>
            </a:r>
            <a:r>
              <a:rPr lang="en-US" sz="1400" b="1" dirty="0">
                <a:solidFill>
                  <a:srgbClr val="373545"/>
                </a:solidFill>
                <a:latin typeface="Courier New" panose="02070309020205020404" pitchFamily="49" charset="0"/>
                <a:cs typeface="Courier New" panose="02070309020205020404" pitchFamily="49" charset="0"/>
              </a:rPr>
              <a:t>(string name, string id, Room </a:t>
            </a:r>
            <a:r>
              <a:rPr lang="en-US" sz="1400" b="1" dirty="0" err="1">
                <a:solidFill>
                  <a:srgbClr val="373545"/>
                </a:solidFill>
                <a:latin typeface="Courier New" panose="02070309020205020404" pitchFamily="49" charset="0"/>
                <a:cs typeface="Courier New" panose="02070309020205020404" pitchFamily="49" charset="0"/>
              </a:rPr>
              <a:t>room</a:t>
            </a:r>
            <a:r>
              <a:rPr lang="en-US" sz="1400" b="1" dirty="0">
                <a:solidFill>
                  <a:srgbClr val="373545"/>
                </a:solidFill>
                <a:latin typeface="Courier New" panose="02070309020205020404" pitchFamily="49" charset="0"/>
                <a:cs typeface="Courier New" panose="02070309020205020404" pitchFamily="49" charset="0"/>
              </a:rPr>
              <a:t>, Point </a:t>
            </a:r>
            <a:r>
              <a:rPr lang="en-US" sz="1400" b="1" dirty="0" err="1">
                <a:solidFill>
                  <a:srgbClr val="373545"/>
                </a:solidFill>
                <a:latin typeface="Courier New" panose="02070309020205020404" pitchFamily="49" charset="0"/>
                <a:cs typeface="Courier New" panose="02070309020205020404" pitchFamily="49" charset="0"/>
              </a:rPr>
              <a:t>pos</a:t>
            </a:r>
            <a:r>
              <a:rPr lang="en-US" sz="1400" b="1" dirty="0">
                <a:solidFill>
                  <a:srgbClr val="373545"/>
                </a:solidFill>
                <a:latin typeface="Courier New" panose="02070309020205020404" pitchFamily="49" charset="0"/>
                <a:cs typeface="Courier New" panose="02070309020205020404" pitchFamily="49" charset="0"/>
              </a:rPr>
              <a:t>, Size </a:t>
            </a:r>
            <a:r>
              <a:rPr lang="en-US" sz="1400" b="1" dirty="0" err="1">
                <a:solidFill>
                  <a:srgbClr val="373545"/>
                </a:solidFill>
                <a:latin typeface="Courier New" panose="02070309020205020404" pitchFamily="49" charset="0"/>
                <a:cs typeface="Courier New" panose="02070309020205020404" pitchFamily="49" charset="0"/>
              </a:rPr>
              <a:t>size</a:t>
            </a:r>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MainWindow</a:t>
            </a:r>
            <a:r>
              <a:rPr lang="en-US" sz="1400" b="1" dirty="0">
                <a:solidFill>
                  <a:srgbClr val="373545"/>
                </a:solidFill>
                <a:latin typeface="Courier New" panose="02070309020205020404" pitchFamily="49" charset="0"/>
                <a:cs typeface="Courier New" panose="02070309020205020404" pitchFamily="49" charset="0"/>
              </a:rPr>
              <a:t> mw</a:t>
            </a:r>
            <a:r>
              <a:rPr lang="en-US" sz="1400" b="1" dirty="0" smtClean="0">
                <a:solidFill>
                  <a:srgbClr val="373545"/>
                </a:solidFill>
                <a:latin typeface="Courier New" panose="02070309020205020404" pitchFamily="49" charset="0"/>
                <a:cs typeface="Courier New" panose="02070309020205020404" pitchFamily="49" charset="0"/>
              </a:rPr>
              <a:t>)</a:t>
            </a:r>
            <a:r>
              <a:rPr lang="ru-RU" sz="1400" b="1" dirty="0" smtClean="0">
                <a:solidFill>
                  <a:srgbClr val="373545"/>
                </a:solidFill>
                <a:latin typeface="Courier New" panose="02070309020205020404" pitchFamily="49" charset="0"/>
                <a:cs typeface="Courier New" panose="02070309020205020404" pitchFamily="49" charset="0"/>
              </a:rPr>
              <a:t> </a:t>
            </a:r>
            <a:r>
              <a:rPr lang="en-US" sz="1400" b="1" dirty="0" smtClean="0">
                <a:solidFill>
                  <a:srgbClr val="373545"/>
                </a:solidFill>
                <a:latin typeface="Courier New" panose="02070309020205020404" pitchFamily="49" charset="0"/>
                <a:cs typeface="Courier New" panose="02070309020205020404" pitchFamily="49" charset="0"/>
              </a:rPr>
              <a:t>: </a:t>
            </a:r>
            <a:r>
              <a:rPr lang="en-US" sz="1400" b="1" dirty="0">
                <a:solidFill>
                  <a:srgbClr val="373545"/>
                </a:solidFill>
                <a:latin typeface="Courier New" panose="02070309020205020404" pitchFamily="49" charset="0"/>
                <a:cs typeface="Courier New" panose="02070309020205020404" pitchFamily="49" charset="0"/>
              </a:rPr>
              <a:t>base(name, id, room, </a:t>
            </a:r>
            <a:r>
              <a:rPr lang="en-US" sz="1400" b="1" dirty="0" err="1">
                <a:solidFill>
                  <a:srgbClr val="373545"/>
                </a:solidFill>
                <a:latin typeface="Courier New" panose="02070309020205020404" pitchFamily="49" charset="0"/>
                <a:cs typeface="Courier New" panose="02070309020205020404" pitchFamily="49" charset="0"/>
              </a:rPr>
              <a:t>pos</a:t>
            </a:r>
            <a:r>
              <a:rPr lang="en-US" sz="1400" b="1" dirty="0">
                <a:solidFill>
                  <a:srgbClr val="373545"/>
                </a:solidFill>
                <a:latin typeface="Courier New" panose="02070309020205020404" pitchFamily="49" charset="0"/>
                <a:cs typeface="Courier New" panose="02070309020205020404" pitchFamily="49" charset="0"/>
              </a:rPr>
              <a:t>, size, mw) </a:t>
            </a:r>
          </a:p>
          <a:p>
            <a:pPr lvl="0"/>
            <a:r>
              <a:rPr lang="en-US" sz="1400" b="1" dirty="0">
                <a:solidFill>
                  <a:srgbClr val="373545"/>
                </a:solidFill>
                <a:latin typeface="Courier New" panose="02070309020205020404" pitchFamily="49" charset="0"/>
                <a:cs typeface="Courier New" panose="02070309020205020404" pitchFamily="49" charset="0"/>
              </a:rPr>
              <a:t>    { </a:t>
            </a:r>
          </a:p>
          <a:p>
            <a:pPr lvl="0"/>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CurrentState</a:t>
            </a:r>
            <a:r>
              <a:rPr lang="en-US" sz="1400" b="1" dirty="0">
                <a:solidFill>
                  <a:srgbClr val="373545"/>
                </a:solidFill>
                <a:latin typeface="Courier New" panose="02070309020205020404" pitchFamily="49" charset="0"/>
                <a:cs typeface="Courier New" panose="02070309020205020404" pitchFamily="49" charset="0"/>
              </a:rPr>
              <a:t> = </a:t>
            </a:r>
            <a:r>
              <a:rPr lang="en-US" sz="1400" b="1" dirty="0" err="1">
                <a:solidFill>
                  <a:srgbClr val="373545"/>
                </a:solidFill>
                <a:latin typeface="Courier New" panose="02070309020205020404" pitchFamily="49" charset="0"/>
                <a:cs typeface="Courier New" panose="02070309020205020404" pitchFamily="49" charset="0"/>
              </a:rPr>
              <a:t>DeviceState.Working</a:t>
            </a:r>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a:t>
            </a:r>
          </a:p>
          <a:p>
            <a:pPr lvl="0"/>
            <a:endParaRPr lang="en-US" sz="1400" b="1" dirty="0">
              <a:solidFill>
                <a:srgbClr val="373545"/>
              </a:solidFill>
              <a:latin typeface="Courier New" panose="02070309020205020404" pitchFamily="49" charset="0"/>
              <a:cs typeface="Courier New" panose="02070309020205020404" pitchFamily="49" charset="0"/>
            </a:endParaRPr>
          </a:p>
          <a:p>
            <a:pPr lvl="0"/>
            <a:r>
              <a:rPr lang="en-US" sz="1400" b="1" dirty="0">
                <a:solidFill>
                  <a:srgbClr val="373545"/>
                </a:solidFill>
                <a:latin typeface="Courier New" panose="02070309020205020404" pitchFamily="49" charset="0"/>
                <a:cs typeface="Courier New" panose="02070309020205020404" pitchFamily="49" charset="0"/>
              </a:rPr>
              <a:t>    // Override the base class method</a:t>
            </a:r>
          </a:p>
          <a:p>
            <a:pPr lvl="0"/>
            <a:r>
              <a:rPr lang="en-US" sz="1400" b="1" dirty="0">
                <a:solidFill>
                  <a:srgbClr val="373545"/>
                </a:solidFill>
                <a:latin typeface="Courier New" panose="02070309020205020404" pitchFamily="49" charset="0"/>
                <a:cs typeface="Courier New" panose="02070309020205020404" pitchFamily="49" charset="0"/>
              </a:rPr>
              <a:t>    public override void Interact(</a:t>
            </a:r>
            <a:r>
              <a:rPr lang="en-US" sz="1400" b="1" dirty="0" err="1">
                <a:solidFill>
                  <a:srgbClr val="373545"/>
                </a:solidFill>
                <a:latin typeface="Courier New" panose="02070309020205020404" pitchFamily="49" charset="0"/>
                <a:cs typeface="Courier New" panose="02070309020205020404" pitchFamily="49" charset="0"/>
              </a:rPr>
              <a:t>ToolType</a:t>
            </a:r>
            <a:r>
              <a:rPr lang="en-US" sz="1400" b="1" dirty="0">
                <a:solidFill>
                  <a:srgbClr val="373545"/>
                </a:solidFill>
                <a:latin typeface="Courier New" panose="02070309020205020404" pitchFamily="49" charset="0"/>
                <a:cs typeface="Courier New" panose="02070309020205020404" pitchFamily="49" charset="0"/>
              </a:rPr>
              <a:t> tool, bool </a:t>
            </a:r>
            <a:r>
              <a:rPr lang="en-US" sz="1400" b="1" dirty="0" err="1">
                <a:solidFill>
                  <a:srgbClr val="373545"/>
                </a:solidFill>
                <a:latin typeface="Courier New" panose="02070309020205020404" pitchFamily="49" charset="0"/>
                <a:cs typeface="Courier New" panose="02070309020205020404" pitchFamily="49" charset="0"/>
              </a:rPr>
              <a:t>isElectricityOn</a:t>
            </a:r>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TimeSpan</a:t>
            </a:r>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currentTime</a:t>
            </a:r>
            <a:r>
              <a:rPr lang="en-US" sz="1400" b="1" dirty="0">
                <a:solidFill>
                  <a:srgbClr val="373545"/>
                </a:solidFill>
                <a:latin typeface="Courier New" panose="02070309020205020404" pitchFamily="49" charset="0"/>
                <a:cs typeface="Courier New" panose="02070309020205020404" pitchFamily="49" charset="0"/>
              </a:rPr>
              <a:t>)</a:t>
            </a:r>
          </a:p>
          <a:p>
            <a:pPr lvl="0"/>
            <a:r>
              <a:rPr lang="en-US" sz="1400" b="1" dirty="0">
                <a:solidFill>
                  <a:srgbClr val="373545"/>
                </a:solidFill>
                <a:latin typeface="Courier New" panose="02070309020205020404" pitchFamily="49" charset="0"/>
                <a:cs typeface="Courier New" panose="02070309020205020404" pitchFamily="49" charset="0"/>
              </a:rPr>
              <a:t>    { </a:t>
            </a:r>
          </a:p>
          <a:p>
            <a:pPr lvl="0"/>
            <a:r>
              <a:rPr lang="en-US" sz="1400" b="1" dirty="0">
                <a:solidFill>
                  <a:srgbClr val="373545"/>
                </a:solidFill>
                <a:latin typeface="Courier New" panose="02070309020205020404" pitchFamily="49" charset="0"/>
                <a:cs typeface="Courier New" panose="02070309020205020404" pitchFamily="49" charset="0"/>
              </a:rPr>
              <a:t>        if (tool == </a:t>
            </a:r>
            <a:r>
              <a:rPr lang="en-US" sz="1400" b="1" dirty="0" err="1">
                <a:solidFill>
                  <a:srgbClr val="373545"/>
                </a:solidFill>
                <a:latin typeface="Courier New" panose="02070309020205020404" pitchFamily="49" charset="0"/>
                <a:cs typeface="Courier New" panose="02070309020205020404" pitchFamily="49" charset="0"/>
              </a:rPr>
              <a:t>ToolType.Hammer</a:t>
            </a:r>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 </a:t>
            </a:r>
          </a:p>
          <a:p>
            <a:pPr lvl="0"/>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CurrentState</a:t>
            </a:r>
            <a:r>
              <a:rPr lang="en-US" sz="1400" b="1" dirty="0">
                <a:solidFill>
                  <a:srgbClr val="373545"/>
                </a:solidFill>
                <a:latin typeface="Courier New" panose="02070309020205020404" pitchFamily="49" charset="0"/>
                <a:cs typeface="Courier New" panose="02070309020205020404" pitchFamily="49" charset="0"/>
              </a:rPr>
              <a:t> = </a:t>
            </a:r>
            <a:r>
              <a:rPr lang="en-US" sz="1400" b="1" dirty="0" err="1">
                <a:solidFill>
                  <a:srgbClr val="373545"/>
                </a:solidFill>
                <a:latin typeface="Courier New" panose="02070309020205020404" pitchFamily="49" charset="0"/>
                <a:cs typeface="Courier New" panose="02070309020205020404" pitchFamily="49" charset="0"/>
              </a:rPr>
              <a:t>DeviceState.Off</a:t>
            </a:r>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AssociatedRoom.IsBreached</a:t>
            </a:r>
            <a:r>
              <a:rPr lang="en-US" sz="1400" b="1" dirty="0">
                <a:solidFill>
                  <a:srgbClr val="373545"/>
                </a:solidFill>
                <a:latin typeface="Courier New" panose="02070309020205020404" pitchFamily="49" charset="0"/>
                <a:cs typeface="Courier New" panose="02070309020205020404" pitchFamily="49" charset="0"/>
              </a:rPr>
              <a:t> = true; </a:t>
            </a:r>
          </a:p>
          <a:p>
            <a:pPr lvl="0"/>
            <a:r>
              <a:rPr lang="en-US" sz="1400" b="1" dirty="0">
                <a:solidFill>
                  <a:srgbClr val="373545"/>
                </a:solidFill>
                <a:latin typeface="Courier New" panose="02070309020205020404" pitchFamily="49" charset="0"/>
                <a:cs typeface="Courier New" panose="02070309020205020404" pitchFamily="49" charset="0"/>
              </a:rPr>
              <a:t>        } </a:t>
            </a:r>
          </a:p>
          <a:p>
            <a:pPr lvl="0"/>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1965790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75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750" fill="hold"/>
                                        <p:tgtEl>
                                          <p:spTgt spid="3">
                                            <p:txEl>
                                              <p:pRg st="0" end="0"/>
                                            </p:txEl>
                                          </p:spTgt>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7984503" y="365833"/>
            <a:ext cx="3733015" cy="4708981"/>
          </a:xfrm>
          <a:prstGeom prst="rect">
            <a:avLst/>
          </a:prstGeom>
        </p:spPr>
        <p:txBody>
          <a:bodyPr wrap="square">
            <a:spAutoFit/>
          </a:bodyPr>
          <a:lstStyle/>
          <a:p>
            <a:pPr lvl="0" algn="just"/>
            <a:r>
              <a:rPr lang="en-US" sz="2000" dirty="0">
                <a:solidFill>
                  <a:srgbClr val="DCD8DC"/>
                </a:solidFill>
              </a:rPr>
              <a:t>Inheritance is used to create an intermediate abstraction layer through the </a:t>
            </a:r>
            <a:r>
              <a:rPr lang="en-US" sz="2000" dirty="0" err="1">
                <a:solidFill>
                  <a:srgbClr val="DCD8DC"/>
                </a:solidFill>
                <a:latin typeface="Courier New" panose="02070309020205020404" pitchFamily="49" charset="0"/>
                <a:cs typeface="Courier New" panose="02070309020205020404" pitchFamily="49" charset="0"/>
              </a:rPr>
              <a:t>ClimateControlUnit</a:t>
            </a:r>
            <a:r>
              <a:rPr lang="en-US" sz="2000" dirty="0">
                <a:solidFill>
                  <a:srgbClr val="DCD8DC"/>
                </a:solidFill>
              </a:rPr>
              <a:t> class, which combines a group of devices with similar behavior. This makes it possible to move the logic for switching power modes, which is common to both heaters and conditioners, to this intermediate class and significantly simplify the code of the end devices, leaving only unique temperature control algorithms in them.</a:t>
            </a:r>
          </a:p>
        </p:txBody>
      </p:sp>
      <p:sp>
        <p:nvSpPr>
          <p:cNvPr id="7" name="Прямоугольник 6"/>
          <p:cNvSpPr/>
          <p:nvPr/>
        </p:nvSpPr>
        <p:spPr>
          <a:xfrm>
            <a:off x="453480" y="1361359"/>
            <a:ext cx="6871147" cy="4185761"/>
          </a:xfrm>
          <a:prstGeom prst="rect">
            <a:avLst/>
          </a:prstGeom>
        </p:spPr>
        <p:txBody>
          <a:bodyPr wrap="square">
            <a:spAutoFit/>
          </a:bodyPr>
          <a:lstStyle/>
          <a:p>
            <a:pPr lvl="0"/>
            <a:r>
              <a:rPr lang="en-US" sz="1400" b="1" dirty="0">
                <a:solidFill>
                  <a:srgbClr val="373545"/>
                </a:solidFill>
                <a:latin typeface="Courier New" panose="02070309020205020404" pitchFamily="49" charset="0"/>
                <a:cs typeface="Courier New" panose="02070309020205020404" pitchFamily="49" charset="0"/>
              </a:rPr>
              <a:t>// Intermediate class inherits from </a:t>
            </a:r>
            <a:r>
              <a:rPr lang="en-US" sz="1400" b="1" dirty="0" err="1">
                <a:solidFill>
                  <a:srgbClr val="373545"/>
                </a:solidFill>
                <a:latin typeface="Courier New" panose="02070309020205020404" pitchFamily="49" charset="0"/>
                <a:cs typeface="Courier New" panose="02070309020205020404" pitchFamily="49" charset="0"/>
              </a:rPr>
              <a:t>SmartDeviceBase</a:t>
            </a:r>
            <a:endParaRPr lang="en-US" sz="1400" b="1" dirty="0">
              <a:solidFill>
                <a:srgbClr val="373545"/>
              </a:solidFill>
              <a:latin typeface="Courier New" panose="02070309020205020404" pitchFamily="49" charset="0"/>
              <a:cs typeface="Courier New" panose="02070309020205020404" pitchFamily="49" charset="0"/>
            </a:endParaRPr>
          </a:p>
          <a:p>
            <a:pPr lvl="0"/>
            <a:r>
              <a:rPr lang="en-US" sz="1400" b="1" dirty="0">
                <a:solidFill>
                  <a:srgbClr val="373545"/>
                </a:solidFill>
                <a:latin typeface="Courier New" panose="02070309020205020404" pitchFamily="49" charset="0"/>
                <a:cs typeface="Courier New" panose="02070309020205020404" pitchFamily="49" charset="0"/>
              </a:rPr>
              <a:t>public abstract class </a:t>
            </a:r>
            <a:r>
              <a:rPr lang="en-US" sz="1400" b="1" dirty="0" err="1">
                <a:solidFill>
                  <a:srgbClr val="373545"/>
                </a:solidFill>
                <a:latin typeface="Courier New" panose="02070309020205020404" pitchFamily="49" charset="0"/>
                <a:cs typeface="Courier New" panose="02070309020205020404" pitchFamily="49" charset="0"/>
              </a:rPr>
              <a:t>ClimateControlUnit</a:t>
            </a:r>
            <a:r>
              <a:rPr lang="en-US" sz="1400" b="1" dirty="0">
                <a:solidFill>
                  <a:srgbClr val="373545"/>
                </a:solidFill>
                <a:latin typeface="Courier New" panose="02070309020205020404" pitchFamily="49" charset="0"/>
                <a:cs typeface="Courier New" panose="02070309020205020404" pitchFamily="49" charset="0"/>
              </a:rPr>
              <a:t> : </a:t>
            </a:r>
            <a:r>
              <a:rPr lang="en-US" sz="1400" b="1" dirty="0" err="1">
                <a:solidFill>
                  <a:srgbClr val="373545"/>
                </a:solidFill>
                <a:latin typeface="Courier New" panose="02070309020205020404" pitchFamily="49" charset="0"/>
                <a:cs typeface="Courier New" panose="02070309020205020404" pitchFamily="49" charset="0"/>
              </a:rPr>
              <a:t>SmartDeviceBase</a:t>
            </a:r>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IOnOffToggleable</a:t>
            </a:r>
            <a:endParaRPr lang="en-US" sz="1400" b="1" dirty="0">
              <a:solidFill>
                <a:srgbClr val="373545"/>
              </a:solidFill>
              <a:latin typeface="Courier New" panose="02070309020205020404" pitchFamily="49" charset="0"/>
              <a:cs typeface="Courier New" panose="02070309020205020404" pitchFamily="49" charset="0"/>
            </a:endParaRPr>
          </a:p>
          <a:p>
            <a:pPr lvl="0"/>
            <a:r>
              <a:rPr lang="en-US" sz="1400" b="1" dirty="0">
                <a:solidFill>
                  <a:srgbClr val="373545"/>
                </a:solidFill>
                <a:latin typeface="Courier New" panose="02070309020205020404" pitchFamily="49" charset="0"/>
                <a:cs typeface="Courier New" panose="02070309020205020404" pitchFamily="49" charset="0"/>
              </a:rPr>
              <a:t>{</a:t>
            </a:r>
          </a:p>
          <a:p>
            <a:pPr lvl="0"/>
            <a:r>
              <a:rPr lang="en-US" sz="1400" b="1" dirty="0">
                <a:solidFill>
                  <a:srgbClr val="373545"/>
                </a:solidFill>
                <a:latin typeface="Courier New" panose="02070309020205020404" pitchFamily="49" charset="0"/>
                <a:cs typeface="Courier New" panose="02070309020205020404" pitchFamily="49" charset="0"/>
              </a:rPr>
              <a:t>    // Common logic for all climate control equipment</a:t>
            </a:r>
          </a:p>
          <a:p>
            <a:pPr lvl="0"/>
            <a:r>
              <a:rPr lang="en-US" sz="1400" b="1" dirty="0">
                <a:solidFill>
                  <a:srgbClr val="373545"/>
                </a:solidFill>
                <a:latin typeface="Courier New" panose="02070309020205020404" pitchFamily="49" charset="0"/>
                <a:cs typeface="Courier New" panose="02070309020205020404" pitchFamily="49" charset="0"/>
              </a:rPr>
              <a:t>    public void </a:t>
            </a:r>
            <a:r>
              <a:rPr lang="en-US" sz="1400" b="1" dirty="0" err="1">
                <a:solidFill>
                  <a:srgbClr val="373545"/>
                </a:solidFill>
                <a:latin typeface="Courier New" panose="02070309020205020404" pitchFamily="49" charset="0"/>
                <a:cs typeface="Courier New" panose="02070309020205020404" pitchFamily="49" charset="0"/>
              </a:rPr>
              <a:t>TurnOn</a:t>
            </a:r>
            <a:r>
              <a:rPr lang="en-US" sz="1400" b="1" dirty="0">
                <a:solidFill>
                  <a:srgbClr val="373545"/>
                </a:solidFill>
                <a:latin typeface="Courier New" panose="02070309020205020404" pitchFamily="49" charset="0"/>
                <a:cs typeface="Courier New" panose="02070309020205020404" pitchFamily="49" charset="0"/>
              </a:rPr>
              <a:t>(bool </a:t>
            </a:r>
            <a:r>
              <a:rPr lang="en-US" sz="1400" b="1" dirty="0" err="1">
                <a:solidFill>
                  <a:srgbClr val="373545"/>
                </a:solidFill>
                <a:latin typeface="Courier New" panose="02070309020205020404" pitchFamily="49" charset="0"/>
                <a:cs typeface="Courier New" panose="02070309020205020404" pitchFamily="49" charset="0"/>
              </a:rPr>
              <a:t>isElectricityOn</a:t>
            </a:r>
            <a:r>
              <a:rPr lang="en-US" sz="1400" b="1" dirty="0">
                <a:solidFill>
                  <a:srgbClr val="373545"/>
                </a:solidFill>
                <a:latin typeface="Courier New" panose="02070309020205020404" pitchFamily="49" charset="0"/>
                <a:cs typeface="Courier New" panose="02070309020205020404" pitchFamily="49" charset="0"/>
              </a:rPr>
              <a:t>) { ... }</a:t>
            </a:r>
          </a:p>
          <a:p>
            <a:pPr lvl="0"/>
            <a:r>
              <a:rPr lang="en-US" sz="1400" b="1" dirty="0">
                <a:solidFill>
                  <a:srgbClr val="373545"/>
                </a:solidFill>
                <a:latin typeface="Courier New" panose="02070309020205020404" pitchFamily="49" charset="0"/>
                <a:cs typeface="Courier New" panose="02070309020205020404" pitchFamily="49" charset="0"/>
              </a:rPr>
              <a:t>}</a:t>
            </a:r>
          </a:p>
          <a:p>
            <a:pPr lvl="0"/>
            <a:endParaRPr lang="en-US" sz="1400" b="1" dirty="0">
              <a:solidFill>
                <a:srgbClr val="373545"/>
              </a:solidFill>
              <a:latin typeface="Courier New" panose="02070309020205020404" pitchFamily="49" charset="0"/>
              <a:cs typeface="Courier New" panose="02070309020205020404" pitchFamily="49" charset="0"/>
            </a:endParaRPr>
          </a:p>
          <a:p>
            <a:pPr lvl="0"/>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HeaterDevice</a:t>
            </a:r>
            <a:r>
              <a:rPr lang="en-US" sz="1400" b="1" dirty="0">
                <a:solidFill>
                  <a:srgbClr val="373545"/>
                </a:solidFill>
                <a:latin typeface="Courier New" panose="02070309020205020404" pitchFamily="49" charset="0"/>
                <a:cs typeface="Courier New" panose="02070309020205020404" pitchFamily="49" charset="0"/>
              </a:rPr>
              <a:t> inherits from </a:t>
            </a:r>
            <a:r>
              <a:rPr lang="en-US" sz="1400" b="1" dirty="0" err="1">
                <a:solidFill>
                  <a:srgbClr val="373545"/>
                </a:solidFill>
                <a:latin typeface="Courier New" panose="02070309020205020404" pitchFamily="49" charset="0"/>
                <a:cs typeface="Courier New" panose="02070309020205020404" pitchFamily="49" charset="0"/>
              </a:rPr>
              <a:t>ClimateControlUnit</a:t>
            </a:r>
            <a:r>
              <a:rPr lang="en-US" sz="1400" b="1" dirty="0">
                <a:solidFill>
                  <a:srgbClr val="373545"/>
                </a:solidFill>
                <a:latin typeface="Courier New" panose="02070309020205020404" pitchFamily="49" charset="0"/>
                <a:cs typeface="Courier New" panose="02070309020205020404" pitchFamily="49" charset="0"/>
              </a:rPr>
              <a:t>, receiving its methods</a:t>
            </a:r>
          </a:p>
          <a:p>
            <a:pPr lvl="0"/>
            <a:r>
              <a:rPr lang="en-US" sz="1400" b="1" dirty="0">
                <a:solidFill>
                  <a:srgbClr val="373545"/>
                </a:solidFill>
                <a:latin typeface="Courier New" panose="02070309020205020404" pitchFamily="49" charset="0"/>
                <a:cs typeface="Courier New" panose="02070309020205020404" pitchFamily="49" charset="0"/>
              </a:rPr>
              <a:t>public class </a:t>
            </a:r>
            <a:r>
              <a:rPr lang="en-US" sz="1400" b="1" dirty="0" err="1">
                <a:solidFill>
                  <a:srgbClr val="373545"/>
                </a:solidFill>
                <a:latin typeface="Courier New" panose="02070309020205020404" pitchFamily="49" charset="0"/>
                <a:cs typeface="Courier New" panose="02070309020205020404" pitchFamily="49" charset="0"/>
              </a:rPr>
              <a:t>HeaterDevice</a:t>
            </a:r>
            <a:r>
              <a:rPr lang="en-US" sz="1400" b="1" dirty="0">
                <a:solidFill>
                  <a:srgbClr val="373545"/>
                </a:solidFill>
                <a:latin typeface="Courier New" panose="02070309020205020404" pitchFamily="49" charset="0"/>
                <a:cs typeface="Courier New" panose="02070309020205020404" pitchFamily="49" charset="0"/>
              </a:rPr>
              <a:t> : </a:t>
            </a:r>
            <a:r>
              <a:rPr lang="en-US" sz="1400" b="1" dirty="0" err="1">
                <a:solidFill>
                  <a:srgbClr val="373545"/>
                </a:solidFill>
                <a:latin typeface="Courier New" panose="02070309020205020404" pitchFamily="49" charset="0"/>
                <a:cs typeface="Courier New" panose="02070309020205020404" pitchFamily="49" charset="0"/>
              </a:rPr>
              <a:t>ClimateControlUnit</a:t>
            </a:r>
            <a:endParaRPr lang="en-US" sz="1400" b="1" dirty="0">
              <a:solidFill>
                <a:srgbClr val="373545"/>
              </a:solidFill>
              <a:latin typeface="Courier New" panose="02070309020205020404" pitchFamily="49" charset="0"/>
              <a:cs typeface="Courier New" panose="02070309020205020404" pitchFamily="49" charset="0"/>
            </a:endParaRPr>
          </a:p>
          <a:p>
            <a:pPr lvl="0"/>
            <a:r>
              <a:rPr lang="en-US" sz="1400" b="1" dirty="0">
                <a:solidFill>
                  <a:srgbClr val="373545"/>
                </a:solidFill>
                <a:latin typeface="Courier New" panose="02070309020205020404" pitchFamily="49" charset="0"/>
                <a:cs typeface="Courier New" panose="02070309020205020404" pitchFamily="49" charset="0"/>
              </a:rPr>
              <a:t>{</a:t>
            </a:r>
          </a:p>
          <a:p>
            <a:pPr lvl="0"/>
            <a:r>
              <a:rPr lang="en-US" sz="1400" b="1" dirty="0">
                <a:solidFill>
                  <a:srgbClr val="373545"/>
                </a:solidFill>
                <a:latin typeface="Courier New" panose="02070309020205020404" pitchFamily="49" charset="0"/>
                <a:cs typeface="Courier New" panose="02070309020205020404" pitchFamily="49" charset="0"/>
              </a:rPr>
              <a:t>    public override void </a:t>
            </a:r>
            <a:r>
              <a:rPr lang="en-US" sz="1400" b="1" dirty="0" err="1">
                <a:solidFill>
                  <a:srgbClr val="373545"/>
                </a:solidFill>
                <a:latin typeface="Courier New" panose="02070309020205020404" pitchFamily="49" charset="0"/>
                <a:cs typeface="Courier New" panose="02070309020205020404" pitchFamily="49" charset="0"/>
              </a:rPr>
              <a:t>UpdateState</a:t>
            </a:r>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 Only unique temperature checking logic here</a:t>
            </a:r>
          </a:p>
          <a:p>
            <a:pPr lvl="0"/>
            <a:r>
              <a:rPr lang="en-US" sz="1400" b="1" dirty="0">
                <a:solidFill>
                  <a:srgbClr val="373545"/>
                </a:solidFill>
                <a:latin typeface="Courier New" panose="02070309020205020404" pitchFamily="49" charset="0"/>
                <a:cs typeface="Courier New" panose="02070309020205020404" pitchFamily="49" charset="0"/>
              </a:rPr>
              <a:t>        // </a:t>
            </a:r>
            <a:r>
              <a:rPr lang="en-US" sz="1400" b="1" dirty="0" err="1">
                <a:solidFill>
                  <a:srgbClr val="373545"/>
                </a:solidFill>
                <a:latin typeface="Courier New" panose="02070309020205020404" pitchFamily="49" charset="0"/>
                <a:cs typeface="Courier New" panose="02070309020205020404" pitchFamily="49" charset="0"/>
              </a:rPr>
              <a:t>TurnOn</a:t>
            </a:r>
            <a:r>
              <a:rPr lang="en-US" sz="1400" b="1" dirty="0">
                <a:solidFill>
                  <a:srgbClr val="373545"/>
                </a:solidFill>
                <a:latin typeface="Courier New" panose="02070309020205020404" pitchFamily="49" charset="0"/>
                <a:cs typeface="Courier New" panose="02070309020205020404" pitchFamily="49" charset="0"/>
              </a:rPr>
              <a:t>/</a:t>
            </a:r>
            <a:r>
              <a:rPr lang="en-US" sz="1400" b="1" dirty="0" err="1">
                <a:solidFill>
                  <a:srgbClr val="373545"/>
                </a:solidFill>
                <a:latin typeface="Courier New" panose="02070309020205020404" pitchFamily="49" charset="0"/>
                <a:cs typeface="Courier New" panose="02070309020205020404" pitchFamily="49" charset="0"/>
              </a:rPr>
              <a:t>TurnOff</a:t>
            </a:r>
            <a:r>
              <a:rPr lang="en-US" sz="1400" b="1" dirty="0">
                <a:solidFill>
                  <a:srgbClr val="373545"/>
                </a:solidFill>
                <a:latin typeface="Courier New" panose="02070309020205020404" pitchFamily="49" charset="0"/>
                <a:cs typeface="Courier New" panose="02070309020205020404" pitchFamily="49" charset="0"/>
              </a:rPr>
              <a:t> methods are taken from the parent class</a:t>
            </a:r>
          </a:p>
          <a:p>
            <a:pPr lvl="0"/>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89309980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75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750" fill="hold"/>
                                        <p:tgtEl>
                                          <p:spTgt spid="3">
                                            <p:txEl>
                                              <p:pRg st="0" end="0"/>
                                            </p:txEl>
                                          </p:spTgt>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943676" y="0"/>
            <a:ext cx="4127945" cy="707886"/>
          </a:xfrm>
          <a:prstGeom prst="rect">
            <a:avLst/>
          </a:prstGeom>
        </p:spPr>
        <p:txBody>
          <a:bodyPr wrap="square">
            <a:spAutoFit/>
          </a:bodyPr>
          <a:lstStyle/>
          <a:p>
            <a:r>
              <a:rPr lang="en-US" sz="4000" cap="all" spc="200" dirty="0" smtClean="0">
                <a:solidFill>
                  <a:srgbClr val="373545"/>
                </a:solidFill>
                <a:latin typeface="Impact" panose="020B0806030902050204"/>
                <a:ea typeface="+mj-ea"/>
                <a:cs typeface="+mj-cs"/>
              </a:rPr>
              <a:t>Class diagrams</a:t>
            </a:r>
            <a:endParaRPr lang="en-US" sz="4000" cap="all" spc="200" dirty="0">
              <a:solidFill>
                <a:srgbClr val="373545"/>
              </a:solidFill>
              <a:latin typeface="Impact" panose="020B0806030902050204"/>
              <a:ea typeface="+mj-ea"/>
              <a:cs typeface="+mj-cs"/>
            </a:endParaRPr>
          </a:p>
        </p:txBody>
      </p:sp>
      <p:pic>
        <p:nvPicPr>
          <p:cNvPr id="4" name="Рисунок 3"/>
          <p:cNvPicPr/>
          <p:nvPr/>
        </p:nvPicPr>
        <p:blipFill>
          <a:blip r:embed="rId2"/>
          <a:stretch>
            <a:fillRect/>
          </a:stretch>
        </p:blipFill>
        <p:spPr>
          <a:xfrm>
            <a:off x="2536313" y="707886"/>
            <a:ext cx="7776610" cy="6062819"/>
          </a:xfrm>
          <a:prstGeom prst="rect">
            <a:avLst/>
          </a:prstGeom>
          <a:ln>
            <a:noFill/>
          </a:ln>
          <a:effectLst>
            <a:softEdge rad="63500"/>
          </a:effectLst>
        </p:spPr>
      </p:pic>
    </p:spTree>
    <p:extLst>
      <p:ext uri="{BB962C8B-B14F-4D97-AF65-F5344CB8AC3E}">
        <p14:creationId xmlns:p14="http://schemas.microsoft.com/office/powerpoint/2010/main" val="4650466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6000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750" fill="hold"/>
                                        <p:tgtEl>
                                          <p:spTgt spid="3"/>
                                        </p:tgtEl>
                                        <p:attrNameLst>
                                          <p:attrName>ppt_x</p:attrName>
                                        </p:attrNameLst>
                                      </p:cBhvr>
                                      <p:tavLst>
                                        <p:tav tm="0">
                                          <p:val>
                                            <p:strVal val="0-#ppt_w/2"/>
                                          </p:val>
                                        </p:tav>
                                        <p:tav tm="100000">
                                          <p:val>
                                            <p:strVal val="#ppt_x"/>
                                          </p:val>
                                        </p:tav>
                                      </p:tavLst>
                                    </p:anim>
                                    <p:anim calcmode="lin" valueType="num">
                                      <p:cBhvr additive="base">
                                        <p:cTn id="8" dur="750" fill="hold"/>
                                        <p:tgtEl>
                                          <p:spTgt spid="3"/>
                                        </p:tgtEl>
                                        <p:attrNameLst>
                                          <p:attrName>ppt_y</p:attrName>
                                        </p:attrNameLst>
                                      </p:cBhvr>
                                      <p:tavLst>
                                        <p:tav tm="0">
                                          <p:val>
                                            <p:strVal val="#ppt_y"/>
                                          </p:val>
                                        </p:tav>
                                        <p:tav tm="100000">
                                          <p:val>
                                            <p:strVal val="#ppt_y"/>
                                          </p:val>
                                        </p:tav>
                                      </p:tavLst>
                                    </p:anim>
                                  </p:childTnLst>
                                </p:cTn>
                              </p:par>
                              <p:par>
                                <p:cTn id="9" presetID="10" presetClass="entr" presetSubtype="0" fill="hold" nodeType="withEffect">
                                  <p:stCondLst>
                                    <p:cond delay="500"/>
                                  </p:stCondLst>
                                  <p:childTnLst>
                                    <p:set>
                                      <p:cBhvr>
                                        <p:cTn id="10" dur="1" fill="hold">
                                          <p:stCondLst>
                                            <p:cond delay="0"/>
                                          </p:stCondLst>
                                        </p:cTn>
                                        <p:tgtEl>
                                          <p:spTgt spid="4"/>
                                        </p:tgtEl>
                                        <p:attrNameLst>
                                          <p:attrName>style.visibility</p:attrName>
                                        </p:attrNameLst>
                                      </p:cBhvr>
                                      <p:to>
                                        <p:strVal val="visible"/>
                                      </p:to>
                                    </p:set>
                                    <p:animEffect transition="in" filter="fade">
                                      <p:cBhvr>
                                        <p:cTn id="11"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p:cNvPicPr/>
          <p:nvPr/>
        </p:nvPicPr>
        <p:blipFill>
          <a:blip r:embed="rId2"/>
          <a:stretch>
            <a:fillRect/>
          </a:stretch>
        </p:blipFill>
        <p:spPr>
          <a:xfrm>
            <a:off x="2658863" y="176367"/>
            <a:ext cx="7550366" cy="6423843"/>
          </a:xfrm>
          <a:prstGeom prst="rect">
            <a:avLst/>
          </a:prstGeom>
          <a:ln>
            <a:noFill/>
          </a:ln>
          <a:effectLst>
            <a:softEdge rad="50800"/>
          </a:effectLst>
        </p:spPr>
      </p:pic>
      <p:sp>
        <p:nvSpPr>
          <p:cNvPr id="3" name="Развернутая стрелка 2">
            <a:hlinkClick r:id="rId3" action="ppaction://hlinksldjump"/>
          </p:cNvPr>
          <p:cNvSpPr/>
          <p:nvPr/>
        </p:nvSpPr>
        <p:spPr>
          <a:xfrm rot="10800000">
            <a:off x="11170762" y="6127423"/>
            <a:ext cx="556181" cy="603315"/>
          </a:xfrm>
          <a:prstGeom prst="uturnArrow">
            <a:avLst>
              <a:gd name="adj1" fmla="val 26695"/>
              <a:gd name="adj2" fmla="val 19915"/>
              <a:gd name="adj3" fmla="val 33475"/>
              <a:gd name="adj4" fmla="val 46293"/>
              <a:gd name="adj5" fmla="val 10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2257094148"/>
      </p:ext>
    </p:extLst>
  </p:cSld>
  <p:clrMapOvr>
    <a:masterClrMapping/>
  </p:clrMapOvr>
  <p:transition spd="slow" advClick="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2" presetClass="entr" presetSubtype="2" decel="60000" fill="hold" grpId="0" nodeType="withEffect">
                                  <p:stCondLst>
                                    <p:cond delay="75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ppt_x</p:attrName>
                                        </p:attrNameLst>
                                      </p:cBhvr>
                                      <p:tavLst>
                                        <p:tav tm="0">
                                          <p:val>
                                            <p:strVal val="1+#ppt_w/2"/>
                                          </p:val>
                                        </p:tav>
                                        <p:tav tm="100000">
                                          <p:val>
                                            <p:strVal val="#ppt_x"/>
                                          </p:val>
                                        </p:tav>
                                      </p:tavLst>
                                    </p:anim>
                                    <p:anim calcmode="lin" valueType="num">
                                      <p:cBhvr additive="base">
                                        <p:cTn id="11"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p:cNvSpPr/>
          <p:nvPr/>
        </p:nvSpPr>
        <p:spPr>
          <a:xfrm>
            <a:off x="7937369" y="66108"/>
            <a:ext cx="3733015" cy="1323439"/>
          </a:xfrm>
          <a:prstGeom prst="rect">
            <a:avLst/>
          </a:prstGeom>
        </p:spPr>
        <p:txBody>
          <a:bodyPr wrap="square">
            <a:spAutoFit/>
          </a:bodyPr>
          <a:lstStyle/>
          <a:p>
            <a:r>
              <a:rPr lang="en-US" sz="4000" cap="all" spc="200" dirty="0">
                <a:solidFill>
                  <a:srgbClr val="AD84C6"/>
                </a:solidFill>
                <a:latin typeface="Impact" panose="020B0806030902050204"/>
                <a:ea typeface="+mj-ea"/>
                <a:cs typeface="+mj-cs"/>
              </a:rPr>
              <a:t>Use of Polymorphism </a:t>
            </a:r>
          </a:p>
        </p:txBody>
      </p:sp>
      <p:sp>
        <p:nvSpPr>
          <p:cNvPr id="3" name="Прямоугольник 2"/>
          <p:cNvSpPr/>
          <p:nvPr/>
        </p:nvSpPr>
        <p:spPr>
          <a:xfrm>
            <a:off x="7937369" y="1402781"/>
            <a:ext cx="3733015" cy="5324535"/>
          </a:xfrm>
          <a:prstGeom prst="rect">
            <a:avLst/>
          </a:prstGeom>
        </p:spPr>
        <p:txBody>
          <a:bodyPr wrap="square">
            <a:spAutoFit/>
          </a:bodyPr>
          <a:lstStyle/>
          <a:p>
            <a:pPr lvl="0" algn="just"/>
            <a:r>
              <a:rPr lang="en-US" sz="2000" dirty="0" smtClean="0">
                <a:solidFill>
                  <a:srgbClr val="DCD8DC"/>
                </a:solidFill>
              </a:rPr>
              <a:t>Polymorphism is used in the main simulation timer when iterating over the </a:t>
            </a:r>
            <a:r>
              <a:rPr lang="en-US" sz="2000" dirty="0" smtClean="0">
                <a:solidFill>
                  <a:srgbClr val="DCD8DC"/>
                </a:solidFill>
                <a:latin typeface="Courier New" panose="02070309020205020404" pitchFamily="49" charset="0"/>
                <a:cs typeface="Courier New" panose="02070309020205020404" pitchFamily="49" charset="0"/>
              </a:rPr>
              <a:t>_</a:t>
            </a:r>
            <a:r>
              <a:rPr lang="en-US" sz="2000" dirty="0" err="1" smtClean="0">
                <a:solidFill>
                  <a:srgbClr val="DCD8DC"/>
                </a:solidFill>
                <a:latin typeface="Courier New" panose="02070309020205020404" pitchFamily="49" charset="0"/>
                <a:cs typeface="Courier New" panose="02070309020205020404" pitchFamily="49" charset="0"/>
              </a:rPr>
              <a:t>allDevices</a:t>
            </a:r>
            <a:r>
              <a:rPr lang="en-US" sz="2000" dirty="0" smtClean="0">
                <a:solidFill>
                  <a:srgbClr val="DCD8DC"/>
                </a:solidFill>
              </a:rPr>
              <a:t> list, which stores references to the base type </a:t>
            </a:r>
            <a:r>
              <a:rPr lang="en-US" sz="2000" dirty="0" err="1" smtClean="0">
                <a:solidFill>
                  <a:srgbClr val="DCD8DC"/>
                </a:solidFill>
                <a:latin typeface="Courier New" panose="02070309020205020404" pitchFamily="49" charset="0"/>
                <a:cs typeface="Courier New" panose="02070309020205020404" pitchFamily="49" charset="0"/>
              </a:rPr>
              <a:t>SmartDeviceBase</a:t>
            </a:r>
            <a:r>
              <a:rPr lang="en-US" sz="2000" dirty="0" smtClean="0">
                <a:solidFill>
                  <a:srgbClr val="DCD8DC"/>
                </a:solidFill>
              </a:rPr>
              <a:t>. This allows the central controller to process different objects such as cameras, thermostats, and sprinklers in a single cycle by calling the common </a:t>
            </a:r>
            <a:r>
              <a:rPr lang="en-US" sz="2000" dirty="0" err="1" smtClean="0">
                <a:solidFill>
                  <a:srgbClr val="DCD8DC"/>
                </a:solidFill>
                <a:latin typeface="Courier New" panose="02070309020205020404" pitchFamily="49" charset="0"/>
                <a:cs typeface="Courier New" panose="02070309020205020404" pitchFamily="49" charset="0"/>
              </a:rPr>
              <a:t>UpdateState</a:t>
            </a:r>
            <a:r>
              <a:rPr lang="en-US" sz="2000" dirty="0" smtClean="0">
                <a:solidFill>
                  <a:srgbClr val="DCD8DC"/>
                </a:solidFill>
              </a:rPr>
              <a:t> method for them. Thanks to this approach, the system architecture becomes open for expansion, since adding a new device type does not require changes to the main program cycle code.</a:t>
            </a:r>
            <a:endParaRPr lang="en-US" sz="2000" dirty="0">
              <a:solidFill>
                <a:srgbClr val="DCD8DC"/>
              </a:solidFill>
            </a:endParaRPr>
          </a:p>
        </p:txBody>
      </p:sp>
      <p:sp>
        <p:nvSpPr>
          <p:cNvPr id="7" name="Прямоугольник 6"/>
          <p:cNvSpPr/>
          <p:nvPr/>
        </p:nvSpPr>
        <p:spPr>
          <a:xfrm>
            <a:off x="519467" y="2307506"/>
            <a:ext cx="6692038" cy="2462213"/>
          </a:xfrm>
          <a:prstGeom prst="rect">
            <a:avLst/>
          </a:prstGeom>
        </p:spPr>
        <p:txBody>
          <a:bodyPr wrap="square">
            <a:spAutoFit/>
          </a:bodyPr>
          <a:lstStyle/>
          <a:p>
            <a:pPr lvl="0"/>
            <a:r>
              <a:rPr lang="en-US" sz="1400" b="1" dirty="0" smtClean="0">
                <a:solidFill>
                  <a:srgbClr val="373545"/>
                </a:solidFill>
                <a:latin typeface="Courier New" panose="02070309020205020404" pitchFamily="49" charset="0"/>
                <a:cs typeface="Courier New" panose="02070309020205020404" pitchFamily="49" charset="0"/>
              </a:rPr>
              <a:t>// The _</a:t>
            </a:r>
            <a:r>
              <a:rPr lang="en-US" sz="1400" b="1" dirty="0" err="1" smtClean="0">
                <a:solidFill>
                  <a:srgbClr val="373545"/>
                </a:solidFill>
                <a:latin typeface="Courier New" panose="02070309020205020404" pitchFamily="49" charset="0"/>
                <a:cs typeface="Courier New" panose="02070309020205020404" pitchFamily="49" charset="0"/>
              </a:rPr>
              <a:t>allDevices</a:t>
            </a:r>
            <a:r>
              <a:rPr lang="en-US" sz="1400" b="1" dirty="0" smtClean="0">
                <a:solidFill>
                  <a:srgbClr val="373545"/>
                </a:solidFill>
                <a:latin typeface="Courier New" panose="02070309020205020404" pitchFamily="49" charset="0"/>
                <a:cs typeface="Courier New" panose="02070309020205020404" pitchFamily="49" charset="0"/>
              </a:rPr>
              <a:t> list contains objects of different types (Camera, Heater, Siren)</a:t>
            </a:r>
          </a:p>
          <a:p>
            <a:pPr lvl="0"/>
            <a:r>
              <a:rPr lang="en-US" sz="1400" b="1" dirty="0" err="1" smtClean="0">
                <a:solidFill>
                  <a:srgbClr val="373545"/>
                </a:solidFill>
                <a:latin typeface="Courier New" panose="02070309020205020404" pitchFamily="49" charset="0"/>
                <a:cs typeface="Courier New" panose="02070309020205020404" pitchFamily="49" charset="0"/>
              </a:rPr>
              <a:t>foreach</a:t>
            </a:r>
            <a:r>
              <a:rPr lang="en-US" sz="1400" b="1" dirty="0" smtClean="0">
                <a:solidFill>
                  <a:srgbClr val="373545"/>
                </a:solidFill>
                <a:latin typeface="Courier New" panose="02070309020205020404" pitchFamily="49" charset="0"/>
                <a:cs typeface="Courier New" panose="02070309020205020404" pitchFamily="49" charset="0"/>
              </a:rPr>
              <a:t> (</a:t>
            </a:r>
            <a:r>
              <a:rPr lang="en-US" sz="1400" b="1" dirty="0" err="1" smtClean="0">
                <a:solidFill>
                  <a:srgbClr val="373545"/>
                </a:solidFill>
                <a:latin typeface="Courier New" panose="02070309020205020404" pitchFamily="49" charset="0"/>
                <a:cs typeface="Courier New" panose="02070309020205020404" pitchFamily="49" charset="0"/>
              </a:rPr>
              <a:t>var</a:t>
            </a:r>
            <a:r>
              <a:rPr lang="en-US" sz="1400" b="1" dirty="0" smtClean="0">
                <a:solidFill>
                  <a:srgbClr val="373545"/>
                </a:solidFill>
                <a:latin typeface="Courier New" panose="02070309020205020404" pitchFamily="49" charset="0"/>
                <a:cs typeface="Courier New" panose="02070309020205020404" pitchFamily="49" charset="0"/>
              </a:rPr>
              <a:t> device in _</a:t>
            </a:r>
            <a:r>
              <a:rPr lang="en-US" sz="1400" b="1" dirty="0" err="1" smtClean="0">
                <a:solidFill>
                  <a:srgbClr val="373545"/>
                </a:solidFill>
                <a:latin typeface="Courier New" panose="02070309020205020404" pitchFamily="49" charset="0"/>
                <a:cs typeface="Courier New" panose="02070309020205020404" pitchFamily="49" charset="0"/>
              </a:rPr>
              <a:t>allDevices</a:t>
            </a:r>
            <a:r>
              <a:rPr lang="en-US" sz="1400" b="1" dirty="0" smtClean="0">
                <a:solidFill>
                  <a:srgbClr val="373545"/>
                </a:solidFill>
                <a:latin typeface="Courier New" panose="02070309020205020404" pitchFamily="49" charset="0"/>
                <a:cs typeface="Courier New" panose="02070309020205020404" pitchFamily="49" charset="0"/>
              </a:rPr>
              <a:t>)</a:t>
            </a:r>
          </a:p>
          <a:p>
            <a:pPr lvl="0"/>
            <a:r>
              <a:rPr lang="en-US" sz="1400" b="1" dirty="0" smtClean="0">
                <a:solidFill>
                  <a:srgbClr val="373545"/>
                </a:solidFill>
                <a:latin typeface="Courier New" panose="02070309020205020404" pitchFamily="49" charset="0"/>
                <a:cs typeface="Courier New" panose="02070309020205020404" pitchFamily="49" charset="0"/>
              </a:rPr>
              <a:t>{</a:t>
            </a:r>
          </a:p>
          <a:p>
            <a:pPr lvl="0"/>
            <a:r>
              <a:rPr lang="en-US" sz="1400" b="1" dirty="0" smtClean="0">
                <a:solidFill>
                  <a:srgbClr val="373545"/>
                </a:solidFill>
                <a:latin typeface="Courier New" panose="02070309020205020404" pitchFamily="49" charset="0"/>
                <a:cs typeface="Courier New" panose="02070309020205020404" pitchFamily="49" charset="0"/>
              </a:rPr>
              <a:t>    // Polymorphic call: the version of the method for the specific object is executed</a:t>
            </a:r>
          </a:p>
          <a:p>
            <a:pPr lvl="0"/>
            <a:r>
              <a:rPr lang="en-US" sz="1400" b="1" dirty="0" smtClean="0">
                <a:solidFill>
                  <a:srgbClr val="373545"/>
                </a:solidFill>
                <a:latin typeface="Courier New" panose="02070309020205020404" pitchFamily="49" charset="0"/>
                <a:cs typeface="Courier New" panose="02070309020205020404" pitchFamily="49" charset="0"/>
              </a:rPr>
              <a:t>    // The controller does not know what kind of device it is, but it knows that it can be updated</a:t>
            </a:r>
          </a:p>
          <a:p>
            <a:pPr lvl="0"/>
            <a:r>
              <a:rPr lang="en-US" sz="1400" b="1" dirty="0" smtClean="0">
                <a:solidFill>
                  <a:srgbClr val="373545"/>
                </a:solidFill>
                <a:latin typeface="Courier New" panose="02070309020205020404" pitchFamily="49" charset="0"/>
                <a:cs typeface="Courier New" panose="02070309020205020404" pitchFamily="49" charset="0"/>
              </a:rPr>
              <a:t>    </a:t>
            </a:r>
            <a:r>
              <a:rPr lang="en-US" sz="1400" b="1" dirty="0" err="1" smtClean="0">
                <a:solidFill>
                  <a:srgbClr val="373545"/>
                </a:solidFill>
                <a:latin typeface="Courier New" panose="02070309020205020404" pitchFamily="49" charset="0"/>
                <a:cs typeface="Courier New" panose="02070309020205020404" pitchFamily="49" charset="0"/>
              </a:rPr>
              <a:t>device.UpdateState</a:t>
            </a:r>
            <a:r>
              <a:rPr lang="en-US" sz="1400" b="1" dirty="0" smtClean="0">
                <a:solidFill>
                  <a:srgbClr val="373545"/>
                </a:solidFill>
                <a:latin typeface="Courier New" panose="02070309020205020404" pitchFamily="49" charset="0"/>
                <a:cs typeface="Courier New" panose="02070309020205020404" pitchFamily="49" charset="0"/>
              </a:rPr>
              <a:t>(</a:t>
            </a:r>
            <a:r>
              <a:rPr lang="en-US" sz="1400" b="1" dirty="0" err="1" smtClean="0">
                <a:solidFill>
                  <a:srgbClr val="373545"/>
                </a:solidFill>
                <a:latin typeface="Courier New" panose="02070309020205020404" pitchFamily="49" charset="0"/>
                <a:cs typeface="Courier New" panose="02070309020205020404" pitchFamily="49" charset="0"/>
              </a:rPr>
              <a:t>CurrentSimTime</a:t>
            </a:r>
            <a:r>
              <a:rPr lang="en-US" sz="1400" b="1" dirty="0" smtClean="0">
                <a:solidFill>
                  <a:srgbClr val="373545"/>
                </a:solidFill>
                <a:latin typeface="Courier New" panose="02070309020205020404" pitchFamily="49" charset="0"/>
                <a:cs typeface="Courier New" panose="02070309020205020404" pitchFamily="49" charset="0"/>
              </a:rPr>
              <a:t>, </a:t>
            </a:r>
            <a:r>
              <a:rPr lang="en-US" sz="1400" b="1" dirty="0" err="1" smtClean="0">
                <a:solidFill>
                  <a:srgbClr val="373545"/>
                </a:solidFill>
                <a:latin typeface="Courier New" panose="02070309020205020404" pitchFamily="49" charset="0"/>
                <a:cs typeface="Courier New" panose="02070309020205020404" pitchFamily="49" charset="0"/>
              </a:rPr>
              <a:t>powerFlag</a:t>
            </a:r>
            <a:r>
              <a:rPr lang="en-US" sz="1400" b="1" dirty="0" smtClean="0">
                <a:solidFill>
                  <a:srgbClr val="373545"/>
                </a:solidFill>
                <a:latin typeface="Courier New" panose="02070309020205020404" pitchFamily="49" charset="0"/>
                <a:cs typeface="Courier New" panose="02070309020205020404" pitchFamily="49" charset="0"/>
              </a:rPr>
              <a:t>, </a:t>
            </a:r>
            <a:r>
              <a:rPr lang="en-US" sz="1400" b="1" dirty="0" err="1" smtClean="0">
                <a:solidFill>
                  <a:srgbClr val="373545"/>
                </a:solidFill>
                <a:latin typeface="Courier New" panose="02070309020205020404" pitchFamily="49" charset="0"/>
                <a:cs typeface="Courier New" panose="02070309020205020404" pitchFamily="49" charset="0"/>
              </a:rPr>
              <a:t>device.AssociatedRoom</a:t>
            </a:r>
            <a:r>
              <a:rPr lang="en-US" sz="1400" b="1" dirty="0" smtClean="0">
                <a:solidFill>
                  <a:srgbClr val="373545"/>
                </a:solidFill>
                <a:latin typeface="Courier New" panose="02070309020205020404" pitchFamily="49" charset="0"/>
                <a:cs typeface="Courier New" panose="02070309020205020404" pitchFamily="49" charset="0"/>
              </a:rPr>
              <a:t>);</a:t>
            </a:r>
          </a:p>
          <a:p>
            <a:pPr lvl="0"/>
            <a:r>
              <a:rPr lang="en-US" sz="1400" b="1" dirty="0" smtClean="0">
                <a:solidFill>
                  <a:srgbClr val="373545"/>
                </a:solidFill>
                <a:latin typeface="Courier New" panose="02070309020205020404" pitchFamily="49" charset="0"/>
                <a:cs typeface="Courier New" panose="02070309020205020404" pitchFamily="49" charset="0"/>
              </a:rPr>
              <a:t>}</a:t>
            </a:r>
            <a:endParaRPr lang="en-US" sz="1400" b="1" dirty="0">
              <a:solidFill>
                <a:srgbClr val="373545"/>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1005054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childTnLst>
                                </p:cTn>
                              </p:par>
                              <p:par>
                                <p:cTn id="8" presetID="2" presetClass="entr" presetSubtype="2" fill="hold" nodeType="withEffect">
                                  <p:stCondLst>
                                    <p:cond delay="500"/>
                                  </p:stCondLst>
                                  <p:childTnLst>
                                    <p:set>
                                      <p:cBhvr>
                                        <p:cTn id="9" dur="1" fill="hold">
                                          <p:stCondLst>
                                            <p:cond delay="0"/>
                                          </p:stCondLst>
                                        </p:cTn>
                                        <p:tgtEl>
                                          <p:spTgt spid="3">
                                            <p:txEl>
                                              <p:pRg st="0" end="0"/>
                                            </p:txEl>
                                          </p:spTgt>
                                        </p:tgtEl>
                                        <p:attrNameLst>
                                          <p:attrName>style.visibility</p:attrName>
                                        </p:attrNameLst>
                                      </p:cBhvr>
                                      <p:to>
                                        <p:strVal val="visible"/>
                                      </p:to>
                                    </p:set>
                                    <p:anim calcmode="lin" valueType="num">
                                      <p:cBhvr additive="base">
                                        <p:cTn id="10" dur="75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11" dur="750" fill="hold"/>
                                        <p:tgtEl>
                                          <p:spTgt spid="3">
                                            <p:txEl>
                                              <p:pRg st="0" end="0"/>
                                            </p:txEl>
                                          </p:spTgt>
                                        </p:tgtEl>
                                        <p:attrNameLst>
                                          <p:attrName>ppt_y</p:attrName>
                                        </p:attrNameLst>
                                      </p:cBhvr>
                                      <p:tavLst>
                                        <p:tav tm="0">
                                          <p:val>
                                            <p:strVal val="#ppt_y"/>
                                          </p:val>
                                        </p:tav>
                                        <p:tav tm="100000">
                                          <p:val>
                                            <p:strVal val="#ppt_y"/>
                                          </p:val>
                                        </p:tav>
                                      </p:tavLst>
                                    </p:anim>
                                  </p:childTnLst>
                                </p:cTn>
                              </p:par>
                              <p:par>
                                <p:cTn id="12" presetID="10" presetClass="entr" presetSubtype="0" fill="hold" grpId="0" nodeType="withEffect">
                                  <p:stCondLst>
                                    <p:cond delay="100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7984503" y="365833"/>
            <a:ext cx="3733015" cy="5016758"/>
          </a:xfrm>
          <a:prstGeom prst="rect">
            <a:avLst/>
          </a:prstGeom>
        </p:spPr>
        <p:txBody>
          <a:bodyPr wrap="square">
            <a:spAutoFit/>
          </a:bodyPr>
          <a:lstStyle/>
          <a:p>
            <a:pPr lvl="0" algn="just"/>
            <a:r>
              <a:rPr lang="en-US" sz="2000" dirty="0">
                <a:solidFill>
                  <a:srgbClr val="DCD8DC"/>
                </a:solidFill>
              </a:rPr>
              <a:t>Polymorphism is used directly in the realization of the abstract </a:t>
            </a:r>
            <a:r>
              <a:rPr lang="en-US" sz="2000" dirty="0" err="1">
                <a:solidFill>
                  <a:srgbClr val="DCD8DC"/>
                </a:solidFill>
                <a:latin typeface="Courier New" panose="02070309020205020404" pitchFamily="49" charset="0"/>
                <a:cs typeface="Courier New" panose="02070309020205020404" pitchFamily="49" charset="0"/>
              </a:rPr>
              <a:t>UpdateState</a:t>
            </a:r>
            <a:r>
              <a:rPr lang="en-US" sz="2000" dirty="0">
                <a:solidFill>
                  <a:srgbClr val="DCD8DC"/>
                </a:solidFill>
              </a:rPr>
              <a:t> method in descendant classes, where each device defines its own unique logic for responding to the passage of time. This allows the system to achieve complex component behavior using the same call command. In the example above, the solar panel reacts to the time interval of a day, while the heater ignores time and reacts only to the values of the environmental temperature sensors.</a:t>
            </a:r>
          </a:p>
        </p:txBody>
      </p:sp>
      <p:sp>
        <p:nvSpPr>
          <p:cNvPr id="7" name="Прямоугольник 6"/>
          <p:cNvSpPr/>
          <p:nvPr/>
        </p:nvSpPr>
        <p:spPr>
          <a:xfrm>
            <a:off x="556181" y="1917541"/>
            <a:ext cx="6890994" cy="3108543"/>
          </a:xfrm>
          <a:prstGeom prst="rect">
            <a:avLst/>
          </a:prstGeom>
        </p:spPr>
        <p:txBody>
          <a:bodyPr wrap="square">
            <a:spAutoFit/>
          </a:bodyPr>
          <a:lstStyle/>
          <a:p>
            <a:pPr lvl="0"/>
            <a:r>
              <a:rPr lang="en-US" sz="1400" b="1" dirty="0">
                <a:solidFill>
                  <a:srgbClr val="373545"/>
                </a:solidFill>
                <a:latin typeface="Courier New" panose="02070309020205020404" pitchFamily="49" charset="0"/>
                <a:cs typeface="Courier New" panose="02070309020205020404" pitchFamily="49" charset="0"/>
              </a:rPr>
              <a:t>// Realization for solar panel: depends on time of day</a:t>
            </a:r>
          </a:p>
          <a:p>
            <a:pPr lvl="0"/>
            <a:r>
              <a:rPr lang="en-US" sz="1400" b="1" dirty="0">
                <a:solidFill>
                  <a:srgbClr val="373545"/>
                </a:solidFill>
                <a:latin typeface="Courier New" panose="02070309020205020404" pitchFamily="49" charset="0"/>
                <a:cs typeface="Courier New" panose="02070309020205020404" pitchFamily="49" charset="0"/>
              </a:rPr>
              <a:t>public override void </a:t>
            </a:r>
            <a:r>
              <a:rPr lang="en-US" sz="1400" b="1" dirty="0" err="1">
                <a:solidFill>
                  <a:srgbClr val="373545"/>
                </a:solidFill>
                <a:latin typeface="Courier New" panose="02070309020205020404" pitchFamily="49" charset="0"/>
                <a:cs typeface="Courier New" panose="02070309020205020404" pitchFamily="49" charset="0"/>
              </a:rPr>
              <a:t>UpdateState</a:t>
            </a:r>
            <a:r>
              <a:rPr lang="en-US" sz="1400" b="1" dirty="0">
                <a:solidFill>
                  <a:srgbClr val="373545"/>
                </a:solidFill>
                <a:latin typeface="Courier New" panose="02070309020205020404" pitchFamily="49" charset="0"/>
                <a:cs typeface="Courier New" panose="02070309020205020404" pitchFamily="49" charset="0"/>
              </a:rPr>
              <a:t>(</a:t>
            </a:r>
            <a:r>
              <a:rPr lang="en-US" sz="1400" b="1" dirty="0" err="1">
                <a:solidFill>
                  <a:srgbClr val="373545"/>
                </a:solidFill>
                <a:latin typeface="Courier New" panose="02070309020205020404" pitchFamily="49" charset="0"/>
                <a:cs typeface="Courier New" panose="02070309020205020404" pitchFamily="49" charset="0"/>
              </a:rPr>
              <a:t>TimeSpan</a:t>
            </a:r>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currentTime</a:t>
            </a:r>
            <a:r>
              <a:rPr lang="en-US" sz="1400" b="1" dirty="0">
                <a:solidFill>
                  <a:srgbClr val="373545"/>
                </a:solidFill>
                <a:latin typeface="Courier New" panose="02070309020205020404" pitchFamily="49" charset="0"/>
                <a:cs typeface="Courier New" panose="02070309020205020404" pitchFamily="49" charset="0"/>
              </a:rPr>
              <a:t>, ...) </a:t>
            </a:r>
          </a:p>
          <a:p>
            <a:pPr lvl="0"/>
            <a:r>
              <a:rPr lang="en-US" sz="1400" b="1" dirty="0">
                <a:solidFill>
                  <a:srgbClr val="373545"/>
                </a:solidFill>
                <a:latin typeface="Courier New" panose="02070309020205020404" pitchFamily="49" charset="0"/>
                <a:cs typeface="Courier New" panose="02070309020205020404" pitchFamily="49" charset="0"/>
              </a:rPr>
              <a:t>{</a:t>
            </a:r>
          </a:p>
          <a:p>
            <a:pPr lvl="0"/>
            <a:r>
              <a:rPr lang="en-US" sz="1400" b="1" dirty="0">
                <a:solidFill>
                  <a:srgbClr val="373545"/>
                </a:solidFill>
                <a:latin typeface="Courier New" panose="02070309020205020404" pitchFamily="49" charset="0"/>
                <a:cs typeface="Courier New" panose="02070309020205020404" pitchFamily="49" charset="0"/>
              </a:rPr>
              <a:t>    if (</a:t>
            </a:r>
            <a:r>
              <a:rPr lang="en-US" sz="1400" b="1" dirty="0" err="1">
                <a:solidFill>
                  <a:srgbClr val="373545"/>
                </a:solidFill>
                <a:latin typeface="Courier New" panose="02070309020205020404" pitchFamily="49" charset="0"/>
                <a:cs typeface="Courier New" panose="02070309020205020404" pitchFamily="49" charset="0"/>
              </a:rPr>
              <a:t>currentTime.Hours</a:t>
            </a:r>
            <a:r>
              <a:rPr lang="en-US" sz="1400" b="1" dirty="0">
                <a:solidFill>
                  <a:srgbClr val="373545"/>
                </a:solidFill>
                <a:latin typeface="Courier New" panose="02070309020205020404" pitchFamily="49" charset="0"/>
                <a:cs typeface="Courier New" panose="02070309020205020404" pitchFamily="49" charset="0"/>
              </a:rPr>
              <a:t> &gt;= 8 &amp;&amp; </a:t>
            </a:r>
            <a:r>
              <a:rPr lang="en-US" sz="1400" b="1" dirty="0" err="1">
                <a:solidFill>
                  <a:srgbClr val="373545"/>
                </a:solidFill>
                <a:latin typeface="Courier New" panose="02070309020205020404" pitchFamily="49" charset="0"/>
                <a:cs typeface="Courier New" panose="02070309020205020404" pitchFamily="49" charset="0"/>
              </a:rPr>
              <a:t>currentTime.Hours</a:t>
            </a:r>
            <a:r>
              <a:rPr lang="en-US" sz="1400" b="1" dirty="0">
                <a:solidFill>
                  <a:srgbClr val="373545"/>
                </a:solidFill>
                <a:latin typeface="Courier New" panose="02070309020205020404" pitchFamily="49" charset="0"/>
                <a:cs typeface="Courier New" panose="02070309020205020404" pitchFamily="49" charset="0"/>
              </a:rPr>
              <a:t> &lt; 16) </a:t>
            </a:r>
          </a:p>
          <a:p>
            <a:pPr lvl="0"/>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CurrentState</a:t>
            </a:r>
            <a:r>
              <a:rPr lang="en-US" sz="1400" b="1" dirty="0">
                <a:solidFill>
                  <a:srgbClr val="373545"/>
                </a:solidFill>
                <a:latin typeface="Courier New" panose="02070309020205020404" pitchFamily="49" charset="0"/>
                <a:cs typeface="Courier New" panose="02070309020205020404" pitchFamily="49" charset="0"/>
              </a:rPr>
              <a:t> = </a:t>
            </a:r>
            <a:r>
              <a:rPr lang="en-US" sz="1400" b="1" dirty="0" err="1">
                <a:solidFill>
                  <a:srgbClr val="373545"/>
                </a:solidFill>
                <a:latin typeface="Courier New" panose="02070309020205020404" pitchFamily="49" charset="0"/>
                <a:cs typeface="Courier New" panose="02070309020205020404" pitchFamily="49" charset="0"/>
              </a:rPr>
              <a:t>DeviceState.Working</a:t>
            </a:r>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a:t>
            </a:r>
          </a:p>
          <a:p>
            <a:pPr lvl="0"/>
            <a:endParaRPr lang="en-US" sz="1400" b="1" dirty="0">
              <a:solidFill>
                <a:srgbClr val="373545"/>
              </a:solidFill>
              <a:latin typeface="Courier New" panose="02070309020205020404" pitchFamily="49" charset="0"/>
              <a:cs typeface="Courier New" panose="02070309020205020404" pitchFamily="49" charset="0"/>
            </a:endParaRPr>
          </a:p>
          <a:p>
            <a:pPr lvl="0"/>
            <a:r>
              <a:rPr lang="en-US" sz="1400" b="1" dirty="0">
                <a:solidFill>
                  <a:srgbClr val="373545"/>
                </a:solidFill>
                <a:latin typeface="Courier New" panose="02070309020205020404" pitchFamily="49" charset="0"/>
                <a:cs typeface="Courier New" panose="02070309020205020404" pitchFamily="49" charset="0"/>
              </a:rPr>
              <a:t>// Realization for the heater: depends on the ambient temperature</a:t>
            </a:r>
          </a:p>
          <a:p>
            <a:pPr lvl="0"/>
            <a:r>
              <a:rPr lang="en-US" sz="1400" b="1" dirty="0">
                <a:solidFill>
                  <a:srgbClr val="373545"/>
                </a:solidFill>
                <a:latin typeface="Courier New" panose="02070309020205020404" pitchFamily="49" charset="0"/>
                <a:cs typeface="Courier New" panose="02070309020205020404" pitchFamily="49" charset="0"/>
              </a:rPr>
              <a:t>public override void </a:t>
            </a:r>
            <a:r>
              <a:rPr lang="en-US" sz="1400" b="1" dirty="0" err="1">
                <a:solidFill>
                  <a:srgbClr val="373545"/>
                </a:solidFill>
                <a:latin typeface="Courier New" panose="02070309020205020404" pitchFamily="49" charset="0"/>
                <a:cs typeface="Courier New" panose="02070309020205020404" pitchFamily="49" charset="0"/>
              </a:rPr>
              <a:t>UpdateState</a:t>
            </a:r>
            <a:r>
              <a:rPr lang="en-US" sz="1400" b="1" dirty="0">
                <a:solidFill>
                  <a:srgbClr val="373545"/>
                </a:solidFill>
                <a:latin typeface="Courier New" panose="02070309020205020404" pitchFamily="49" charset="0"/>
                <a:cs typeface="Courier New" panose="02070309020205020404" pitchFamily="49" charset="0"/>
              </a:rPr>
              <a:t>(</a:t>
            </a:r>
            <a:r>
              <a:rPr lang="en-US" sz="1400" b="1" dirty="0" err="1">
                <a:solidFill>
                  <a:srgbClr val="373545"/>
                </a:solidFill>
                <a:latin typeface="Courier New" panose="02070309020205020404" pitchFamily="49" charset="0"/>
                <a:cs typeface="Courier New" panose="02070309020205020404" pitchFamily="49" charset="0"/>
              </a:rPr>
              <a:t>TimeSpan</a:t>
            </a:r>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currentTime</a:t>
            </a:r>
            <a:r>
              <a:rPr lang="en-US" sz="1400" b="1" dirty="0">
                <a:solidFill>
                  <a:srgbClr val="373545"/>
                </a:solidFill>
                <a:latin typeface="Courier New" panose="02070309020205020404" pitchFamily="49" charset="0"/>
                <a:cs typeface="Courier New" panose="02070309020205020404" pitchFamily="49" charset="0"/>
              </a:rPr>
              <a:t>, ...) </a:t>
            </a:r>
          </a:p>
          <a:p>
            <a:pPr lvl="0"/>
            <a:r>
              <a:rPr lang="en-US" sz="1400" b="1" dirty="0">
                <a:solidFill>
                  <a:srgbClr val="373545"/>
                </a:solidFill>
                <a:latin typeface="Courier New" panose="02070309020205020404" pitchFamily="49" charset="0"/>
                <a:cs typeface="Courier New" panose="02070309020205020404" pitchFamily="49" charset="0"/>
              </a:rPr>
              <a:t>{</a:t>
            </a:r>
          </a:p>
          <a:p>
            <a:pPr lvl="0"/>
            <a:r>
              <a:rPr lang="en-US" sz="1400" b="1" dirty="0">
                <a:solidFill>
                  <a:srgbClr val="373545"/>
                </a:solidFill>
                <a:latin typeface="Courier New" panose="02070309020205020404" pitchFamily="49" charset="0"/>
                <a:cs typeface="Courier New" panose="02070309020205020404" pitchFamily="49" charset="0"/>
              </a:rPr>
              <a:t>    if (</a:t>
            </a:r>
            <a:r>
              <a:rPr lang="en-US" sz="1400" b="1" dirty="0" err="1">
                <a:solidFill>
                  <a:srgbClr val="373545"/>
                </a:solidFill>
                <a:latin typeface="Courier New" panose="02070309020205020404" pitchFamily="49" charset="0"/>
                <a:cs typeface="Courier New" panose="02070309020205020404" pitchFamily="49" charset="0"/>
              </a:rPr>
              <a:t>environment.CurrentTemperature</a:t>
            </a:r>
            <a:r>
              <a:rPr lang="en-US" sz="1400" b="1" dirty="0">
                <a:solidFill>
                  <a:srgbClr val="373545"/>
                </a:solidFill>
                <a:latin typeface="Courier New" panose="02070309020205020404" pitchFamily="49" charset="0"/>
                <a:cs typeface="Courier New" panose="02070309020205020404" pitchFamily="49" charset="0"/>
              </a:rPr>
              <a:t> &lt; </a:t>
            </a:r>
            <a:r>
              <a:rPr lang="en-US" sz="1400" b="1" dirty="0" err="1">
                <a:solidFill>
                  <a:srgbClr val="373545"/>
                </a:solidFill>
                <a:latin typeface="Courier New" panose="02070309020205020404" pitchFamily="49" charset="0"/>
                <a:cs typeface="Courier New" panose="02070309020205020404" pitchFamily="49" charset="0"/>
              </a:rPr>
              <a:t>targetTemp</a:t>
            </a:r>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TurnOn</a:t>
            </a:r>
            <a:r>
              <a:rPr lang="en-US" sz="1400" b="1" dirty="0">
                <a:solidFill>
                  <a:srgbClr val="373545"/>
                </a:solidFill>
                <a:latin typeface="Courier New" panose="02070309020205020404" pitchFamily="49" charset="0"/>
                <a:cs typeface="Courier New" panose="02070309020205020404" pitchFamily="49" charset="0"/>
              </a:rPr>
              <a:t>(</a:t>
            </a:r>
            <a:r>
              <a:rPr lang="en-US" sz="1400" b="1" dirty="0" err="1">
                <a:solidFill>
                  <a:srgbClr val="373545"/>
                </a:solidFill>
                <a:latin typeface="Courier New" panose="02070309020205020404" pitchFamily="49" charset="0"/>
                <a:cs typeface="Courier New" panose="02070309020205020404" pitchFamily="49" charset="0"/>
              </a:rPr>
              <a:t>isElectricityOn</a:t>
            </a:r>
            <a:r>
              <a:rPr lang="en-US" sz="1400" b="1" dirty="0">
                <a:solidFill>
                  <a:srgbClr val="373545"/>
                </a:solidFill>
                <a:latin typeface="Courier New" panose="02070309020205020404" pitchFamily="49" charset="0"/>
                <a:cs typeface="Courier New" panose="02070309020205020404" pitchFamily="49" charset="0"/>
              </a:rPr>
              <a:t>); </a:t>
            </a:r>
          </a:p>
          <a:p>
            <a:pPr lvl="0"/>
            <a:r>
              <a:rPr lang="en-US" sz="1400" b="1" dirty="0">
                <a:solidFill>
                  <a:srgbClr val="373545"/>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08549582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75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750" fill="hold"/>
                                        <p:tgtEl>
                                          <p:spTgt spid="3">
                                            <p:txEl>
                                              <p:pRg st="0" end="0"/>
                                            </p:txEl>
                                          </p:spTgt>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Прямоугольник 2"/>
          <p:cNvSpPr/>
          <p:nvPr/>
        </p:nvSpPr>
        <p:spPr>
          <a:xfrm>
            <a:off x="7984503" y="365833"/>
            <a:ext cx="3733015" cy="5324535"/>
          </a:xfrm>
          <a:prstGeom prst="rect">
            <a:avLst/>
          </a:prstGeom>
        </p:spPr>
        <p:txBody>
          <a:bodyPr wrap="square">
            <a:spAutoFit/>
          </a:bodyPr>
          <a:lstStyle/>
          <a:p>
            <a:pPr lvl="0" algn="just"/>
            <a:r>
              <a:rPr lang="en-US" sz="2000" dirty="0">
                <a:solidFill>
                  <a:srgbClr val="DCD8DC"/>
                </a:solidFill>
              </a:rPr>
              <a:t>Polymorphism is used in the </a:t>
            </a:r>
            <a:r>
              <a:rPr lang="en-US" sz="2000" dirty="0" err="1">
                <a:solidFill>
                  <a:srgbClr val="DCD8DC"/>
                </a:solidFill>
                <a:latin typeface="Courier New" panose="02070309020205020404" pitchFamily="49" charset="0"/>
                <a:cs typeface="Courier New" panose="02070309020205020404" pitchFamily="49" charset="0"/>
              </a:rPr>
              <a:t>Device_MouseLeftButtonDown</a:t>
            </a:r>
            <a:r>
              <a:rPr lang="en-US" sz="2000" dirty="0">
                <a:solidFill>
                  <a:srgbClr val="DCD8DC"/>
                </a:solidFill>
              </a:rPr>
              <a:t> mouse event handler by checking for membership in the </a:t>
            </a:r>
            <a:r>
              <a:rPr lang="en-US" sz="2000" dirty="0" err="1">
                <a:solidFill>
                  <a:srgbClr val="DCD8DC"/>
                </a:solidFill>
                <a:latin typeface="Courier New" panose="02070309020205020404" pitchFamily="49" charset="0"/>
                <a:cs typeface="Courier New" panose="02070309020205020404" pitchFamily="49" charset="0"/>
              </a:rPr>
              <a:t>IOnOffToggleable</a:t>
            </a:r>
            <a:r>
              <a:rPr lang="en-US" sz="2000" dirty="0">
                <a:solidFill>
                  <a:srgbClr val="DCD8DC"/>
                </a:solidFill>
              </a:rPr>
              <a:t> interface. This allows to realize a universal manual control mechanism for devices that are completely different in purpose, such as fans, chandeliers, or kitchen stoves. The system does not check the specific class of the object but works with its ability to be switched, which greatly simplifies the input processing code and reduces the number of if-else statements.</a:t>
            </a:r>
          </a:p>
        </p:txBody>
      </p:sp>
      <p:sp>
        <p:nvSpPr>
          <p:cNvPr id="7" name="Прямоугольник 6"/>
          <p:cNvSpPr/>
          <p:nvPr/>
        </p:nvSpPr>
        <p:spPr>
          <a:xfrm>
            <a:off x="528894" y="2275759"/>
            <a:ext cx="6871147" cy="2031325"/>
          </a:xfrm>
          <a:prstGeom prst="rect">
            <a:avLst/>
          </a:prstGeom>
        </p:spPr>
        <p:txBody>
          <a:bodyPr wrap="square">
            <a:spAutoFit/>
          </a:bodyPr>
          <a:lstStyle/>
          <a:p>
            <a:pPr lvl="0"/>
            <a:r>
              <a:rPr lang="en-US" sz="1400" b="1" dirty="0">
                <a:solidFill>
                  <a:srgbClr val="373545"/>
                </a:solidFill>
                <a:latin typeface="Courier New" panose="02070309020205020404" pitchFamily="49" charset="0"/>
                <a:cs typeface="Courier New" panose="02070309020205020404" pitchFamily="49" charset="0"/>
              </a:rPr>
              <a:t>// Check if the device supports the toggle interface</a:t>
            </a:r>
          </a:p>
          <a:p>
            <a:pPr lvl="0"/>
            <a:r>
              <a:rPr lang="en-US" sz="1400" b="1" dirty="0">
                <a:solidFill>
                  <a:srgbClr val="373545"/>
                </a:solidFill>
                <a:latin typeface="Courier New" panose="02070309020205020404" pitchFamily="49" charset="0"/>
                <a:cs typeface="Courier New" panose="02070309020205020404" pitchFamily="49" charset="0"/>
              </a:rPr>
              <a:t>if (device is </a:t>
            </a:r>
            <a:r>
              <a:rPr lang="en-US" sz="1400" b="1" dirty="0" err="1">
                <a:solidFill>
                  <a:srgbClr val="373545"/>
                </a:solidFill>
                <a:latin typeface="Courier New" panose="02070309020205020404" pitchFamily="49" charset="0"/>
                <a:cs typeface="Courier New" panose="02070309020205020404" pitchFamily="49" charset="0"/>
              </a:rPr>
              <a:t>IOnOffToggleable</a:t>
            </a:r>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toggleable</a:t>
            </a:r>
            <a:r>
              <a:rPr lang="en-US" sz="1400" b="1" dirty="0">
                <a:solidFill>
                  <a:srgbClr val="373545"/>
                </a:solidFill>
                <a:latin typeface="Courier New" panose="02070309020205020404" pitchFamily="49" charset="0"/>
                <a:cs typeface="Courier New" panose="02070309020205020404" pitchFamily="49" charset="0"/>
              </a:rPr>
              <a:t>)</a:t>
            </a:r>
          </a:p>
          <a:p>
            <a:pPr lvl="0"/>
            <a:r>
              <a:rPr lang="en-US" sz="1400" b="1" dirty="0">
                <a:solidFill>
                  <a:srgbClr val="373545"/>
                </a:solidFill>
                <a:latin typeface="Courier New" panose="02070309020205020404" pitchFamily="49" charset="0"/>
                <a:cs typeface="Courier New" panose="02070309020205020404" pitchFamily="49" charset="0"/>
              </a:rPr>
              <a:t>{</a:t>
            </a:r>
          </a:p>
          <a:p>
            <a:pPr lvl="0"/>
            <a:r>
              <a:rPr lang="en-US" sz="1400" b="1" dirty="0">
                <a:solidFill>
                  <a:srgbClr val="373545"/>
                </a:solidFill>
                <a:latin typeface="Courier New" panose="02070309020205020404" pitchFamily="49" charset="0"/>
                <a:cs typeface="Courier New" panose="02070309020205020404" pitchFamily="49" charset="0"/>
              </a:rPr>
              <a:t>    // Call the interface method without knowing the actual device type</a:t>
            </a:r>
          </a:p>
          <a:p>
            <a:pPr lvl="0"/>
            <a:r>
              <a:rPr lang="en-US" sz="1400" b="1" dirty="0">
                <a:solidFill>
                  <a:srgbClr val="373545"/>
                </a:solidFill>
                <a:latin typeface="Courier New" panose="02070309020205020404" pitchFamily="49" charset="0"/>
                <a:cs typeface="Courier New" panose="02070309020205020404" pitchFamily="49" charset="0"/>
              </a:rPr>
              <a:t>    // For a lamp, this will turn on the light; for a fan, it will turn on the rotation</a:t>
            </a:r>
          </a:p>
          <a:p>
            <a:pPr lvl="0"/>
            <a:r>
              <a:rPr lang="en-US" sz="1400" b="1" dirty="0">
                <a:solidFill>
                  <a:srgbClr val="373545"/>
                </a:solidFill>
                <a:latin typeface="Courier New" panose="02070309020205020404" pitchFamily="49" charset="0"/>
                <a:cs typeface="Courier New" panose="02070309020205020404" pitchFamily="49" charset="0"/>
              </a:rPr>
              <a:t>    </a:t>
            </a:r>
            <a:r>
              <a:rPr lang="en-US" sz="1400" b="1" dirty="0" err="1">
                <a:solidFill>
                  <a:srgbClr val="373545"/>
                </a:solidFill>
                <a:latin typeface="Courier New" panose="02070309020205020404" pitchFamily="49" charset="0"/>
                <a:cs typeface="Courier New" panose="02070309020205020404" pitchFamily="49" charset="0"/>
              </a:rPr>
              <a:t>toggleable.ToggleState</a:t>
            </a:r>
            <a:r>
              <a:rPr lang="en-US" sz="1400" b="1" dirty="0">
                <a:solidFill>
                  <a:srgbClr val="373545"/>
                </a:solidFill>
                <a:latin typeface="Courier New" panose="02070309020205020404" pitchFamily="49" charset="0"/>
                <a:cs typeface="Courier New" panose="02070309020205020404" pitchFamily="49" charset="0"/>
              </a:rPr>
              <a:t>(</a:t>
            </a:r>
            <a:r>
              <a:rPr lang="en-US" sz="1400" b="1" dirty="0" err="1">
                <a:solidFill>
                  <a:srgbClr val="373545"/>
                </a:solidFill>
                <a:latin typeface="Courier New" panose="02070309020205020404" pitchFamily="49" charset="0"/>
                <a:cs typeface="Courier New" panose="02070309020205020404" pitchFamily="49" charset="0"/>
              </a:rPr>
              <a:t>IsElectricityOn</a:t>
            </a:r>
            <a:r>
              <a:rPr lang="en-US" sz="1400" b="1" dirty="0">
                <a:solidFill>
                  <a:srgbClr val="373545"/>
                </a:solidFill>
                <a:latin typeface="Courier New" panose="02070309020205020404" pitchFamily="49" charset="0"/>
                <a:cs typeface="Courier New" panose="02070309020205020404" pitchFamily="49" charset="0"/>
              </a:rPr>
              <a:t>);</a:t>
            </a:r>
          </a:p>
          <a:p>
            <a:pPr lvl="0"/>
            <a:r>
              <a:rPr lang="en-US" sz="1400" b="1" dirty="0">
                <a:solidFill>
                  <a:srgbClr val="373545"/>
                </a:solidFill>
                <a:latin typeface="Courier New" panose="02070309020205020404" pitchFamily="49" charset="0"/>
                <a:cs typeface="Courier New" panose="02070309020205020404" pitchFamily="49" charset="0"/>
              </a:rPr>
              <a:t>}</a:t>
            </a:r>
          </a:p>
        </p:txBody>
      </p:sp>
      <p:sp>
        <p:nvSpPr>
          <p:cNvPr id="4" name="Развернутая стрелка 3">
            <a:hlinkClick r:id="rId2" action="ppaction://hlinksldjump"/>
          </p:cNvPr>
          <p:cNvSpPr/>
          <p:nvPr/>
        </p:nvSpPr>
        <p:spPr>
          <a:xfrm rot="10800000">
            <a:off x="11439427" y="6061435"/>
            <a:ext cx="556181" cy="603315"/>
          </a:xfrm>
          <a:prstGeom prst="uturnArrow">
            <a:avLst>
              <a:gd name="adj1" fmla="val 26695"/>
              <a:gd name="adj2" fmla="val 19915"/>
              <a:gd name="adj3" fmla="val 33475"/>
              <a:gd name="adj4" fmla="val 46293"/>
              <a:gd name="adj5" fmla="val 10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22705256"/>
      </p:ext>
    </p:extLst>
  </p:cSld>
  <p:clrMapOvr>
    <a:masterClrMapping/>
  </p:clrMapOvr>
  <p:transition spd="slow" advClick="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750" fill="hold"/>
                                        <p:tgtEl>
                                          <p:spTgt spid="3">
                                            <p:txEl>
                                              <p:pRg st="0" end="0"/>
                                            </p:txEl>
                                          </p:spTgt>
                                        </p:tgtEl>
                                        <p:attrNameLst>
                                          <p:attrName>ppt_x</p:attrName>
                                        </p:attrNameLst>
                                      </p:cBhvr>
                                      <p:tavLst>
                                        <p:tav tm="0">
                                          <p:val>
                                            <p:strVal val="1+#ppt_w/2"/>
                                          </p:val>
                                        </p:tav>
                                        <p:tav tm="100000">
                                          <p:val>
                                            <p:strVal val="#ppt_x"/>
                                          </p:val>
                                        </p:tav>
                                      </p:tavLst>
                                    </p:anim>
                                    <p:anim calcmode="lin" valueType="num">
                                      <p:cBhvr additive="base">
                                        <p:cTn id="8" dur="750" fill="hold"/>
                                        <p:tgtEl>
                                          <p:spTgt spid="3">
                                            <p:txEl>
                                              <p:pRg st="0" end="0"/>
                                            </p:txEl>
                                          </p:spTgt>
                                        </p:tgtEl>
                                        <p:attrNameLst>
                                          <p:attrName>ppt_y</p:attrName>
                                        </p:attrNameLst>
                                      </p:cBhvr>
                                      <p:tavLst>
                                        <p:tav tm="0">
                                          <p:val>
                                            <p:strVal val="#ppt_y"/>
                                          </p:val>
                                        </p:tav>
                                        <p:tav tm="100000">
                                          <p:val>
                                            <p:strVal val="#ppt_y"/>
                                          </p:val>
                                        </p:tav>
                                      </p:tavLst>
                                    </p:anim>
                                  </p:childTnLst>
                                </p:cTn>
                              </p:par>
                              <p:par>
                                <p:cTn id="9" presetID="10" presetClass="entr" presetSubtype="0" fill="hold" grpId="0" nodeType="withEffect">
                                  <p:stCondLst>
                                    <p:cond delay="5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750"/>
                                        <p:tgtEl>
                                          <p:spTgt spid="7"/>
                                        </p:tgtEl>
                                      </p:cBhvr>
                                    </p:animEffect>
                                  </p:childTnLst>
                                </p:cTn>
                              </p:par>
                              <p:par>
                                <p:cTn id="12" presetID="10" presetClass="entr" presetSubtype="0" fill="hold" grpId="0" nodeType="withEffect">
                                  <p:stCondLst>
                                    <p:cond delay="10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943677" y="0"/>
            <a:ext cx="3279532" cy="3785652"/>
          </a:xfrm>
          <a:prstGeom prst="rect">
            <a:avLst/>
          </a:prstGeom>
        </p:spPr>
        <p:txBody>
          <a:bodyPr wrap="square">
            <a:spAutoFit/>
          </a:bodyPr>
          <a:lstStyle/>
          <a:p>
            <a:r>
              <a:rPr lang="en-US" sz="4000" cap="all" spc="200" dirty="0">
                <a:solidFill>
                  <a:srgbClr val="373545"/>
                </a:solidFill>
                <a:latin typeface="Impact" panose="020B0806030902050204"/>
                <a:ea typeface="+mj-ea"/>
                <a:cs typeface="+mj-cs"/>
              </a:rPr>
              <a:t>Practical </a:t>
            </a:r>
            <a:r>
              <a:rPr lang="en-US" sz="4000" cap="all" spc="200" dirty="0" smtClean="0">
                <a:solidFill>
                  <a:srgbClr val="373545"/>
                </a:solidFill>
                <a:latin typeface="Impact" panose="020B0806030902050204"/>
                <a:ea typeface="+mj-ea"/>
                <a:cs typeface="+mj-cs"/>
              </a:rPr>
              <a:t>value</a:t>
            </a:r>
            <a:r>
              <a:rPr lang="uk-UA" sz="4000" cap="all" spc="200" dirty="0" smtClean="0">
                <a:solidFill>
                  <a:srgbClr val="373545"/>
                </a:solidFill>
                <a:latin typeface="Impact" panose="020B0806030902050204"/>
                <a:ea typeface="+mj-ea"/>
                <a:cs typeface="+mj-cs"/>
              </a:rPr>
              <a:t> </a:t>
            </a:r>
            <a:r>
              <a:rPr lang="en-US" sz="4000" cap="all" spc="200" dirty="0">
                <a:solidFill>
                  <a:srgbClr val="373545"/>
                </a:solidFill>
                <a:latin typeface="Impact" panose="020B0806030902050204"/>
                <a:ea typeface="+mj-ea"/>
                <a:cs typeface="+mj-cs"/>
              </a:rPr>
              <a:t>and perspective for further development</a:t>
            </a:r>
          </a:p>
          <a:p>
            <a:endParaRPr lang="en-US" sz="4000" cap="all" spc="200" dirty="0">
              <a:solidFill>
                <a:srgbClr val="373545"/>
              </a:solidFill>
              <a:latin typeface="Impact" panose="020B0806030902050204"/>
              <a:ea typeface="+mj-ea"/>
              <a:cs typeface="+mj-cs"/>
            </a:endParaRPr>
          </a:p>
        </p:txBody>
      </p:sp>
      <p:sp>
        <p:nvSpPr>
          <p:cNvPr id="14" name="Прямоугольник 13"/>
          <p:cNvSpPr/>
          <p:nvPr/>
        </p:nvSpPr>
        <p:spPr>
          <a:xfrm>
            <a:off x="4402812" y="153204"/>
            <a:ext cx="7154449" cy="1938992"/>
          </a:xfrm>
          <a:prstGeom prst="rect">
            <a:avLst/>
          </a:prstGeom>
        </p:spPr>
        <p:txBody>
          <a:bodyPr wrap="square">
            <a:spAutoFit/>
          </a:bodyPr>
          <a:lstStyle/>
          <a:p>
            <a:pPr lvl="0" algn="just"/>
            <a:r>
              <a:rPr lang="en-US" sz="2000" dirty="0">
                <a:solidFill>
                  <a:srgbClr val="373545"/>
                </a:solidFill>
              </a:rPr>
              <a:t>The practical value of the resulting system lies in its ability to model and debug smart home scenarios without the need for expensive physical equipment. This allows you to safely test the logic of device interaction and identify potential problems at the design stage, which significantly reduces the risks of actual system implementation</a:t>
            </a:r>
            <a:r>
              <a:rPr lang="en-US" sz="2000" dirty="0" smtClean="0">
                <a:solidFill>
                  <a:srgbClr val="373545"/>
                </a:solidFill>
              </a:rPr>
              <a:t>.</a:t>
            </a:r>
            <a:endParaRPr lang="en-US" sz="2000" dirty="0">
              <a:solidFill>
                <a:srgbClr val="373545"/>
              </a:solidFill>
            </a:endParaRPr>
          </a:p>
        </p:txBody>
      </p:sp>
      <p:sp>
        <p:nvSpPr>
          <p:cNvPr id="7" name="Прямоугольник 6"/>
          <p:cNvSpPr/>
          <p:nvPr/>
        </p:nvSpPr>
        <p:spPr>
          <a:xfrm>
            <a:off x="1103933" y="3244497"/>
            <a:ext cx="4175078" cy="3477875"/>
          </a:xfrm>
          <a:prstGeom prst="rect">
            <a:avLst/>
          </a:prstGeom>
        </p:spPr>
        <p:txBody>
          <a:bodyPr wrap="square">
            <a:spAutoFit/>
          </a:bodyPr>
          <a:lstStyle/>
          <a:p>
            <a:pPr lvl="0" algn="just"/>
            <a:r>
              <a:rPr lang="en-US" sz="2000" dirty="0">
                <a:solidFill>
                  <a:srgbClr val="373545"/>
                </a:solidFill>
              </a:rPr>
              <a:t>The perspective for further development and improvement of the system is the integration of a house plan editor, which will allow users to independently create and change the topology of rooms for simulation. An additional direction is the introduction of scripting language support, which will allow the creation of advanced user automation scenarios without the need to recompile the program.</a:t>
            </a:r>
          </a:p>
        </p:txBody>
      </p:sp>
      <p:pic>
        <p:nvPicPr>
          <p:cNvPr id="18434" name="Picture 2" descr="ТОП програм для проектування будинків"/>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9267" y="2276580"/>
            <a:ext cx="5436115" cy="4077086"/>
          </a:xfrm>
          <a:prstGeom prst="rect">
            <a:avLst/>
          </a:prstGeom>
          <a:noFill/>
          <a:extLst>
            <a:ext uri="{909E8E84-426E-40DD-AFC4-6F175D3DCCD1}">
              <a14:hiddenFill xmlns:a14="http://schemas.microsoft.com/office/drawing/2010/main">
                <a:solidFill>
                  <a:srgbClr val="FFFFFF"/>
                </a:solidFill>
              </a14:hiddenFill>
            </a:ext>
          </a:extLst>
        </p:spPr>
      </p:pic>
      <p:sp>
        <p:nvSpPr>
          <p:cNvPr id="10" name="Развернутая стрелка 9">
            <a:hlinkClick r:id="rId3" action="ppaction://hlinksldjump"/>
          </p:cNvPr>
          <p:cNvSpPr/>
          <p:nvPr/>
        </p:nvSpPr>
        <p:spPr>
          <a:xfrm rot="10800000">
            <a:off x="11170762" y="6127423"/>
            <a:ext cx="556181" cy="603315"/>
          </a:xfrm>
          <a:prstGeom prst="uturnArrow">
            <a:avLst>
              <a:gd name="adj1" fmla="val 26695"/>
              <a:gd name="adj2" fmla="val 19915"/>
              <a:gd name="adj3" fmla="val 33475"/>
              <a:gd name="adj4" fmla="val 46293"/>
              <a:gd name="adj5" fmla="val 10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397450451"/>
      </p:ext>
    </p:extLst>
  </p:cSld>
  <p:clrMapOvr>
    <a:masterClrMapping/>
  </p:clrMapOvr>
  <p:transition spd="slow" advClick="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decel="6000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750" fill="hold"/>
                                        <p:tgtEl>
                                          <p:spTgt spid="5"/>
                                        </p:tgtEl>
                                        <p:attrNameLst>
                                          <p:attrName>ppt_x</p:attrName>
                                        </p:attrNameLst>
                                      </p:cBhvr>
                                      <p:tavLst>
                                        <p:tav tm="0">
                                          <p:val>
                                            <p:strVal val="0-#ppt_w/2"/>
                                          </p:val>
                                        </p:tav>
                                        <p:tav tm="100000">
                                          <p:val>
                                            <p:strVal val="#ppt_x"/>
                                          </p:val>
                                        </p:tav>
                                      </p:tavLst>
                                    </p:anim>
                                    <p:anim calcmode="lin" valueType="num">
                                      <p:cBhvr additive="base">
                                        <p:cTn id="8" dur="75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500"/>
                                  </p:stCondLst>
                                  <p:childTnLst>
                                    <p:set>
                                      <p:cBhvr>
                                        <p:cTn id="10" dur="1" fill="hold">
                                          <p:stCondLst>
                                            <p:cond delay="0"/>
                                          </p:stCondLst>
                                        </p:cTn>
                                        <p:tgtEl>
                                          <p:spTgt spid="14">
                                            <p:txEl>
                                              <p:pRg st="0" end="0"/>
                                            </p:txEl>
                                          </p:spTgt>
                                        </p:tgtEl>
                                        <p:attrNameLst>
                                          <p:attrName>style.visibility</p:attrName>
                                        </p:attrNameLst>
                                      </p:cBhvr>
                                      <p:to>
                                        <p:strVal val="visible"/>
                                      </p:to>
                                    </p:set>
                                    <p:anim calcmode="lin" valueType="num">
                                      <p:cBhvr additive="base">
                                        <p:cTn id="11" dur="750" fill="hold"/>
                                        <p:tgtEl>
                                          <p:spTgt spid="14">
                                            <p:txEl>
                                              <p:pRg st="0" end="0"/>
                                            </p:txEl>
                                          </p:spTgt>
                                        </p:tgtEl>
                                        <p:attrNameLst>
                                          <p:attrName>ppt_x</p:attrName>
                                        </p:attrNameLst>
                                      </p:cBhvr>
                                      <p:tavLst>
                                        <p:tav tm="0">
                                          <p:val>
                                            <p:strVal val="1+#ppt_w/2"/>
                                          </p:val>
                                        </p:tav>
                                        <p:tav tm="100000">
                                          <p:val>
                                            <p:strVal val="#ppt_x"/>
                                          </p:val>
                                        </p:tav>
                                      </p:tavLst>
                                    </p:anim>
                                    <p:anim calcmode="lin" valueType="num">
                                      <p:cBhvr additive="base">
                                        <p:cTn id="12" dur="750" fill="hold"/>
                                        <p:tgtEl>
                                          <p:spTgt spid="14">
                                            <p:txEl>
                                              <p:pRg st="0" end="0"/>
                                            </p:txEl>
                                          </p:spTgt>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1000"/>
                                  </p:stCondLst>
                                  <p:childTnLst>
                                    <p:set>
                                      <p:cBhvr>
                                        <p:cTn id="14" dur="1" fill="hold">
                                          <p:stCondLst>
                                            <p:cond delay="0"/>
                                          </p:stCondLst>
                                        </p:cTn>
                                        <p:tgtEl>
                                          <p:spTgt spid="7">
                                            <p:txEl>
                                              <p:pRg st="0" end="0"/>
                                            </p:txEl>
                                          </p:spTgt>
                                        </p:tgtEl>
                                        <p:attrNameLst>
                                          <p:attrName>style.visibility</p:attrName>
                                        </p:attrNameLst>
                                      </p:cBhvr>
                                      <p:to>
                                        <p:strVal val="visible"/>
                                      </p:to>
                                    </p:set>
                                    <p:anim calcmode="lin" valueType="num">
                                      <p:cBhvr additive="base">
                                        <p:cTn id="15" dur="750" fill="hold"/>
                                        <p:tgtEl>
                                          <p:spTgt spid="7">
                                            <p:txEl>
                                              <p:pRg st="0" end="0"/>
                                            </p:txEl>
                                          </p:spTgt>
                                        </p:tgtEl>
                                        <p:attrNameLst>
                                          <p:attrName>ppt_x</p:attrName>
                                        </p:attrNameLst>
                                      </p:cBhvr>
                                      <p:tavLst>
                                        <p:tav tm="0">
                                          <p:val>
                                            <p:strVal val="0-#ppt_w/2"/>
                                          </p:val>
                                        </p:tav>
                                        <p:tav tm="100000">
                                          <p:val>
                                            <p:strVal val="#ppt_x"/>
                                          </p:val>
                                        </p:tav>
                                      </p:tavLst>
                                    </p:anim>
                                    <p:anim calcmode="lin" valueType="num">
                                      <p:cBhvr additive="base">
                                        <p:cTn id="16" dur="750" fill="hold"/>
                                        <p:tgtEl>
                                          <p:spTgt spid="7">
                                            <p:txEl>
                                              <p:pRg st="0" end="0"/>
                                            </p:txEl>
                                          </p:spTgt>
                                        </p:tgtEl>
                                        <p:attrNameLst>
                                          <p:attrName>ppt_y</p:attrName>
                                        </p:attrNameLst>
                                      </p:cBhvr>
                                      <p:tavLst>
                                        <p:tav tm="0">
                                          <p:val>
                                            <p:strVal val="#ppt_y"/>
                                          </p:val>
                                        </p:tav>
                                        <p:tav tm="100000">
                                          <p:val>
                                            <p:strVal val="#ppt_y"/>
                                          </p:val>
                                        </p:tav>
                                      </p:tavLst>
                                    </p:anim>
                                  </p:childTnLst>
                                </p:cTn>
                              </p:par>
                              <p:par>
                                <p:cTn id="17" presetID="10" presetClass="entr" presetSubtype="0" fill="hold" nodeType="withEffect">
                                  <p:stCondLst>
                                    <p:cond delay="1500"/>
                                  </p:stCondLst>
                                  <p:childTnLst>
                                    <p:set>
                                      <p:cBhvr>
                                        <p:cTn id="18" dur="1" fill="hold">
                                          <p:stCondLst>
                                            <p:cond delay="0"/>
                                          </p:stCondLst>
                                        </p:cTn>
                                        <p:tgtEl>
                                          <p:spTgt spid="18434"/>
                                        </p:tgtEl>
                                        <p:attrNameLst>
                                          <p:attrName>style.visibility</p:attrName>
                                        </p:attrNameLst>
                                      </p:cBhvr>
                                      <p:to>
                                        <p:strVal val="visible"/>
                                      </p:to>
                                    </p:set>
                                    <p:animEffect transition="in" filter="fade">
                                      <p:cBhvr>
                                        <p:cTn id="19" dur="750"/>
                                        <p:tgtEl>
                                          <p:spTgt spid="18434"/>
                                        </p:tgtEl>
                                      </p:cBhvr>
                                    </p:animEffect>
                                  </p:childTnLst>
                                </p:cTn>
                              </p:par>
                              <p:par>
                                <p:cTn id="20" presetID="2" presetClass="entr" presetSubtype="2" decel="60000" fill="hold" grpId="0" nodeType="withEffect">
                                  <p:stCondLst>
                                    <p:cond delay="2000"/>
                                  </p:stCondLst>
                                  <p:childTnLst>
                                    <p:set>
                                      <p:cBhvr>
                                        <p:cTn id="21" dur="1" fill="hold">
                                          <p:stCondLst>
                                            <p:cond delay="0"/>
                                          </p:stCondLst>
                                        </p:cTn>
                                        <p:tgtEl>
                                          <p:spTgt spid="10"/>
                                        </p:tgtEl>
                                        <p:attrNameLst>
                                          <p:attrName>style.visibility</p:attrName>
                                        </p:attrNameLst>
                                      </p:cBhvr>
                                      <p:to>
                                        <p:strVal val="visible"/>
                                      </p:to>
                                    </p:set>
                                    <p:anim calcmode="lin" valueType="num">
                                      <p:cBhvr additive="base">
                                        <p:cTn id="22" dur="500" fill="hold"/>
                                        <p:tgtEl>
                                          <p:spTgt spid="10"/>
                                        </p:tgtEl>
                                        <p:attrNameLst>
                                          <p:attrName>ppt_x</p:attrName>
                                        </p:attrNameLst>
                                      </p:cBhvr>
                                      <p:tavLst>
                                        <p:tav tm="0">
                                          <p:val>
                                            <p:strVal val="1+#ppt_w/2"/>
                                          </p:val>
                                        </p:tav>
                                        <p:tav tm="100000">
                                          <p:val>
                                            <p:strVal val="#ppt_x"/>
                                          </p:val>
                                        </p:tav>
                                      </p:tavLst>
                                    </p:anim>
                                    <p:anim calcmode="lin" valueType="num">
                                      <p:cBhvr additive="base">
                                        <p:cTn id="23"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4968921" y="1423445"/>
            <a:ext cx="3279533" cy="3631763"/>
          </a:xfrm>
          <a:prstGeom prst="rect">
            <a:avLst/>
          </a:prstGeom>
        </p:spPr>
        <p:txBody>
          <a:bodyPr wrap="square">
            <a:spAutoFit/>
          </a:bodyPr>
          <a:lstStyle/>
          <a:p>
            <a:r>
              <a:rPr lang="en-US" sz="11500" cap="all" spc="200" dirty="0" smtClean="0">
                <a:solidFill>
                  <a:srgbClr val="AD84C6"/>
                </a:solidFill>
                <a:latin typeface="Impact" panose="020B0806030902050204"/>
                <a:ea typeface="+mj-ea"/>
                <a:cs typeface="+mj-cs"/>
              </a:rPr>
              <a:t>The end</a:t>
            </a:r>
            <a:endParaRPr lang="en-US" sz="11500" cap="all" spc="200" dirty="0">
              <a:solidFill>
                <a:srgbClr val="AD84C6"/>
              </a:solidFill>
              <a:latin typeface="Impact" panose="020B0806030902050204"/>
              <a:ea typeface="+mj-ea"/>
              <a:cs typeface="+mj-cs"/>
            </a:endParaRPr>
          </a:p>
        </p:txBody>
      </p:sp>
      <p:sp>
        <p:nvSpPr>
          <p:cNvPr id="3" name="Развернутая стрелка 2">
            <a:hlinkClick r:id="rId2" action="ppaction://hlinksldjump"/>
          </p:cNvPr>
          <p:cNvSpPr/>
          <p:nvPr/>
        </p:nvSpPr>
        <p:spPr>
          <a:xfrm rot="10800000">
            <a:off x="11444140" y="6070862"/>
            <a:ext cx="556181" cy="603315"/>
          </a:xfrm>
          <a:prstGeom prst="uturnArrow">
            <a:avLst>
              <a:gd name="adj1" fmla="val 26695"/>
              <a:gd name="adj2" fmla="val 19915"/>
              <a:gd name="adj3" fmla="val 33475"/>
              <a:gd name="adj4" fmla="val 46293"/>
              <a:gd name="adj5" fmla="val 1000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solidFill>
                <a:schemeClr val="tx1"/>
              </a:solidFill>
            </a:endParaRPr>
          </a:p>
        </p:txBody>
      </p:sp>
    </p:spTree>
    <p:extLst>
      <p:ext uri="{BB962C8B-B14F-4D97-AF65-F5344CB8AC3E}">
        <p14:creationId xmlns:p14="http://schemas.microsoft.com/office/powerpoint/2010/main" val="26761881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8" presetClass="entr" presetSubtype="0" accel="50000" fill="hold" nodeType="afterEffect">
                                  <p:stCondLst>
                                    <p:cond delay="0"/>
                                  </p:stCondLst>
                                  <p:iterate type="lt">
                                    <p:tmPct val="50000"/>
                                  </p:iterate>
                                  <p:childTnLst>
                                    <p:set>
                                      <p:cBhvr>
                                        <p:cTn id="6" dur="1" fill="hold">
                                          <p:stCondLst>
                                            <p:cond delay="0"/>
                                          </p:stCondLst>
                                        </p:cTn>
                                        <p:tgtEl>
                                          <p:spTgt spid="4">
                                            <p:txEl>
                                              <p:pRg st="0" end="0"/>
                                            </p:txEl>
                                          </p:spTgt>
                                        </p:tgtEl>
                                        <p:attrNameLst>
                                          <p:attrName>style.visibility</p:attrName>
                                        </p:attrNameLst>
                                      </p:cBhvr>
                                      <p:to>
                                        <p:strVal val="visible"/>
                                      </p:to>
                                    </p:set>
                                    <p:set>
                                      <p:cBhvr>
                                        <p:cTn id="7" dur="227" fill="hold">
                                          <p:stCondLst>
                                            <p:cond delay="0"/>
                                          </p:stCondLst>
                                        </p:cTn>
                                        <p:tgtEl>
                                          <p:spTgt spid="4">
                                            <p:txEl>
                                              <p:pRg st="0" end="0"/>
                                            </p:txEl>
                                          </p:spTgt>
                                        </p:tgtEl>
                                        <p:attrNameLst>
                                          <p:attrName>style.rotation</p:attrName>
                                        </p:attrNameLst>
                                      </p:cBhvr>
                                      <p:to>
                                        <p:strVal val="-45.0"/>
                                      </p:to>
                                    </p:set>
                                    <p:anim calcmode="lin" valueType="num">
                                      <p:cBhvr>
                                        <p:cTn id="8" dur="227" fill="hold">
                                          <p:stCondLst>
                                            <p:cond delay="227"/>
                                          </p:stCondLst>
                                        </p:cTn>
                                        <p:tgtEl>
                                          <p:spTgt spid="4">
                                            <p:txEl>
                                              <p:pRg st="0" end="0"/>
                                            </p:txEl>
                                          </p:spTgt>
                                        </p:tgtEl>
                                        <p:attrNameLst>
                                          <p:attrName>style.rotation</p:attrName>
                                        </p:attrNameLst>
                                      </p:cBhvr>
                                      <p:tavLst>
                                        <p:tav tm="0">
                                          <p:val>
                                            <p:fltVal val="-45"/>
                                          </p:val>
                                        </p:tav>
                                        <p:tav tm="69900">
                                          <p:val>
                                            <p:fltVal val="45"/>
                                          </p:val>
                                        </p:tav>
                                        <p:tav tm="100000">
                                          <p:val>
                                            <p:fltVal val="0"/>
                                          </p:val>
                                        </p:tav>
                                      </p:tavLst>
                                    </p:anim>
                                    <p:anim calcmode="lin" valueType="num">
                                      <p:cBhvr>
                                        <p:cTn id="9" dur="227" fill="hold">
                                          <p:stCondLst>
                                            <p:cond delay="0"/>
                                          </p:stCondLst>
                                        </p:cTn>
                                        <p:tgtEl>
                                          <p:spTgt spid="4">
                                            <p:txEl>
                                              <p:pRg st="0" end="0"/>
                                            </p:txEl>
                                          </p:spTgt>
                                        </p:tgtEl>
                                        <p:attrNameLst>
                                          <p:attrName>ppt_y</p:attrName>
                                        </p:attrNameLst>
                                      </p:cBhvr>
                                      <p:tavLst>
                                        <p:tav tm="0">
                                          <p:val>
                                            <p:strVal val="#ppt_y-1"/>
                                          </p:val>
                                        </p:tav>
                                        <p:tav tm="100000">
                                          <p:val>
                                            <p:strVal val="#ppt_y-(0.354*#ppt_w-0.172*#ppt_h)"/>
                                          </p:val>
                                        </p:tav>
                                      </p:tavLst>
                                    </p:anim>
                                    <p:anim calcmode="lin" valueType="num">
                                      <p:cBhvr>
                                        <p:cTn id="10" dur="78" decel="50000" autoRev="1" fill="hold">
                                          <p:stCondLst>
                                            <p:cond delay="227"/>
                                          </p:stCondLst>
                                        </p:cTn>
                                        <p:tgtEl>
                                          <p:spTgt spid="4">
                                            <p:txEl>
                                              <p:pRg st="0" end="0"/>
                                            </p:txEl>
                                          </p:spTgt>
                                        </p:tgtEl>
                                        <p:attrNameLst>
                                          <p:attrName>ppt_y</p:attrName>
                                        </p:attrNameLst>
                                      </p:cBhvr>
                                      <p:tavLst>
                                        <p:tav tm="0">
                                          <p:val>
                                            <p:strVal val="#ppt_y-(0.354*#ppt_w-0.172*#ppt_h)"/>
                                          </p:val>
                                        </p:tav>
                                        <p:tav tm="100000">
                                          <p:val>
                                            <p:strVal val="#ppt_y-(0.354*#ppt_w-0.172*#ppt_h)-#ppt_h/2"/>
                                          </p:val>
                                        </p:tav>
                                      </p:tavLst>
                                    </p:anim>
                                    <p:anim calcmode="lin" valueType="num">
                                      <p:cBhvr>
                                        <p:cTn id="11" dur="68" fill="hold">
                                          <p:stCondLst>
                                            <p:cond delay="432"/>
                                          </p:stCondLst>
                                        </p:cTn>
                                        <p:tgtEl>
                                          <p:spTgt spid="4">
                                            <p:txEl>
                                              <p:pRg st="0" end="0"/>
                                            </p:txEl>
                                          </p:spTgt>
                                        </p:tgtEl>
                                        <p:attrNameLst>
                                          <p:attrName>ppt_y</p:attrName>
                                        </p:attrNameLst>
                                      </p:cBhvr>
                                      <p:tavLst>
                                        <p:tav tm="0">
                                          <p:val>
                                            <p:strVal val="#ppt_y-(0.354*#ppt_w-0.172*#ppt_h)"/>
                                          </p:val>
                                        </p:tav>
                                        <p:tav tm="100000">
                                          <p:val>
                                            <p:strVal val="#ppt_y"/>
                                          </p:val>
                                        </p:tav>
                                      </p:tavLst>
                                    </p:anim>
                                  </p:childTnLst>
                                </p:cTn>
                              </p:par>
                              <p:par>
                                <p:cTn id="12" presetID="3" presetClass="emph" presetSubtype="2" fill="hold" grpId="0" nodeType="withEffect">
                                  <p:stCondLst>
                                    <p:cond delay="1500"/>
                                  </p:stCondLst>
                                  <p:iterate type="lt">
                                    <p:tmPct val="0"/>
                                  </p:iterate>
                                  <p:childTnLst>
                                    <p:animClr clrSpc="rgb" dir="cw">
                                      <p:cBhvr override="childStyle">
                                        <p:cTn id="13" dur="2000" fill="hold"/>
                                        <p:tgtEl>
                                          <p:spTgt spid="4">
                                            <p:txEl>
                                              <p:pRg st="0" end="0"/>
                                            </p:txEl>
                                          </p:spTgt>
                                        </p:tgtEl>
                                        <p:attrNameLst>
                                          <p:attrName>style.color</p:attrName>
                                        </p:attrNameLst>
                                      </p:cBhvr>
                                      <p:to>
                                        <a:schemeClr val="tx2"/>
                                      </p:to>
                                    </p:animClr>
                                  </p:childTnLst>
                                </p:cTn>
                              </p:par>
                              <p:par>
                                <p:cTn id="14" presetID="1" presetClass="emph" presetSubtype="2" fill="hold" nodeType="withEffect">
                                  <p:stCondLst>
                                    <p:cond delay="3000"/>
                                  </p:stCondLst>
                                  <p:childTnLst>
                                    <p:animClr clrSpc="rgb" dir="cw">
                                      <p:cBhvr>
                                        <p:cTn id="15" dur="2000" fill="hold"/>
                                        <p:tgtEl>
                                          <p:spTgt spid="3"/>
                                        </p:tgtEl>
                                        <p:attrNameLst>
                                          <p:attrName>fillcolor</p:attrName>
                                        </p:attrNameLst>
                                      </p:cBhvr>
                                      <p:to>
                                        <a:srgbClr val="DCD8DC"/>
                                      </p:to>
                                    </p:animClr>
                                    <p:set>
                                      <p:cBhvr>
                                        <p:cTn id="16" dur="2000" fill="hold"/>
                                        <p:tgtEl>
                                          <p:spTgt spid="3"/>
                                        </p:tgtEl>
                                        <p:attrNameLst>
                                          <p:attrName>fill.type</p:attrName>
                                        </p:attrNameLst>
                                      </p:cBhvr>
                                      <p:to>
                                        <p:strVal val="solid"/>
                                      </p:to>
                                    </p:set>
                                    <p:set>
                                      <p:cBhvr>
                                        <p:cTn id="17" dur="2000" fill="hold"/>
                                        <p:tgtEl>
                                          <p:spTgt spid="3"/>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theme/theme1.xml><?xml version="1.0" encoding="utf-8"?>
<a:theme xmlns:a="http://schemas.openxmlformats.org/drawingml/2006/main" name="Badge">
  <a:themeElements>
    <a:clrScheme name="Фиолетовый">
      <a:dk1>
        <a:sysClr val="windowText" lastClr="000000"/>
      </a:dk1>
      <a:lt1>
        <a:sysClr val="window" lastClr="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A1A3E1F0-B5EF-49C5-810A-B1B32AEDDC80}"/>
    </a:ext>
  </a:extLst>
</a:theme>
</file>

<file path=docProps/app.xml><?xml version="1.0" encoding="utf-8"?>
<Properties xmlns="http://schemas.openxmlformats.org/officeDocument/2006/extended-properties" xmlns:vt="http://schemas.openxmlformats.org/officeDocument/2006/docPropsVTypes">
  <Template>TM10001106[[fn=Эмблема]]</Template>
  <TotalTime>5177</TotalTime>
  <Words>2773</Words>
  <Application>Microsoft Office PowerPoint</Application>
  <PresentationFormat>Широкоэкранный</PresentationFormat>
  <Paragraphs>221</Paragraphs>
  <Slides>23</Slides>
  <Notes>0</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23</vt:i4>
      </vt:variant>
    </vt:vector>
  </HeadingPairs>
  <TitlesOfParts>
    <vt:vector size="31" baseType="lpstr">
      <vt:lpstr>Arial</vt:lpstr>
      <vt:lpstr>Corbel</vt:lpstr>
      <vt:lpstr>Courier New</vt:lpstr>
      <vt:lpstr>Gill Sans MT</vt:lpstr>
      <vt:lpstr>Impact</vt:lpstr>
      <vt:lpstr>Segoe UI</vt:lpstr>
      <vt:lpstr>Wingdings</vt:lpstr>
      <vt:lpstr>Badge</vt:lpstr>
      <vt:lpstr>Smart home control system simulator</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Laplace</dc:creator>
  <cp:lastModifiedBy>Laplace</cp:lastModifiedBy>
  <cp:revision>46</cp:revision>
  <dcterms:created xsi:type="dcterms:W3CDTF">2026-01-01T06:10:00Z</dcterms:created>
  <dcterms:modified xsi:type="dcterms:W3CDTF">2026-01-04T20:38:03Z</dcterms:modified>
</cp:coreProperties>
</file>